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305" r:id="rId4"/>
    <p:sldId id="308" r:id="rId5"/>
    <p:sldId id="307" r:id="rId6"/>
    <p:sldId id="309" r:id="rId7"/>
    <p:sldId id="306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311" r:id="rId16"/>
    <p:sldId id="267" r:id="rId17"/>
    <p:sldId id="268" r:id="rId18"/>
    <p:sldId id="269" r:id="rId19"/>
    <p:sldId id="270" r:id="rId20"/>
    <p:sldId id="271" r:id="rId21"/>
    <p:sldId id="279" r:id="rId22"/>
    <p:sldId id="286" r:id="rId23"/>
    <p:sldId id="287" r:id="rId24"/>
    <p:sldId id="304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Libre Franklin" panose="020B0604020202020204" charset="0"/>
      <p:regular r:id="rId33"/>
      <p:bold r:id="rId34"/>
      <p:italic r:id="rId35"/>
      <p:boldItalic r:id="rId36"/>
    </p:embeddedFont>
    <p:embeddedFont>
      <p:font typeface="Libre Franklin Medium" panose="020B0604020202020204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jH1wr4rbb9i1zMgfYrSPQfspQB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9.xml"/><Relationship Id="rId6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0038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51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2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4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7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3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8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8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1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2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0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5688564" y="2027193"/>
            <a:ext cx="56896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 Medium"/>
              <a:buNone/>
            </a:pPr>
            <a:r>
              <a:rPr lang="en-US" b="1" dirty="0"/>
              <a:t>Basic Electronics</a:t>
            </a:r>
            <a:br>
              <a:rPr lang="en-US" b="1" dirty="0"/>
            </a:br>
            <a:r>
              <a:rPr lang="en-US" b="1" dirty="0"/>
              <a:t>(24B11EC111)</a:t>
            </a:r>
            <a:endParaRPr b="1" dirty="0"/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5828522" y="5024645"/>
            <a:ext cx="5689600" cy="70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800" b="1" dirty="0"/>
              <a:t>Lecture 1-3: MOSFET Introduction</a:t>
            </a:r>
            <a:endParaRPr sz="2800" b="1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14" y="1355540"/>
            <a:ext cx="5001914" cy="4716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dirty="0"/>
              <a:t>Table of Contents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75FCB-21D1-40B9-AC6A-67D5E9620AC3}"/>
              </a:ext>
            </a:extLst>
          </p:cNvPr>
          <p:cNvSpPr txBox="1"/>
          <p:nvPr/>
        </p:nvSpPr>
        <p:spPr>
          <a:xfrm>
            <a:off x="960120" y="1690688"/>
            <a:ext cx="5697714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MOSFET-Introduction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MOSFET Structure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Device Operation- Zero Voltage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Device Operation- Channel Creation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Device Operation-with V</a:t>
            </a:r>
            <a:r>
              <a:rPr lang="en-US" dirty="0"/>
              <a:t>DS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7;p2"/>
          <p:cNvSpPr txBox="1">
            <a:spLocks noGrp="1"/>
          </p:cNvSpPr>
          <p:nvPr>
            <p:ph type="title"/>
          </p:nvPr>
        </p:nvSpPr>
        <p:spPr>
          <a:xfrm>
            <a:off x="694353" y="1300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MOSFET</a:t>
            </a:r>
            <a:endParaRPr b="1" dirty="0"/>
          </a:p>
        </p:txBody>
      </p:sp>
      <p:sp>
        <p:nvSpPr>
          <p:cNvPr id="6" name="TextBox 5"/>
          <p:cNvSpPr txBox="1"/>
          <p:nvPr/>
        </p:nvSpPr>
        <p:spPr>
          <a:xfrm>
            <a:off x="694354" y="1455575"/>
            <a:ext cx="51372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MOSFET- </a:t>
            </a:r>
            <a:r>
              <a:rPr lang="en-US" sz="2400" b="1" dirty="0">
                <a:solidFill>
                  <a:srgbClr val="FF0000"/>
                </a:solidFill>
              </a:rPr>
              <a:t>Metal Oxide Semiconductor Field Effect Transistor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MOSFET is an </a:t>
            </a:r>
            <a:r>
              <a:rPr lang="en-US" sz="2400" b="1" dirty="0">
                <a:solidFill>
                  <a:srgbClr val="0070C0"/>
                </a:solidFill>
              </a:rPr>
              <a:t>active device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It has three terminals- </a:t>
            </a:r>
            <a:r>
              <a:rPr lang="en-US" sz="2400" b="1" dirty="0">
                <a:solidFill>
                  <a:srgbClr val="00B050"/>
                </a:solidFill>
              </a:rPr>
              <a:t>Gate, Drain, Source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00B05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It has four parts- </a:t>
            </a:r>
            <a:r>
              <a:rPr lang="en-US" sz="2400" b="1" dirty="0">
                <a:solidFill>
                  <a:srgbClr val="0070C0"/>
                </a:solidFill>
              </a:rPr>
              <a:t>Gate, Drain, Source and Body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70C0"/>
                </a:solidFill>
              </a:rPr>
              <a:t>It is a voltage controlled device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(as BJT is a current controlled device)</a:t>
            </a: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4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153" y="896365"/>
            <a:ext cx="5849166" cy="493463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703" y="3173062"/>
            <a:ext cx="4747097" cy="354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7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94" y="582777"/>
            <a:ext cx="9913108" cy="5286177"/>
          </a:xfrm>
          <a:prstGeom prst="rect">
            <a:avLst/>
          </a:prstGeom>
        </p:spPr>
      </p:pic>
      <p:sp>
        <p:nvSpPr>
          <p:cNvPr id="6" name="Google Shape;97;p2"/>
          <p:cNvSpPr txBox="1">
            <a:spLocks noGrp="1"/>
          </p:cNvSpPr>
          <p:nvPr>
            <p:ph type="title"/>
          </p:nvPr>
        </p:nvSpPr>
        <p:spPr>
          <a:xfrm>
            <a:off x="423765" y="130012"/>
            <a:ext cx="10515600" cy="80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Types of MOSFET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91590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Google Shape;97;p2"/>
          <p:cNvSpPr txBox="1">
            <a:spLocks noGrp="1"/>
          </p:cNvSpPr>
          <p:nvPr>
            <p:ph type="title"/>
          </p:nvPr>
        </p:nvSpPr>
        <p:spPr>
          <a:xfrm>
            <a:off x="423765" y="130012"/>
            <a:ext cx="10515600" cy="80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Types of MOSFET</a:t>
            </a:r>
            <a:endParaRPr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76" y="1213910"/>
            <a:ext cx="6985269" cy="532500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45233" y="3876411"/>
            <a:ext cx="1165393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927" y="2015412"/>
            <a:ext cx="29706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Enhancement MOSFET</a:t>
            </a:r>
          </a:p>
          <a:p>
            <a:pPr marL="285750" indent="-285750">
              <a:buFontTx/>
              <a:buChar char="-"/>
            </a:pPr>
            <a:r>
              <a:rPr lang="en-US" dirty="0"/>
              <a:t>Act as normally </a:t>
            </a:r>
            <a:r>
              <a:rPr lang="en-US" b="1" dirty="0"/>
              <a:t>OFF</a:t>
            </a:r>
          </a:p>
          <a:p>
            <a:pPr marL="285750" indent="-285750">
              <a:buFontTx/>
              <a:buChar char="-"/>
            </a:pPr>
            <a:r>
              <a:rPr lang="en-US" dirty="0"/>
              <a:t>On applying </a:t>
            </a:r>
            <a:r>
              <a:rPr lang="en-US" dirty="0" err="1"/>
              <a:t>Vgs</a:t>
            </a:r>
            <a:r>
              <a:rPr lang="en-US" dirty="0"/>
              <a:t> turns ON</a:t>
            </a: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51926" y="4814081"/>
            <a:ext cx="33425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Depletion  MOSFET</a:t>
            </a:r>
          </a:p>
          <a:p>
            <a:pPr marL="285750" indent="-285750">
              <a:buFontTx/>
              <a:buChar char="-"/>
            </a:pPr>
            <a:r>
              <a:rPr lang="en-US" dirty="0"/>
              <a:t>Act as normally </a:t>
            </a:r>
            <a:r>
              <a:rPr lang="en-US" b="1" dirty="0"/>
              <a:t>ON</a:t>
            </a:r>
          </a:p>
          <a:p>
            <a:pPr marL="285750" indent="-285750">
              <a:buFontTx/>
              <a:buChar char="-"/>
            </a:pPr>
            <a:r>
              <a:rPr lang="en-US" dirty="0"/>
              <a:t>On applying the </a:t>
            </a:r>
            <a:r>
              <a:rPr lang="en-US" dirty="0" err="1"/>
              <a:t>Vgs</a:t>
            </a:r>
            <a:r>
              <a:rPr lang="en-US" dirty="0"/>
              <a:t> turns OFF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4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931" y="1118390"/>
            <a:ext cx="6864928" cy="51353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187844"/>
            <a:ext cx="10515600" cy="1325563"/>
          </a:xfrm>
        </p:spPr>
        <p:txBody>
          <a:bodyPr/>
          <a:lstStyle/>
          <a:p>
            <a:r>
              <a:rPr lang="en-US" b="1" dirty="0"/>
              <a:t>MOSFET Symbol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11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96" y="662781"/>
            <a:ext cx="10095092" cy="3909605"/>
          </a:xfrm>
          <a:prstGeom prst="rect">
            <a:avLst/>
          </a:prstGeom>
        </p:spPr>
      </p:pic>
      <p:sp>
        <p:nvSpPr>
          <p:cNvPr id="6" name="Google Shape;97;p2"/>
          <p:cNvSpPr txBox="1">
            <a:spLocks noGrp="1"/>
          </p:cNvSpPr>
          <p:nvPr>
            <p:ph type="title"/>
          </p:nvPr>
        </p:nvSpPr>
        <p:spPr>
          <a:xfrm>
            <a:off x="61970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MOSFET</a:t>
            </a:r>
            <a:endParaRPr b="1" dirty="0"/>
          </a:p>
        </p:txBody>
      </p:sp>
      <p:sp>
        <p:nvSpPr>
          <p:cNvPr id="5" name="TextBox 4"/>
          <p:cNvSpPr txBox="1"/>
          <p:nvPr/>
        </p:nvSpPr>
        <p:spPr>
          <a:xfrm>
            <a:off x="419876" y="5226617"/>
            <a:ext cx="111639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MOSFET is a </a:t>
            </a:r>
            <a:r>
              <a:rPr lang="en-US" b="1" dirty="0">
                <a:solidFill>
                  <a:srgbClr val="00B050"/>
                </a:solidFill>
                <a:ea typeface="Libre Franklin"/>
                <a:cs typeface="Libre Franklin"/>
                <a:sym typeface="Libre Franklin"/>
              </a:rPr>
              <a:t>unipolar device </a:t>
            </a: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i.e. conduction of current is either carried out by the movement of electrons or holes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The conduction path between source and drain is normally called as </a:t>
            </a:r>
            <a:r>
              <a:rPr lang="en-US" b="1" dirty="0">
                <a:solidFill>
                  <a:srgbClr val="FF0000"/>
                </a:solidFill>
                <a:ea typeface="Libre Franklin"/>
                <a:cs typeface="Libre Franklin"/>
                <a:sym typeface="Libre Franklin"/>
              </a:rPr>
              <a:t>channel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In MOSFET gate is practically separated from the entire body by insulating layer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The </a:t>
            </a:r>
            <a:r>
              <a:rPr lang="en-US" b="1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voltage at the gate terminal </a:t>
            </a: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mostly controls the conductivity between </a:t>
            </a:r>
            <a:r>
              <a:rPr lang="en-US" b="1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drain and source (or width of channel)</a:t>
            </a:r>
            <a:endParaRPr lang="en-US" dirty="0">
              <a:solidFill>
                <a:schemeClr val="dk1"/>
              </a:solidFill>
              <a:ea typeface="Libre Franklin"/>
              <a:cs typeface="Libre Franklin"/>
              <a:sym typeface="Libre Franklin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Enhancement type MOSFET is the most widely used field-effect transistor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697394" y="4717326"/>
            <a:ext cx="30985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N-type Enhancement MOSFET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906986" y="4717326"/>
            <a:ext cx="30985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P-type Enhancement MOSFET</a:t>
            </a:r>
            <a:endParaRPr lang="en-IN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7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757500" y="220400"/>
            <a:ext cx="10515600" cy="111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MOSFET Structure</a:t>
            </a:r>
            <a:endParaRPr b="1" dirty="0"/>
          </a:p>
        </p:txBody>
      </p:sp>
      <p:sp>
        <p:nvSpPr>
          <p:cNvPr id="114" name="Google Shape;114;p4"/>
          <p:cNvSpPr txBox="1"/>
          <p:nvPr/>
        </p:nvSpPr>
        <p:spPr>
          <a:xfrm>
            <a:off x="518455" y="1392797"/>
            <a:ext cx="10515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The transistor is fabricated on a </a:t>
            </a:r>
            <a:r>
              <a:rPr lang="en-US" sz="1800" b="1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p-type substrate</a:t>
            </a:r>
            <a:r>
              <a:rPr lang="en-US" sz="1800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, which is a single crystalline silicon wafer that provides physical support for the device.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dk1"/>
              </a:solidFill>
              <a:ea typeface="Libre Franklin"/>
              <a:cs typeface="Libre Franklin"/>
              <a:sym typeface="Libre Franklin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Two heavily doped region n+ source and n+ drain are created in the substrate</a:t>
            </a:r>
            <a:endParaRPr lang="en-US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803" y="2931107"/>
            <a:ext cx="4883461" cy="3080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17" name="Google Shape;117;p4"/>
          <p:cNvGrpSpPr/>
          <p:nvPr/>
        </p:nvGrpSpPr>
        <p:grpSpPr>
          <a:xfrm>
            <a:off x="6230014" y="2931107"/>
            <a:ext cx="5203063" cy="3080783"/>
            <a:chOff x="6301549" y="3581512"/>
            <a:chExt cx="5203063" cy="3080783"/>
          </a:xfrm>
        </p:grpSpPr>
        <p:pic>
          <p:nvPicPr>
            <p:cNvPr id="118" name="Google Shape;118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01549" y="3581512"/>
              <a:ext cx="5203063" cy="308078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19" name="Google Shape;119;p4"/>
            <p:cNvSpPr/>
            <p:nvPr/>
          </p:nvSpPr>
          <p:spPr>
            <a:xfrm>
              <a:off x="6667500" y="4381500"/>
              <a:ext cx="1771650" cy="112395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12700" cap="flat" cmpd="sng">
              <a:solidFill>
                <a:srgbClr val="3D732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9518650" y="4278646"/>
              <a:ext cx="1771650" cy="1209675"/>
            </a:xfrm>
            <a:prstGeom prst="ellipse">
              <a:avLst/>
            </a:prstGeom>
            <a:solidFill>
              <a:schemeClr val="accent1">
                <a:alpha val="17647"/>
              </a:schemeClr>
            </a:solidFill>
            <a:ln w="12700" cap="flat" cmpd="sng">
              <a:solidFill>
                <a:srgbClr val="3D732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89894" y="6352143"/>
            <a:ext cx="537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Fig1. N-channel MOSFET (a) Structure and (b</a:t>
            </a:r>
            <a:r>
              <a:rPr lang="en-IN" dirty="0"/>
              <a:t>) Side view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06803" y="562801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227906" y="559380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849397" y="72853"/>
            <a:ext cx="10515600" cy="1090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MOSFET Structure</a:t>
            </a:r>
            <a:endParaRPr b="1" dirty="0"/>
          </a:p>
        </p:txBody>
      </p:sp>
      <p:sp>
        <p:nvSpPr>
          <p:cNvPr id="126" name="Google Shape;126;p5"/>
          <p:cNvSpPr txBox="1"/>
          <p:nvPr/>
        </p:nvSpPr>
        <p:spPr>
          <a:xfrm>
            <a:off x="950757" y="1081744"/>
            <a:ext cx="10300652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32" t="-4716" r="-590" b="-141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1041296" y="1745225"/>
            <a:ext cx="9167949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Metal is deposited over the oxide region to form electrode of the device called </a:t>
            </a:r>
            <a:r>
              <a:rPr lang="en-US" sz="1800" b="1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gate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Metal is also deposited over the source, drain, and substrate region.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Another name of MOSFET is </a:t>
            </a:r>
            <a:r>
              <a:rPr lang="en-US" b="1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Insulated gate FET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Substrate forms PN Junction with source and Drain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MOSFET is symmetrical device with source and drain can be interchanged</a:t>
            </a:r>
            <a:endParaRPr lang="en-US" dirty="0"/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0757" y="3516661"/>
            <a:ext cx="4790680" cy="30222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79439" y="3516661"/>
            <a:ext cx="5109790" cy="30222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0" name="Google Shape;130;p5"/>
          <p:cNvSpPr/>
          <p:nvPr/>
        </p:nvSpPr>
        <p:spPr>
          <a:xfrm>
            <a:off x="7812157" y="4234070"/>
            <a:ext cx="2305878" cy="725556"/>
          </a:xfrm>
          <a:prstGeom prst="ellipse">
            <a:avLst/>
          </a:prstGeom>
          <a:solidFill>
            <a:schemeClr val="accent1">
              <a:alpha val="30980"/>
            </a:schemeClr>
          </a:solidFill>
          <a:ln w="12700" cap="flat" cmpd="sng">
            <a:solidFill>
              <a:srgbClr val="3D732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MOSFET Structure</a:t>
            </a:r>
            <a:endParaRPr b="1" dirty="0"/>
          </a:p>
        </p:txBody>
      </p:sp>
      <p:sp>
        <p:nvSpPr>
          <p:cNvPr id="151" name="Google Shape;151;p7"/>
          <p:cNvSpPr txBox="1"/>
          <p:nvPr/>
        </p:nvSpPr>
        <p:spPr>
          <a:xfrm>
            <a:off x="594215" y="1625212"/>
            <a:ext cx="590611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Voltage applied at gate terminal control the current flow between source and drain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dk1"/>
              </a:solidFill>
              <a:ea typeface="Libre Franklin"/>
              <a:cs typeface="Libre Franklin"/>
              <a:sym typeface="Libre Franklin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Current will flow in longitudinal direction from drain to source as electron will flow from source to drain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dk1"/>
              </a:solidFill>
              <a:ea typeface="Libre Franklin"/>
              <a:cs typeface="Libre Franklin"/>
              <a:sym typeface="Libre Franklin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Current will flow in the region called channel region with length </a:t>
            </a:r>
            <a:r>
              <a:rPr lang="en-US" i="1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L</a:t>
            </a:r>
            <a:r>
              <a:rPr lang="en-US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 and width </a:t>
            </a:r>
            <a:r>
              <a:rPr lang="en-US" i="1" dirty="0">
                <a:solidFill>
                  <a:schemeClr val="dk1"/>
                </a:solidFill>
                <a:ea typeface="Libre Franklin"/>
                <a:cs typeface="Libre Franklin"/>
                <a:sym typeface="Libre Franklin"/>
              </a:rPr>
              <a:t>W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4311" y="1405400"/>
            <a:ext cx="5151642" cy="3502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688910" y="2333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  <a:endParaRPr b="1" dirty="0"/>
          </a:p>
        </p:txBody>
      </p:sp>
      <p:sp>
        <p:nvSpPr>
          <p:cNvPr id="162" name="Google Shape;162;p8"/>
          <p:cNvSpPr txBox="1"/>
          <p:nvPr/>
        </p:nvSpPr>
        <p:spPr>
          <a:xfrm>
            <a:off x="784082" y="1686517"/>
            <a:ext cx="3321387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 Zero Voltage Operation  </a:t>
            </a:r>
            <a:endParaRPr dirty="0"/>
          </a:p>
        </p:txBody>
      </p:sp>
      <p:sp>
        <p:nvSpPr>
          <p:cNvPr id="163" name="Google Shape;163;p8"/>
          <p:cNvSpPr txBox="1"/>
          <p:nvPr/>
        </p:nvSpPr>
        <p:spPr>
          <a:xfrm>
            <a:off x="5161722" y="2678748"/>
            <a:ext cx="6897756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 zero gate voltage  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 back to back diode exist between source to body and body to drain (i.e. drain and source)</a:t>
            </a:r>
          </a:p>
          <a:p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	One diode 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formed by –  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n+ 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drain region and the 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p-type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 </a:t>
            </a:r>
          </a:p>
          <a:p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	substrate</a:t>
            </a:r>
          </a:p>
          <a:p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	Second diode 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formed by - p-type substrate and 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n+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</a:rPr>
              <a:t> 	source region. </a:t>
            </a:r>
            <a:endParaRPr lang="en-US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800" b="1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These back to back diodes will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stop any flow of charge carriers from drain to source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when </a:t>
            </a:r>
            <a:r>
              <a:rPr lang="en-US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Vds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is applied.</a:t>
            </a:r>
            <a:endParaRPr lang="en-US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b="1" dirty="0"/>
          </a:p>
        </p:txBody>
      </p:sp>
      <p:sp>
        <p:nvSpPr>
          <p:cNvPr id="165" name="Google Shape;165;p8"/>
          <p:cNvSpPr txBox="1"/>
          <p:nvPr/>
        </p:nvSpPr>
        <p:spPr>
          <a:xfrm>
            <a:off x="1742607" y="5987018"/>
            <a:ext cx="7771291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26" t="-9999" b="-266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10" y="2767340"/>
            <a:ext cx="4519748" cy="29620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8067" y="5387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49092" y="56333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276076" y="5343868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688298" y="1052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 </a:t>
            </a:r>
            <a:endParaRPr b="1" dirty="0"/>
          </a:p>
        </p:txBody>
      </p:sp>
      <p:sp>
        <p:nvSpPr>
          <p:cNvPr id="171" name="Google Shape;171;p9"/>
          <p:cNvSpPr txBox="1"/>
          <p:nvPr/>
        </p:nvSpPr>
        <p:spPr>
          <a:xfrm>
            <a:off x="838200" y="1614634"/>
            <a:ext cx="4327101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Creating Channel for Current Flow</a:t>
            </a:r>
            <a:endParaRPr dirty="0"/>
          </a:p>
        </p:txBody>
      </p:sp>
      <p:sp>
        <p:nvSpPr>
          <p:cNvPr id="172" name="Google Shape;172;p9"/>
          <p:cNvSpPr txBox="1"/>
          <p:nvPr/>
        </p:nvSpPr>
        <p:spPr>
          <a:xfrm>
            <a:off x="5702519" y="1509884"/>
            <a:ext cx="6115274" cy="14773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96" t="-2057" b="-5348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5702519" y="3244979"/>
            <a:ext cx="6115274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Positive </a:t>
            </a:r>
            <a:r>
              <a:rPr lang="en-US" sz="1800" b="1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Vgs</a:t>
            </a: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repels the positive charge present in the channel.</a:t>
            </a:r>
            <a:endParaRPr dirty="0"/>
          </a:p>
        </p:txBody>
      </p:sp>
      <p:sp>
        <p:nvSpPr>
          <p:cNvPr id="174" name="Google Shape;174;p9"/>
          <p:cNvSpPr txBox="1"/>
          <p:nvPr/>
        </p:nvSpPr>
        <p:spPr>
          <a:xfrm>
            <a:off x="5702520" y="4836590"/>
            <a:ext cx="6115274" cy="6462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depletion region is populated with negative charges bounded to acceptor ions.</a:t>
            </a:r>
            <a:endParaRPr dirty="0"/>
          </a:p>
        </p:txBody>
      </p:sp>
      <p:pic>
        <p:nvPicPr>
          <p:cNvPr id="175" name="Google Shape;17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981" y="2179195"/>
            <a:ext cx="5401538" cy="3464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/>
          <p:nvPr/>
        </p:nvSpPr>
        <p:spPr>
          <a:xfrm>
            <a:off x="5702519" y="4029705"/>
            <a:ext cx="6115274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holes are pushed back into the substrate leaving behind carrier depletion region.</a:t>
            </a:r>
            <a:endParaRPr dirty="0"/>
          </a:p>
        </p:txBody>
      </p:sp>
      <p:sp>
        <p:nvSpPr>
          <p:cNvPr id="177" name="Google Shape;177;p9"/>
          <p:cNvSpPr txBox="1"/>
          <p:nvPr/>
        </p:nvSpPr>
        <p:spPr>
          <a:xfrm>
            <a:off x="5709553" y="5710060"/>
            <a:ext cx="6108239" cy="6462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These charges are uncovered as the positive charges are pushed back in the substrate.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6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  <a:endParaRPr b="1" dirty="0"/>
          </a:p>
        </p:txBody>
      </p:sp>
      <p:sp>
        <p:nvSpPr>
          <p:cNvPr id="184" name="Google Shape;184;p10"/>
          <p:cNvSpPr txBox="1"/>
          <p:nvPr/>
        </p:nvSpPr>
        <p:spPr>
          <a:xfrm>
            <a:off x="5268814" y="2260924"/>
            <a:ext cx="6427232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Positive </a:t>
            </a:r>
            <a:r>
              <a:rPr lang="en-US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Vgs</a:t>
            </a: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attracts electrons from source and drain where these charges are in abundance.</a:t>
            </a:r>
            <a:endParaRPr dirty="0"/>
          </a:p>
        </p:txBody>
      </p:sp>
      <p:sp>
        <p:nvSpPr>
          <p:cNvPr id="185" name="Google Shape;185;p10"/>
          <p:cNvSpPr txBox="1"/>
          <p:nvPr/>
        </p:nvSpPr>
        <p:spPr>
          <a:xfrm>
            <a:off x="5268814" y="3059916"/>
            <a:ext cx="6427232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When sufficient no. of electrons are accumulated a n-channel region is created below the gate and between the source, drain region.</a:t>
            </a:r>
            <a:endParaRPr dirty="0"/>
          </a:p>
        </p:txBody>
      </p:sp>
      <p:sp>
        <p:nvSpPr>
          <p:cNvPr id="186" name="Google Shape;186;p10"/>
          <p:cNvSpPr txBox="1"/>
          <p:nvPr/>
        </p:nvSpPr>
        <p:spPr>
          <a:xfrm>
            <a:off x="1203960" y="5762802"/>
            <a:ext cx="1036612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induced n-region will act as a current transport channel between source and drain.</a:t>
            </a:r>
            <a:endParaRPr dirty="0"/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842" y="2584089"/>
            <a:ext cx="4390769" cy="29006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 txBox="1"/>
          <p:nvPr/>
        </p:nvSpPr>
        <p:spPr>
          <a:xfrm>
            <a:off x="5229935" y="4172378"/>
            <a:ext cx="6466111" cy="92333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Now, applying a potential between Drain and Source, current will start flowing between source to drain through induced n-region.</a:t>
            </a:r>
            <a:endParaRPr dirty="0"/>
          </a:p>
        </p:txBody>
      </p:sp>
      <p:sp>
        <p:nvSpPr>
          <p:cNvPr id="189" name="Google Shape;189;p10"/>
          <p:cNvSpPr txBox="1"/>
          <p:nvPr/>
        </p:nvSpPr>
        <p:spPr>
          <a:xfrm>
            <a:off x="1203960" y="6203689"/>
            <a:ext cx="1036612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MOSFET is called n-channel MOSFET or NMOS Transistor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11" name="Google Shape;171;p9"/>
          <p:cNvSpPr txBox="1"/>
          <p:nvPr/>
        </p:nvSpPr>
        <p:spPr>
          <a:xfrm>
            <a:off x="838200" y="1614634"/>
            <a:ext cx="5422641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Creating Channel for Current Flow (</a:t>
            </a:r>
            <a:r>
              <a:rPr lang="en-US" sz="1800" b="1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contd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….)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838199" y="1337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  <a:endParaRPr b="1" dirty="0"/>
          </a:p>
        </p:txBody>
      </p:sp>
      <p:sp>
        <p:nvSpPr>
          <p:cNvPr id="196" name="Google Shape;196;p11"/>
          <p:cNvSpPr txBox="1"/>
          <p:nvPr/>
        </p:nvSpPr>
        <p:spPr>
          <a:xfrm>
            <a:off x="5758360" y="2131818"/>
            <a:ext cx="6363972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NMOS transistor is fabricated over p-type substrate and the channel is created by inducing the n-type region into the p-type substrate. </a:t>
            </a:r>
            <a:endParaRPr dirty="0"/>
          </a:p>
        </p:txBody>
      </p:sp>
      <p:sp>
        <p:nvSpPr>
          <p:cNvPr id="197" name="Google Shape;197;p11"/>
          <p:cNvSpPr txBox="1"/>
          <p:nvPr/>
        </p:nvSpPr>
        <p:spPr>
          <a:xfrm>
            <a:off x="5758359" y="3284834"/>
            <a:ext cx="636397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 the induced channel is called 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inversion layer</a:t>
            </a: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dirty="0"/>
          </a:p>
        </p:txBody>
      </p:sp>
      <p:sp>
        <p:nvSpPr>
          <p:cNvPr id="198" name="Google Shape;198;p11"/>
          <p:cNvSpPr txBox="1"/>
          <p:nvPr/>
        </p:nvSpPr>
        <p:spPr>
          <a:xfrm>
            <a:off x="793179" y="5672157"/>
            <a:ext cx="10916662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28" t="-4716" r="-763" b="-14149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00" name="Google Shape;200;p11"/>
          <p:cNvSpPr txBox="1"/>
          <p:nvPr/>
        </p:nvSpPr>
        <p:spPr>
          <a:xfrm>
            <a:off x="5762710" y="3779009"/>
            <a:ext cx="6363973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90" t="-3288" b="-9210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11" name="Google Shape;171;p9"/>
          <p:cNvSpPr txBox="1"/>
          <p:nvPr/>
        </p:nvSpPr>
        <p:spPr>
          <a:xfrm>
            <a:off x="838199" y="1362972"/>
            <a:ext cx="5413311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Creating Channel for Current Flow (</a:t>
            </a:r>
            <a:r>
              <a:rPr lang="en-US" sz="1800" b="1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contd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….)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03" y="2056185"/>
            <a:ext cx="4918531" cy="31959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23" y="863477"/>
            <a:ext cx="5643660" cy="2682154"/>
          </a:xfrm>
          <a:prstGeom prst="rect">
            <a:avLst/>
          </a:prstGeom>
        </p:spPr>
      </p:pic>
      <p:sp>
        <p:nvSpPr>
          <p:cNvPr id="5" name="Google Shape;201;p11"/>
          <p:cNvSpPr txBox="1"/>
          <p:nvPr/>
        </p:nvSpPr>
        <p:spPr>
          <a:xfrm>
            <a:off x="635842" y="4139156"/>
            <a:ext cx="10916662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field in channel region is in vertical direction as the gate separated by oxide act as a 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capacitor</a:t>
            </a: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positive charges accumulated at the top of the channel and corresponding negative charge at the bottom of the plate.`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35842" y="5184528"/>
            <a:ext cx="528651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An electric field thus develops in the vertical direction.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35842" y="5656011"/>
            <a:ext cx="1091666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This electric field controls the amount of charge in the channel, and thus it determines the channel conductivity and, in turn, the current that will flow through the channel when a voltage </a:t>
            </a:r>
            <a:r>
              <a:rPr lang="en-US" dirty="0" err="1"/>
              <a:t>Vds</a:t>
            </a:r>
            <a:r>
              <a:rPr lang="en-US" dirty="0"/>
              <a:t> is applied.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325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9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  <a:endParaRPr b="1" dirty="0"/>
          </a:p>
        </p:txBody>
      </p:sp>
      <p:sp>
        <p:nvSpPr>
          <p:cNvPr id="208" name="Google Shape;208;p12"/>
          <p:cNvSpPr txBox="1"/>
          <p:nvPr/>
        </p:nvSpPr>
        <p:spPr>
          <a:xfrm>
            <a:off x="5754628" y="1966340"/>
            <a:ext cx="6210949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57" t="-3971" r="-1323" b="-9933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5754628" y="3117846"/>
            <a:ext cx="6210949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gives the name 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Field Effect Transistor</a:t>
            </a:r>
            <a:endParaRPr b="1" dirty="0"/>
          </a:p>
        </p:txBody>
      </p:sp>
      <p:sp>
        <p:nvSpPr>
          <p:cNvPr id="210" name="Google Shape;210;p12"/>
          <p:cNvSpPr txBox="1"/>
          <p:nvPr/>
        </p:nvSpPr>
        <p:spPr>
          <a:xfrm>
            <a:off x="1223146" y="5456611"/>
            <a:ext cx="1036612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28" t="-8196" b="-24589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pic>
        <p:nvPicPr>
          <p:cNvPr id="211" name="Google Shape;21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603" y="1872782"/>
            <a:ext cx="4788160" cy="3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 txBox="1"/>
          <p:nvPr/>
        </p:nvSpPr>
        <p:spPr>
          <a:xfrm>
            <a:off x="5754628" y="3631907"/>
            <a:ext cx="621094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771" t="-9999" b="-26666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23146" y="5923676"/>
            <a:ext cx="1037781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513" t="-9999" b="-26666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5754628" y="4207563"/>
            <a:ext cx="6210949" cy="64633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772" t="-4716" r="-1543" b="-14149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12" name="Google Shape;171;p9"/>
          <p:cNvSpPr txBox="1"/>
          <p:nvPr/>
        </p:nvSpPr>
        <p:spPr>
          <a:xfrm>
            <a:off x="838199" y="1362972"/>
            <a:ext cx="5413311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Creating Channel for Current Flow (</a:t>
            </a:r>
            <a:r>
              <a:rPr lang="en-US" sz="1800" b="1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contd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….)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726232" y="50734"/>
            <a:ext cx="10515600" cy="111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  <a:endParaRPr b="1" dirty="0"/>
          </a:p>
        </p:txBody>
      </p:sp>
      <p:sp>
        <p:nvSpPr>
          <p:cNvPr id="221" name="Google Shape;221;p13"/>
          <p:cNvSpPr txBox="1"/>
          <p:nvPr/>
        </p:nvSpPr>
        <p:spPr>
          <a:xfrm>
            <a:off x="501758" y="1750477"/>
            <a:ext cx="631766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Now, we can express magnitude of the electron charge in the channel as---------------------</a:t>
            </a:r>
            <a:endParaRPr dirty="0"/>
          </a:p>
        </p:txBody>
      </p:sp>
      <p:sp>
        <p:nvSpPr>
          <p:cNvPr id="222" name="Google Shape;222;p13"/>
          <p:cNvSpPr txBox="1"/>
          <p:nvPr/>
        </p:nvSpPr>
        <p:spPr>
          <a:xfrm>
            <a:off x="1965332" y="2577643"/>
            <a:ext cx="6136433" cy="5989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66" t="-4716" b="-14149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7388541" y="1903071"/>
            <a:ext cx="2831009" cy="4996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1474"/>
            </a:stretch>
          </a:blipFill>
          <a:ln>
            <a:solidFill>
              <a:srgbClr val="00B0F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25" name="Google Shape;225;p13"/>
          <p:cNvSpPr txBox="1"/>
          <p:nvPr/>
        </p:nvSpPr>
        <p:spPr>
          <a:xfrm>
            <a:off x="8232496" y="2577644"/>
            <a:ext cx="3009336" cy="61155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4716" b="-14149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7649314" y="3317114"/>
            <a:ext cx="1692579" cy="4971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2877"/>
            </a:stretch>
          </a:blip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501758" y="4020033"/>
            <a:ext cx="616758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t="-8196" b="-24589"/>
            </a:stretch>
          </a:blip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6711412" y="4010597"/>
            <a:ext cx="5380512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t="-9999" b="-26666"/>
            </a:stretch>
          </a:blip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29" name="Google Shape;229;p13"/>
          <p:cNvSpPr txBox="1"/>
          <p:nvPr/>
        </p:nvSpPr>
        <p:spPr>
          <a:xfrm>
            <a:off x="7228898" y="4594829"/>
            <a:ext cx="4248855" cy="64755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30" name="Google Shape;230;p13"/>
          <p:cNvSpPr txBox="1"/>
          <p:nvPr/>
        </p:nvSpPr>
        <p:spPr>
          <a:xfrm>
            <a:off x="5786611" y="5451486"/>
            <a:ext cx="2065630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4753"/>
            </a:stretch>
          </a:blip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519450" y="5451486"/>
            <a:ext cx="508754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078" t="-8196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32" name="Google Shape;232;p13"/>
          <p:cNvSpPr txBox="1"/>
          <p:nvPr/>
        </p:nvSpPr>
        <p:spPr>
          <a:xfrm>
            <a:off x="9113149" y="5461752"/>
            <a:ext cx="245733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4998"/>
            </a:stretch>
          </a:blip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17" name="Google Shape;171;p9"/>
          <p:cNvSpPr txBox="1"/>
          <p:nvPr/>
        </p:nvSpPr>
        <p:spPr>
          <a:xfrm>
            <a:off x="685835" y="1157922"/>
            <a:ext cx="5413311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Creating Channel for Current Flow (</a:t>
            </a:r>
            <a:r>
              <a:rPr lang="en-US" sz="1800" b="1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contd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….)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41832" y="194706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11256378" y="338104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en-IN" dirty="0"/>
          </a:p>
        </p:txBody>
      </p:sp>
      <p:sp>
        <p:nvSpPr>
          <p:cNvPr id="20" name="Google Shape;221;p13"/>
          <p:cNvSpPr txBox="1"/>
          <p:nvPr/>
        </p:nvSpPr>
        <p:spPr>
          <a:xfrm>
            <a:off x="501758" y="3303567"/>
            <a:ext cx="631766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Oxide capacitance is given as--------------------</a:t>
            </a:r>
            <a:endParaRPr dirty="0"/>
          </a:p>
        </p:txBody>
      </p:sp>
      <p:sp>
        <p:nvSpPr>
          <p:cNvPr id="21" name="Google Shape;221;p13"/>
          <p:cNvSpPr txBox="1"/>
          <p:nvPr/>
        </p:nvSpPr>
        <p:spPr>
          <a:xfrm>
            <a:off x="501758" y="4701228"/>
            <a:ext cx="631766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e.g. Oxide capacitance for these values is </a:t>
            </a: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-------------------</a:t>
            </a:r>
            <a:endParaRPr dirty="0"/>
          </a:p>
        </p:txBody>
      </p:sp>
      <p:sp>
        <p:nvSpPr>
          <p:cNvPr id="22" name="Google Shape;221;p13"/>
          <p:cNvSpPr txBox="1"/>
          <p:nvPr/>
        </p:nvSpPr>
        <p:spPr>
          <a:xfrm>
            <a:off x="8170333" y="5476670"/>
            <a:ext cx="88053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877924" y="6048504"/>
            <a:ext cx="182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i="1" dirty="0" err="1"/>
              <a:t>fF</a:t>
            </a:r>
            <a:r>
              <a:rPr lang="en-US" i="1" dirty="0"/>
              <a:t> </a:t>
            </a:r>
            <a:r>
              <a:rPr lang="en-US" dirty="0"/>
              <a:t> is </a:t>
            </a:r>
            <a:r>
              <a:rPr lang="en-US" dirty="0" err="1"/>
              <a:t>femtofarad</a:t>
            </a:r>
            <a:endParaRPr lang="en-IN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61" y="496018"/>
            <a:ext cx="5826024" cy="4197930"/>
          </a:xfrm>
          <a:prstGeom prst="rect">
            <a:avLst/>
          </a:prstGeom>
        </p:spPr>
      </p:pic>
      <p:sp>
        <p:nvSpPr>
          <p:cNvPr id="239" name="Google Shape;239;p14"/>
          <p:cNvSpPr txBox="1"/>
          <p:nvPr/>
        </p:nvSpPr>
        <p:spPr>
          <a:xfrm>
            <a:off x="532019" y="1875173"/>
            <a:ext cx="619236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86" t="-9999" b="-266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532019" y="2820112"/>
            <a:ext cx="619236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786" t="-8196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513099" y="2357353"/>
            <a:ext cx="56106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868" t="-8196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545159" y="3299515"/>
            <a:ext cx="5578578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t="-9999" b="-266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611190" y="4475174"/>
            <a:ext cx="6286549" cy="64633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775" t="-4716" b="-141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1352142" y="5121505"/>
            <a:ext cx="1070204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445" t="-8196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611190" y="5677261"/>
            <a:ext cx="2760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Now, we already know</a:t>
            </a:r>
            <a:endParaRPr dirty="0"/>
          </a:p>
        </p:txBody>
      </p:sp>
      <p:sp>
        <p:nvSpPr>
          <p:cNvPr id="247" name="Google Shape;247;p14"/>
          <p:cNvSpPr txBox="1"/>
          <p:nvPr/>
        </p:nvSpPr>
        <p:spPr>
          <a:xfrm>
            <a:off x="3628200" y="5688005"/>
            <a:ext cx="2073195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1666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1417311" y="6246232"/>
            <a:ext cx="69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then</a:t>
            </a:r>
            <a:endParaRPr dirty="0"/>
          </a:p>
        </p:txBody>
      </p:sp>
      <p:sp>
        <p:nvSpPr>
          <p:cNvPr id="249" name="Google Shape;249;p14"/>
          <p:cNvSpPr txBox="1"/>
          <p:nvPr/>
        </p:nvSpPr>
        <p:spPr>
          <a:xfrm>
            <a:off x="3195927" y="6081604"/>
            <a:ext cx="3498907" cy="676404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17" name="Google Shape;206;p12"/>
          <p:cNvSpPr txBox="1">
            <a:spLocks/>
          </p:cNvSpPr>
          <p:nvPr/>
        </p:nvSpPr>
        <p:spPr>
          <a:xfrm>
            <a:off x="435867" y="329458"/>
            <a:ext cx="10515600" cy="6978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</a:p>
        </p:txBody>
      </p:sp>
      <p:sp>
        <p:nvSpPr>
          <p:cNvPr id="18" name="Google Shape;171;p9"/>
          <p:cNvSpPr txBox="1"/>
          <p:nvPr/>
        </p:nvSpPr>
        <p:spPr>
          <a:xfrm>
            <a:off x="611190" y="1241658"/>
            <a:ext cx="2579879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 Applying 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Small 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</a:t>
            </a:r>
            <a:r>
              <a:rPr lang="en-US" sz="11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13099" y="3868550"/>
            <a:ext cx="662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I</a:t>
            </a:r>
            <a:r>
              <a:rPr lang="en-US" sz="1200" dirty="0"/>
              <a:t>D </a:t>
            </a:r>
            <a:r>
              <a:rPr lang="en-US" dirty="0"/>
              <a:t>starts flowing from drain to source through n-channel formed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 txBox="1"/>
          <p:nvPr/>
        </p:nvSpPr>
        <p:spPr>
          <a:xfrm>
            <a:off x="484541" y="1925354"/>
            <a:ext cx="6256666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75" t="-4716" r="-1071" b="-141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57" name="Google Shape;257;p15"/>
          <p:cNvSpPr txBox="1"/>
          <p:nvPr/>
        </p:nvSpPr>
        <p:spPr>
          <a:xfrm>
            <a:off x="484541" y="2806277"/>
            <a:ext cx="62566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Now, the electric field will drift channel electrons towards the drain region with the velocity</a:t>
            </a:r>
            <a:endParaRPr dirty="0"/>
          </a:p>
        </p:txBody>
      </p:sp>
      <p:sp>
        <p:nvSpPr>
          <p:cNvPr id="259" name="Google Shape;259;p15"/>
          <p:cNvSpPr txBox="1"/>
          <p:nvPr/>
        </p:nvSpPr>
        <p:spPr>
          <a:xfrm>
            <a:off x="8024088" y="1805610"/>
            <a:ext cx="1189172" cy="6090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6881593" y="2615679"/>
            <a:ext cx="4334263" cy="6090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5837600" y="3312713"/>
            <a:ext cx="6286549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871" t="-5659" b="-1415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449500" y="4163946"/>
            <a:ext cx="61221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Now, current in the channel can be calculated using</a:t>
            </a:r>
            <a:endParaRPr dirty="0"/>
          </a:p>
        </p:txBody>
      </p:sp>
      <p:sp>
        <p:nvSpPr>
          <p:cNvPr id="263" name="Google Shape;263;p15"/>
          <p:cNvSpPr txBox="1"/>
          <p:nvPr/>
        </p:nvSpPr>
        <p:spPr>
          <a:xfrm>
            <a:off x="6121651" y="4023668"/>
            <a:ext cx="5449120" cy="67640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6353050" y="4813107"/>
            <a:ext cx="2409186" cy="6260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6353050" y="5615322"/>
            <a:ext cx="2552878" cy="714683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16" name="Google Shape;206;p12"/>
          <p:cNvSpPr txBox="1">
            <a:spLocks/>
          </p:cNvSpPr>
          <p:nvPr/>
        </p:nvSpPr>
        <p:spPr>
          <a:xfrm>
            <a:off x="435867" y="329458"/>
            <a:ext cx="10515600" cy="6978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</a:p>
        </p:txBody>
      </p:sp>
      <p:sp>
        <p:nvSpPr>
          <p:cNvPr id="17" name="Google Shape;171;p9"/>
          <p:cNvSpPr txBox="1"/>
          <p:nvPr/>
        </p:nvSpPr>
        <p:spPr>
          <a:xfrm>
            <a:off x="611190" y="1241658"/>
            <a:ext cx="3774198" cy="369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 Applying 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Small </a:t>
            </a:r>
            <a:r>
              <a:rPr lang="en-US" sz="18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</a:t>
            </a:r>
            <a:r>
              <a:rPr lang="en-US" sz="11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DS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(</a:t>
            </a:r>
            <a:r>
              <a:rPr lang="en-US" b="1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contd</a:t>
            </a:r>
            <a:r>
              <a:rPr lang="en-US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…)</a:t>
            </a:r>
            <a:r>
              <a:rPr lang="en-US" sz="1100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1498686" y="191127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11498686" y="268265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1570771" y="411117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(5)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570771" y="496803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1549023" y="578799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(7)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/>
          <p:nvPr/>
        </p:nvSpPr>
        <p:spPr>
          <a:xfrm>
            <a:off x="488138" y="2483639"/>
            <a:ext cx="520552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35" t="-9999" b="-266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488138" y="2901551"/>
            <a:ext cx="6202240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85" t="-4716" r="-391" b="-141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7359039" y="2706735"/>
            <a:ext cx="2503121" cy="88658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n>
                  <a:solidFill>
                    <a:sysClr val="windowText" lastClr="000000"/>
                  </a:solidFill>
                </a:ln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5824085" y="3700551"/>
            <a:ext cx="628654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774" t="-9999" b="-266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488138" y="4551891"/>
            <a:ext cx="7011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Now, </a:t>
            </a:r>
            <a:r>
              <a:rPr lang="en-US" sz="1800" b="1" dirty="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conductance of the channel </a:t>
            </a:r>
            <a:r>
              <a:rPr lang="en-US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 be determined using</a:t>
            </a:r>
            <a:endParaRPr dirty="0"/>
          </a:p>
        </p:txBody>
      </p:sp>
      <p:sp>
        <p:nvSpPr>
          <p:cNvPr id="277" name="Google Shape;277;p16"/>
          <p:cNvSpPr txBox="1"/>
          <p:nvPr/>
        </p:nvSpPr>
        <p:spPr>
          <a:xfrm>
            <a:off x="4411327" y="1376888"/>
            <a:ext cx="2825517" cy="71468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3519509" y="5135539"/>
            <a:ext cx="3446747" cy="53538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161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7051129" y="5135538"/>
            <a:ext cx="2494087" cy="535383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2040" b="-4818"/>
            </a:stretch>
          </a:blipFill>
          <a:ln>
            <a:solidFill>
              <a:schemeClr val="accent2">
                <a:lumMod val="7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15" name="Google Shape;206;p12"/>
          <p:cNvSpPr txBox="1">
            <a:spLocks/>
          </p:cNvSpPr>
          <p:nvPr/>
        </p:nvSpPr>
        <p:spPr>
          <a:xfrm>
            <a:off x="435867" y="329458"/>
            <a:ext cx="10515600" cy="6978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b="1" dirty="0"/>
              <a:t>Device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57" y="287653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(8)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1273060" y="512840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(9)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blipFill rotWithShape="1">
            <a:blip r:embed="rId3">
              <a:alphaModFix/>
            </a:blip>
            <a:stretch>
              <a:fillRect l="-2376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Libre Franklin Medium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1203960" y="1740660"/>
            <a:ext cx="4676217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172" t="-9999" b="-266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pic>
        <p:nvPicPr>
          <p:cNvPr id="379" name="Google Shape;379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3960" y="2519791"/>
            <a:ext cx="3868178" cy="208865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/>
          <p:nvPr/>
        </p:nvSpPr>
        <p:spPr>
          <a:xfrm>
            <a:off x="5436894" y="2322393"/>
            <a:ext cx="3093218" cy="71468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8530112" y="3037076"/>
            <a:ext cx="3830536" cy="71468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grpSp>
        <p:nvGrpSpPr>
          <p:cNvPr id="382" name="Google Shape;382;p24"/>
          <p:cNvGrpSpPr/>
          <p:nvPr/>
        </p:nvGrpSpPr>
        <p:grpSpPr>
          <a:xfrm>
            <a:off x="5436894" y="3337766"/>
            <a:ext cx="3453891" cy="3426929"/>
            <a:chOff x="5266535" y="3237314"/>
            <a:chExt cx="3453891" cy="3426929"/>
          </a:xfrm>
        </p:grpSpPr>
        <p:pic>
          <p:nvPicPr>
            <p:cNvPr id="383" name="Google Shape;383;p2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266535" y="3237314"/>
              <a:ext cx="2928750" cy="3426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24"/>
            <p:cNvSpPr txBox="1"/>
            <p:nvPr/>
          </p:nvSpPr>
          <p:spPr>
            <a:xfrm>
              <a:off x="8115773" y="6253768"/>
              <a:ext cx="604653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333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Libre Franklin"/>
                  <a:ea typeface="Libre Franklin"/>
                  <a:cs typeface="Libre Franklin"/>
                  <a:sym typeface="Libre Franklin"/>
                </a:rPr>
                <a:t> </a:t>
              </a:r>
              <a:endParaRPr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1203960" y="320675"/>
            <a:ext cx="10515600" cy="10814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376" b="-903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Libre Franklin Medium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1203960" y="1471609"/>
            <a:ext cx="323505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97" t="-8196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1203960" y="2171061"/>
            <a:ext cx="7446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NMOS work as switch when operated in triode and cut-off region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203960" y="2940042"/>
            <a:ext cx="7378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NMOS is used in saturation region for application in amplification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9760" y="3548627"/>
            <a:ext cx="8311366" cy="29886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1203960" y="320676"/>
            <a:ext cx="10515600" cy="10525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376" t="-1743" b="-11045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Libre Franklin Medium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1203960" y="1382341"/>
            <a:ext cx="323505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97" t="-9999" b="-2666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4727251" y="1828914"/>
            <a:ext cx="438286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112" t="-8196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708165" y="2602547"/>
            <a:ext cx="7276861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669" t="-5659" r="-752" b="-1415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63079" y="1835303"/>
            <a:ext cx="3075933" cy="239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4884192" y="3584706"/>
            <a:ext cx="2133854" cy="61093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6850898" y="3601283"/>
            <a:ext cx="2415084" cy="61093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935213" y="3601283"/>
            <a:ext cx="1505906" cy="646331"/>
          </a:xfrm>
          <a:prstGeom prst="ellipse">
            <a:avLst/>
          </a:prstGeom>
          <a:solidFill>
            <a:schemeClr val="accent1">
              <a:alpha val="28627"/>
            </a:schemeClr>
          </a:solidFill>
          <a:ln w="12700" cap="flat" cmpd="sng">
            <a:solidFill>
              <a:srgbClr val="3D732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477659" y="4814986"/>
            <a:ext cx="2541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Non-linear behaviour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4727251" y="5453066"/>
            <a:ext cx="5801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 this equation provide non-linear amplification</a:t>
            </a:r>
            <a:endParaRPr/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02183" y="4312939"/>
            <a:ext cx="3425068" cy="23416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1203960" y="1785258"/>
            <a:ext cx="630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 Sedra, Smith, Microelectronics Circuits, Sixth Edition, Oxford.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1686</TotalTime>
  <Words>1030</Words>
  <Application>Microsoft Office PowerPoint</Application>
  <PresentationFormat>Widescreen</PresentationFormat>
  <Paragraphs>204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Calibri</vt:lpstr>
      <vt:lpstr>Arial</vt:lpstr>
      <vt:lpstr>Libre Franklin</vt:lpstr>
      <vt:lpstr>Libre Franklin Medium</vt:lpstr>
      <vt:lpstr>Calibri Light</vt:lpstr>
      <vt:lpstr>Wingdings</vt:lpstr>
      <vt:lpstr>Office Theme</vt:lpstr>
      <vt:lpstr>Basic Electronics (24B11EC111)</vt:lpstr>
      <vt:lpstr>Table of Contents</vt:lpstr>
      <vt:lpstr>MOSFET</vt:lpstr>
      <vt:lpstr>Types of MOSFET</vt:lpstr>
      <vt:lpstr>Types of MOSFET</vt:lpstr>
      <vt:lpstr>MOSFET Symbol</vt:lpstr>
      <vt:lpstr>MOSFET</vt:lpstr>
      <vt:lpstr>MOSFET Structure</vt:lpstr>
      <vt:lpstr>MOSFET Structure</vt:lpstr>
      <vt:lpstr>MOSFET Structure</vt:lpstr>
      <vt:lpstr>Device Operation</vt:lpstr>
      <vt:lpstr>Device Operation </vt:lpstr>
      <vt:lpstr>Device Operation</vt:lpstr>
      <vt:lpstr>Device Operation</vt:lpstr>
      <vt:lpstr>PowerPoint Presentation</vt:lpstr>
      <vt:lpstr>Device Operation</vt:lpstr>
      <vt:lpstr>Device Operation</vt:lpstr>
      <vt:lpstr>PowerPoint Presentation</vt:lpstr>
      <vt:lpstr>PowerPoint Presentation</vt:lpstr>
      <vt:lpstr>PowerPoint Presentation</vt:lpstr>
      <vt:lpstr> </vt:lpstr>
      <vt:lpstr> </vt:lpstr>
      <vt:lpstr> 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Electronics (24B11EC111)</dc:title>
  <dc:creator>hemant bhatt</dc:creator>
  <cp:lastModifiedBy>nidhi tewari</cp:lastModifiedBy>
  <cp:revision>49</cp:revision>
  <dcterms:created xsi:type="dcterms:W3CDTF">2021-05-25T08:37:29Z</dcterms:created>
  <dcterms:modified xsi:type="dcterms:W3CDTF">2025-10-29T10:53:54Z</dcterms:modified>
</cp:coreProperties>
</file>