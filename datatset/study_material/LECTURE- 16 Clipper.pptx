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809" r:id="rId2"/>
    <p:sldId id="795" r:id="rId3"/>
    <p:sldId id="796" r:id="rId4"/>
    <p:sldId id="797" r:id="rId5"/>
    <p:sldId id="798" r:id="rId6"/>
    <p:sldId id="799" r:id="rId7"/>
    <p:sldId id="800" r:id="rId8"/>
    <p:sldId id="801" r:id="rId9"/>
    <p:sldId id="802" r:id="rId10"/>
    <p:sldId id="803" r:id="rId11"/>
    <p:sldId id="804" r:id="rId12"/>
    <p:sldId id="805" r:id="rId13"/>
    <p:sldId id="806" r:id="rId14"/>
    <p:sldId id="317" r:id="rId15"/>
    <p:sldId id="318" r:id="rId16"/>
    <p:sldId id="315" r:id="rId17"/>
    <p:sldId id="316" r:id="rId18"/>
    <p:sldId id="80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4" d="100"/>
          <a:sy n="84" d="100"/>
        </p:scale>
        <p:origin x="9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B45EF9-932A-4AAF-A0A7-F81A3F30E67C}" type="datetimeFigureOut">
              <a:rPr lang="en-IN" smtClean="0"/>
              <a:t>01-09-2025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2D5D61-9486-4B79-94C9-C56AD063E428}" type="slidenum">
              <a:rPr lang="en-IN" smtClean="0"/>
              <a:t>‹#›</a:t>
            </a:fld>
            <a:endParaRPr lang="en-IN"/>
          </a:p>
        </p:txBody>
      </p:sp>
    </p:spTree>
    <p:extLst>
      <p:ext uri="{BB962C8B-B14F-4D97-AF65-F5344CB8AC3E}">
        <p14:creationId xmlns:p14="http://schemas.microsoft.com/office/powerpoint/2010/main" val="373257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dirty="0"/>
          </a:p>
        </p:txBody>
      </p:sp>
      <p:sp>
        <p:nvSpPr>
          <p:cNvPr id="41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B5D436C-83E1-4AA7-B996-0CEB7094B1FD}" type="slidenum">
              <a:rPr lang="en-IN" altLang="en-US" smtClean="0">
                <a:solidFill>
                  <a:prstClr val="black"/>
                </a:solidFill>
              </a:rPr>
              <a:pPr/>
              <a:t>1</a:t>
            </a:fld>
            <a:endParaRPr lang="en-IN" altLang="en-US">
              <a:solidFill>
                <a:prstClr val="black"/>
              </a:solidFill>
            </a:endParaRPr>
          </a:p>
        </p:txBody>
      </p:sp>
    </p:spTree>
    <p:extLst>
      <p:ext uri="{BB962C8B-B14F-4D97-AF65-F5344CB8AC3E}">
        <p14:creationId xmlns:p14="http://schemas.microsoft.com/office/powerpoint/2010/main" val="20168679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F8A6E17-8E76-4769-899E-8A8590F072DE}"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F8A6E17-8E76-4769-899E-8A8590F072DE}" type="slidenum">
              <a:rPr lang="en-US" smtClean="0"/>
              <a:pPr/>
              <a:t>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67D8D-7A14-1029-7FE9-B07B1E2C73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33BC63A-2C77-01B5-F2D6-4431239069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917CA3B-DAF3-C9F0-A0F6-27395B53D287}"/>
              </a:ext>
            </a:extLst>
          </p:cNvPr>
          <p:cNvSpPr>
            <a:spLocks noGrp="1"/>
          </p:cNvSpPr>
          <p:nvPr>
            <p:ph type="dt" sz="half" idx="10"/>
          </p:nvPr>
        </p:nvSpPr>
        <p:spPr/>
        <p:txBody>
          <a:bodyPr/>
          <a:lstStyle/>
          <a:p>
            <a:fld id="{10EF3CDA-5BC1-4800-9C74-18D5A96132FA}" type="datetimeFigureOut">
              <a:rPr lang="en-IN" smtClean="0"/>
              <a:t>01-09-2025</a:t>
            </a:fld>
            <a:endParaRPr lang="en-IN"/>
          </a:p>
        </p:txBody>
      </p:sp>
      <p:sp>
        <p:nvSpPr>
          <p:cNvPr id="5" name="Footer Placeholder 4">
            <a:extLst>
              <a:ext uri="{FF2B5EF4-FFF2-40B4-BE49-F238E27FC236}">
                <a16:creationId xmlns:a16="http://schemas.microsoft.com/office/drawing/2014/main" id="{98405ADD-2E67-9938-D2EC-E85AAC0F8E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A7351E-278D-A335-23FA-FD3FB544E849}"/>
              </a:ext>
            </a:extLst>
          </p:cNvPr>
          <p:cNvSpPr>
            <a:spLocks noGrp="1"/>
          </p:cNvSpPr>
          <p:nvPr>
            <p:ph type="sldNum" sz="quarter" idx="12"/>
          </p:nvPr>
        </p:nvSpPr>
        <p:spPr/>
        <p:txBody>
          <a:bodyPr/>
          <a:lstStyle/>
          <a:p>
            <a:fld id="{C9087B17-1EFA-4364-A149-EFB30760496D}" type="slidenum">
              <a:rPr lang="en-IN" smtClean="0"/>
              <a:t>‹#›</a:t>
            </a:fld>
            <a:endParaRPr lang="en-IN"/>
          </a:p>
        </p:txBody>
      </p:sp>
    </p:spTree>
    <p:extLst>
      <p:ext uri="{BB962C8B-B14F-4D97-AF65-F5344CB8AC3E}">
        <p14:creationId xmlns:p14="http://schemas.microsoft.com/office/powerpoint/2010/main" val="2799156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F24FF-A922-4FFC-2C6D-F2F2E37682F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1ADD346-E5D7-1488-3D88-F7AA83501F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02B3F9-1B51-CAFE-5C0D-3BA90A657192}"/>
              </a:ext>
            </a:extLst>
          </p:cNvPr>
          <p:cNvSpPr>
            <a:spLocks noGrp="1"/>
          </p:cNvSpPr>
          <p:nvPr>
            <p:ph type="dt" sz="half" idx="10"/>
          </p:nvPr>
        </p:nvSpPr>
        <p:spPr/>
        <p:txBody>
          <a:bodyPr/>
          <a:lstStyle/>
          <a:p>
            <a:fld id="{10EF3CDA-5BC1-4800-9C74-18D5A96132FA}" type="datetimeFigureOut">
              <a:rPr lang="en-IN" smtClean="0"/>
              <a:t>01-09-2025</a:t>
            </a:fld>
            <a:endParaRPr lang="en-IN"/>
          </a:p>
        </p:txBody>
      </p:sp>
      <p:sp>
        <p:nvSpPr>
          <p:cNvPr id="5" name="Footer Placeholder 4">
            <a:extLst>
              <a:ext uri="{FF2B5EF4-FFF2-40B4-BE49-F238E27FC236}">
                <a16:creationId xmlns:a16="http://schemas.microsoft.com/office/drawing/2014/main" id="{A8CB3E3A-6FCF-A018-A1C9-4997417746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E32E4F-5392-7DEA-8565-7ECB1C162FBC}"/>
              </a:ext>
            </a:extLst>
          </p:cNvPr>
          <p:cNvSpPr>
            <a:spLocks noGrp="1"/>
          </p:cNvSpPr>
          <p:nvPr>
            <p:ph type="sldNum" sz="quarter" idx="12"/>
          </p:nvPr>
        </p:nvSpPr>
        <p:spPr/>
        <p:txBody>
          <a:bodyPr/>
          <a:lstStyle/>
          <a:p>
            <a:fld id="{C9087B17-1EFA-4364-A149-EFB30760496D}" type="slidenum">
              <a:rPr lang="en-IN" smtClean="0"/>
              <a:t>‹#›</a:t>
            </a:fld>
            <a:endParaRPr lang="en-IN"/>
          </a:p>
        </p:txBody>
      </p:sp>
    </p:spTree>
    <p:extLst>
      <p:ext uri="{BB962C8B-B14F-4D97-AF65-F5344CB8AC3E}">
        <p14:creationId xmlns:p14="http://schemas.microsoft.com/office/powerpoint/2010/main" val="4130702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C0802-3BB2-8975-5F83-E5A48C9B82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D16333D-826C-E0F4-D781-C272CFB931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552AC1-A3C5-C3D4-CD28-65982696A52A}"/>
              </a:ext>
            </a:extLst>
          </p:cNvPr>
          <p:cNvSpPr>
            <a:spLocks noGrp="1"/>
          </p:cNvSpPr>
          <p:nvPr>
            <p:ph type="dt" sz="half" idx="10"/>
          </p:nvPr>
        </p:nvSpPr>
        <p:spPr/>
        <p:txBody>
          <a:bodyPr/>
          <a:lstStyle/>
          <a:p>
            <a:fld id="{10EF3CDA-5BC1-4800-9C74-18D5A96132FA}" type="datetimeFigureOut">
              <a:rPr lang="en-IN" smtClean="0"/>
              <a:t>01-09-2025</a:t>
            </a:fld>
            <a:endParaRPr lang="en-IN"/>
          </a:p>
        </p:txBody>
      </p:sp>
      <p:sp>
        <p:nvSpPr>
          <p:cNvPr id="5" name="Footer Placeholder 4">
            <a:extLst>
              <a:ext uri="{FF2B5EF4-FFF2-40B4-BE49-F238E27FC236}">
                <a16:creationId xmlns:a16="http://schemas.microsoft.com/office/drawing/2014/main" id="{C8B20B27-D050-DA85-383B-20D3E710B9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C89F99-6867-248E-861C-C427A612AB26}"/>
              </a:ext>
            </a:extLst>
          </p:cNvPr>
          <p:cNvSpPr>
            <a:spLocks noGrp="1"/>
          </p:cNvSpPr>
          <p:nvPr>
            <p:ph type="sldNum" sz="quarter" idx="12"/>
          </p:nvPr>
        </p:nvSpPr>
        <p:spPr/>
        <p:txBody>
          <a:bodyPr/>
          <a:lstStyle/>
          <a:p>
            <a:fld id="{C9087B17-1EFA-4364-A149-EFB30760496D}" type="slidenum">
              <a:rPr lang="en-IN" smtClean="0"/>
              <a:t>‹#›</a:t>
            </a:fld>
            <a:endParaRPr lang="en-IN"/>
          </a:p>
        </p:txBody>
      </p:sp>
    </p:spTree>
    <p:extLst>
      <p:ext uri="{BB962C8B-B14F-4D97-AF65-F5344CB8AC3E}">
        <p14:creationId xmlns:p14="http://schemas.microsoft.com/office/powerpoint/2010/main" val="537722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F229A-79CC-8B4B-4BDA-E255AE1E8DC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E5FF8B2-A2B1-89D1-F0D3-8C1F625205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F0EC399-8CA5-7092-F8A8-35BF6698DB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3A814FB-F2AC-77CB-47C2-3A2DFD6A241E}"/>
              </a:ext>
            </a:extLst>
          </p:cNvPr>
          <p:cNvSpPr>
            <a:spLocks noGrp="1"/>
          </p:cNvSpPr>
          <p:nvPr>
            <p:ph type="dt" sz="half" idx="10"/>
          </p:nvPr>
        </p:nvSpPr>
        <p:spPr/>
        <p:txBody>
          <a:bodyPr/>
          <a:lstStyle/>
          <a:p>
            <a:fld id="{10EF3CDA-5BC1-4800-9C74-18D5A96132FA}" type="datetimeFigureOut">
              <a:rPr lang="en-IN" smtClean="0"/>
              <a:t>01-09-2025</a:t>
            </a:fld>
            <a:endParaRPr lang="en-IN"/>
          </a:p>
        </p:txBody>
      </p:sp>
      <p:sp>
        <p:nvSpPr>
          <p:cNvPr id="6" name="Footer Placeholder 5">
            <a:extLst>
              <a:ext uri="{FF2B5EF4-FFF2-40B4-BE49-F238E27FC236}">
                <a16:creationId xmlns:a16="http://schemas.microsoft.com/office/drawing/2014/main" id="{54007457-D7E2-9C9D-5C7A-3A5D7C1EC4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6A2BB5-0BF7-8D73-1305-36EA7587A57A}"/>
              </a:ext>
            </a:extLst>
          </p:cNvPr>
          <p:cNvSpPr>
            <a:spLocks noGrp="1"/>
          </p:cNvSpPr>
          <p:nvPr>
            <p:ph type="sldNum" sz="quarter" idx="12"/>
          </p:nvPr>
        </p:nvSpPr>
        <p:spPr/>
        <p:txBody>
          <a:bodyPr/>
          <a:lstStyle/>
          <a:p>
            <a:fld id="{C9087B17-1EFA-4364-A149-EFB30760496D}" type="slidenum">
              <a:rPr lang="en-IN" smtClean="0"/>
              <a:t>‹#›</a:t>
            </a:fld>
            <a:endParaRPr lang="en-IN"/>
          </a:p>
        </p:txBody>
      </p:sp>
    </p:spTree>
    <p:extLst>
      <p:ext uri="{BB962C8B-B14F-4D97-AF65-F5344CB8AC3E}">
        <p14:creationId xmlns:p14="http://schemas.microsoft.com/office/powerpoint/2010/main" val="298978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ED7F0-813E-9510-7C8F-5969386B3B7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B63BE9-54ED-2880-7195-745E184C14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3D563E-DCA2-573A-4C49-06C2ED3B4E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97080DC-C70C-EE5F-8915-A4510699F9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3AD686-2D91-227D-2E8C-DFB7596640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FFEDFAA-4F14-7FA2-353E-FBF7ACEC797A}"/>
              </a:ext>
            </a:extLst>
          </p:cNvPr>
          <p:cNvSpPr>
            <a:spLocks noGrp="1"/>
          </p:cNvSpPr>
          <p:nvPr>
            <p:ph type="dt" sz="half" idx="10"/>
          </p:nvPr>
        </p:nvSpPr>
        <p:spPr/>
        <p:txBody>
          <a:bodyPr/>
          <a:lstStyle/>
          <a:p>
            <a:fld id="{10EF3CDA-5BC1-4800-9C74-18D5A96132FA}" type="datetimeFigureOut">
              <a:rPr lang="en-IN" smtClean="0"/>
              <a:t>01-09-2025</a:t>
            </a:fld>
            <a:endParaRPr lang="en-IN"/>
          </a:p>
        </p:txBody>
      </p:sp>
      <p:sp>
        <p:nvSpPr>
          <p:cNvPr id="8" name="Footer Placeholder 7">
            <a:extLst>
              <a:ext uri="{FF2B5EF4-FFF2-40B4-BE49-F238E27FC236}">
                <a16:creationId xmlns:a16="http://schemas.microsoft.com/office/drawing/2014/main" id="{3EECB35F-4918-E676-CA35-B5E7E699BF1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5F1ADFC-6240-C732-315B-F4B81308ED8E}"/>
              </a:ext>
            </a:extLst>
          </p:cNvPr>
          <p:cNvSpPr>
            <a:spLocks noGrp="1"/>
          </p:cNvSpPr>
          <p:nvPr>
            <p:ph type="sldNum" sz="quarter" idx="12"/>
          </p:nvPr>
        </p:nvSpPr>
        <p:spPr/>
        <p:txBody>
          <a:bodyPr/>
          <a:lstStyle/>
          <a:p>
            <a:fld id="{C9087B17-1EFA-4364-A149-EFB30760496D}" type="slidenum">
              <a:rPr lang="en-IN" smtClean="0"/>
              <a:t>‹#›</a:t>
            </a:fld>
            <a:endParaRPr lang="en-IN"/>
          </a:p>
        </p:txBody>
      </p:sp>
    </p:spTree>
    <p:extLst>
      <p:ext uri="{BB962C8B-B14F-4D97-AF65-F5344CB8AC3E}">
        <p14:creationId xmlns:p14="http://schemas.microsoft.com/office/powerpoint/2010/main" val="3594469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2632A-29BF-DCC6-F53F-0078192FE3B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EEDA86F-6D0C-EB6E-09D3-9D21C61FF80D}"/>
              </a:ext>
            </a:extLst>
          </p:cNvPr>
          <p:cNvSpPr>
            <a:spLocks noGrp="1"/>
          </p:cNvSpPr>
          <p:nvPr>
            <p:ph type="dt" sz="half" idx="10"/>
          </p:nvPr>
        </p:nvSpPr>
        <p:spPr/>
        <p:txBody>
          <a:bodyPr/>
          <a:lstStyle/>
          <a:p>
            <a:fld id="{10EF3CDA-5BC1-4800-9C74-18D5A96132FA}" type="datetimeFigureOut">
              <a:rPr lang="en-IN" smtClean="0"/>
              <a:t>01-09-2025</a:t>
            </a:fld>
            <a:endParaRPr lang="en-IN"/>
          </a:p>
        </p:txBody>
      </p:sp>
      <p:sp>
        <p:nvSpPr>
          <p:cNvPr id="4" name="Footer Placeholder 3">
            <a:extLst>
              <a:ext uri="{FF2B5EF4-FFF2-40B4-BE49-F238E27FC236}">
                <a16:creationId xmlns:a16="http://schemas.microsoft.com/office/drawing/2014/main" id="{F0246B9F-6935-2568-CF62-98B65CC13E8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DBA9405-06E7-7D50-5D8D-1EC00DA988D0}"/>
              </a:ext>
            </a:extLst>
          </p:cNvPr>
          <p:cNvSpPr>
            <a:spLocks noGrp="1"/>
          </p:cNvSpPr>
          <p:nvPr>
            <p:ph type="sldNum" sz="quarter" idx="12"/>
          </p:nvPr>
        </p:nvSpPr>
        <p:spPr/>
        <p:txBody>
          <a:bodyPr/>
          <a:lstStyle/>
          <a:p>
            <a:fld id="{C9087B17-1EFA-4364-A149-EFB30760496D}" type="slidenum">
              <a:rPr lang="en-IN" smtClean="0"/>
              <a:t>‹#›</a:t>
            </a:fld>
            <a:endParaRPr lang="en-IN"/>
          </a:p>
        </p:txBody>
      </p:sp>
    </p:spTree>
    <p:extLst>
      <p:ext uri="{BB962C8B-B14F-4D97-AF65-F5344CB8AC3E}">
        <p14:creationId xmlns:p14="http://schemas.microsoft.com/office/powerpoint/2010/main" val="3454436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BF7E8B-C5A5-1049-92BF-24A5B8CF6FF0}"/>
              </a:ext>
            </a:extLst>
          </p:cNvPr>
          <p:cNvSpPr>
            <a:spLocks noGrp="1"/>
          </p:cNvSpPr>
          <p:nvPr>
            <p:ph type="dt" sz="half" idx="10"/>
          </p:nvPr>
        </p:nvSpPr>
        <p:spPr/>
        <p:txBody>
          <a:bodyPr/>
          <a:lstStyle/>
          <a:p>
            <a:fld id="{10EF3CDA-5BC1-4800-9C74-18D5A96132FA}" type="datetimeFigureOut">
              <a:rPr lang="en-IN" smtClean="0"/>
              <a:t>01-09-2025</a:t>
            </a:fld>
            <a:endParaRPr lang="en-IN"/>
          </a:p>
        </p:txBody>
      </p:sp>
      <p:sp>
        <p:nvSpPr>
          <p:cNvPr id="3" name="Footer Placeholder 2">
            <a:extLst>
              <a:ext uri="{FF2B5EF4-FFF2-40B4-BE49-F238E27FC236}">
                <a16:creationId xmlns:a16="http://schemas.microsoft.com/office/drawing/2014/main" id="{6FBCB775-4993-308F-17A4-B82EAFCA5F1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1B2453C-38C3-B977-6A0D-E06CEF6D9A66}"/>
              </a:ext>
            </a:extLst>
          </p:cNvPr>
          <p:cNvSpPr>
            <a:spLocks noGrp="1"/>
          </p:cNvSpPr>
          <p:nvPr>
            <p:ph type="sldNum" sz="quarter" idx="12"/>
          </p:nvPr>
        </p:nvSpPr>
        <p:spPr/>
        <p:txBody>
          <a:bodyPr/>
          <a:lstStyle/>
          <a:p>
            <a:fld id="{C9087B17-1EFA-4364-A149-EFB30760496D}" type="slidenum">
              <a:rPr lang="en-IN" smtClean="0"/>
              <a:t>‹#›</a:t>
            </a:fld>
            <a:endParaRPr lang="en-IN"/>
          </a:p>
        </p:txBody>
      </p:sp>
    </p:spTree>
    <p:extLst>
      <p:ext uri="{BB962C8B-B14F-4D97-AF65-F5344CB8AC3E}">
        <p14:creationId xmlns:p14="http://schemas.microsoft.com/office/powerpoint/2010/main" val="36308642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DD5BA-DCD0-F4BF-557D-323FB9E47C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8ADA294-9B17-8E1A-E374-44AB9BD249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0879752-EF62-D2B5-542D-9DC8710171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72331C-3CE1-0AD7-E815-BDF447F658E9}"/>
              </a:ext>
            </a:extLst>
          </p:cNvPr>
          <p:cNvSpPr>
            <a:spLocks noGrp="1"/>
          </p:cNvSpPr>
          <p:nvPr>
            <p:ph type="dt" sz="half" idx="10"/>
          </p:nvPr>
        </p:nvSpPr>
        <p:spPr/>
        <p:txBody>
          <a:bodyPr/>
          <a:lstStyle/>
          <a:p>
            <a:fld id="{10EF3CDA-5BC1-4800-9C74-18D5A96132FA}" type="datetimeFigureOut">
              <a:rPr lang="en-IN" smtClean="0"/>
              <a:t>01-09-2025</a:t>
            </a:fld>
            <a:endParaRPr lang="en-IN"/>
          </a:p>
        </p:txBody>
      </p:sp>
      <p:sp>
        <p:nvSpPr>
          <p:cNvPr id="6" name="Footer Placeholder 5">
            <a:extLst>
              <a:ext uri="{FF2B5EF4-FFF2-40B4-BE49-F238E27FC236}">
                <a16:creationId xmlns:a16="http://schemas.microsoft.com/office/drawing/2014/main" id="{F41532C3-62DA-6625-7C01-FC34BF2704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215D23E-5D89-A0A1-7BF6-10820A2C5E50}"/>
              </a:ext>
            </a:extLst>
          </p:cNvPr>
          <p:cNvSpPr>
            <a:spLocks noGrp="1"/>
          </p:cNvSpPr>
          <p:nvPr>
            <p:ph type="sldNum" sz="quarter" idx="12"/>
          </p:nvPr>
        </p:nvSpPr>
        <p:spPr/>
        <p:txBody>
          <a:bodyPr/>
          <a:lstStyle/>
          <a:p>
            <a:fld id="{C9087B17-1EFA-4364-A149-EFB30760496D}" type="slidenum">
              <a:rPr lang="en-IN" smtClean="0"/>
              <a:t>‹#›</a:t>
            </a:fld>
            <a:endParaRPr lang="en-IN"/>
          </a:p>
        </p:txBody>
      </p:sp>
    </p:spTree>
    <p:extLst>
      <p:ext uri="{BB962C8B-B14F-4D97-AF65-F5344CB8AC3E}">
        <p14:creationId xmlns:p14="http://schemas.microsoft.com/office/powerpoint/2010/main" val="3316118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D4BC4-F428-3DD3-C3BF-CDD6F1A74E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E36FA9A-4B18-3812-EF4D-ABE5A6BE44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3D5F504-183D-659D-74CB-8650AEC7C5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A77DA6-E4EF-DB25-B1B0-A4B49BEB211D}"/>
              </a:ext>
            </a:extLst>
          </p:cNvPr>
          <p:cNvSpPr>
            <a:spLocks noGrp="1"/>
          </p:cNvSpPr>
          <p:nvPr>
            <p:ph type="dt" sz="half" idx="10"/>
          </p:nvPr>
        </p:nvSpPr>
        <p:spPr/>
        <p:txBody>
          <a:bodyPr/>
          <a:lstStyle/>
          <a:p>
            <a:fld id="{10EF3CDA-5BC1-4800-9C74-18D5A96132FA}" type="datetimeFigureOut">
              <a:rPr lang="en-IN" smtClean="0"/>
              <a:t>01-09-2025</a:t>
            </a:fld>
            <a:endParaRPr lang="en-IN"/>
          </a:p>
        </p:txBody>
      </p:sp>
      <p:sp>
        <p:nvSpPr>
          <p:cNvPr id="6" name="Footer Placeholder 5">
            <a:extLst>
              <a:ext uri="{FF2B5EF4-FFF2-40B4-BE49-F238E27FC236}">
                <a16:creationId xmlns:a16="http://schemas.microsoft.com/office/drawing/2014/main" id="{4BC6A8B6-349A-EF39-877D-94718156870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12664D-8610-9B58-4C88-B6717EE39C66}"/>
              </a:ext>
            </a:extLst>
          </p:cNvPr>
          <p:cNvSpPr>
            <a:spLocks noGrp="1"/>
          </p:cNvSpPr>
          <p:nvPr>
            <p:ph type="sldNum" sz="quarter" idx="12"/>
          </p:nvPr>
        </p:nvSpPr>
        <p:spPr/>
        <p:txBody>
          <a:bodyPr/>
          <a:lstStyle/>
          <a:p>
            <a:fld id="{C9087B17-1EFA-4364-A149-EFB30760496D}" type="slidenum">
              <a:rPr lang="en-IN" smtClean="0"/>
              <a:t>‹#›</a:t>
            </a:fld>
            <a:endParaRPr lang="en-IN"/>
          </a:p>
        </p:txBody>
      </p:sp>
    </p:spTree>
    <p:extLst>
      <p:ext uri="{BB962C8B-B14F-4D97-AF65-F5344CB8AC3E}">
        <p14:creationId xmlns:p14="http://schemas.microsoft.com/office/powerpoint/2010/main" val="4646698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A2FB9-B9FF-61B7-D439-F5D3D4B52CF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28D23F6-2FC3-348F-9C45-3D6E579928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5FCE7C-1D87-974E-6503-63AB74E1F33F}"/>
              </a:ext>
            </a:extLst>
          </p:cNvPr>
          <p:cNvSpPr>
            <a:spLocks noGrp="1"/>
          </p:cNvSpPr>
          <p:nvPr>
            <p:ph type="dt" sz="half" idx="10"/>
          </p:nvPr>
        </p:nvSpPr>
        <p:spPr/>
        <p:txBody>
          <a:bodyPr/>
          <a:lstStyle/>
          <a:p>
            <a:fld id="{10EF3CDA-5BC1-4800-9C74-18D5A96132FA}" type="datetimeFigureOut">
              <a:rPr lang="en-IN" smtClean="0"/>
              <a:t>01-09-2025</a:t>
            </a:fld>
            <a:endParaRPr lang="en-IN"/>
          </a:p>
        </p:txBody>
      </p:sp>
      <p:sp>
        <p:nvSpPr>
          <p:cNvPr id="5" name="Footer Placeholder 4">
            <a:extLst>
              <a:ext uri="{FF2B5EF4-FFF2-40B4-BE49-F238E27FC236}">
                <a16:creationId xmlns:a16="http://schemas.microsoft.com/office/drawing/2014/main" id="{64A4DF88-231F-69E5-AA42-78B99DF4E4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9F8287-9984-F754-5D6D-4862B8A62883}"/>
              </a:ext>
            </a:extLst>
          </p:cNvPr>
          <p:cNvSpPr>
            <a:spLocks noGrp="1"/>
          </p:cNvSpPr>
          <p:nvPr>
            <p:ph type="sldNum" sz="quarter" idx="12"/>
          </p:nvPr>
        </p:nvSpPr>
        <p:spPr/>
        <p:txBody>
          <a:bodyPr/>
          <a:lstStyle/>
          <a:p>
            <a:fld id="{C9087B17-1EFA-4364-A149-EFB30760496D}" type="slidenum">
              <a:rPr lang="en-IN" smtClean="0"/>
              <a:t>‹#›</a:t>
            </a:fld>
            <a:endParaRPr lang="en-IN"/>
          </a:p>
        </p:txBody>
      </p:sp>
    </p:spTree>
    <p:extLst>
      <p:ext uri="{BB962C8B-B14F-4D97-AF65-F5344CB8AC3E}">
        <p14:creationId xmlns:p14="http://schemas.microsoft.com/office/powerpoint/2010/main" val="5034968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B12CEA-859B-B6E0-338C-4D97E28F8E0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0F0CF1-2928-3520-29EB-4DC9FF35AE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588496-7EE2-0617-B5CC-21233D6C917D}"/>
              </a:ext>
            </a:extLst>
          </p:cNvPr>
          <p:cNvSpPr>
            <a:spLocks noGrp="1"/>
          </p:cNvSpPr>
          <p:nvPr>
            <p:ph type="dt" sz="half" idx="10"/>
          </p:nvPr>
        </p:nvSpPr>
        <p:spPr/>
        <p:txBody>
          <a:bodyPr/>
          <a:lstStyle/>
          <a:p>
            <a:fld id="{10EF3CDA-5BC1-4800-9C74-18D5A96132FA}" type="datetimeFigureOut">
              <a:rPr lang="en-IN" smtClean="0"/>
              <a:t>01-09-2025</a:t>
            </a:fld>
            <a:endParaRPr lang="en-IN"/>
          </a:p>
        </p:txBody>
      </p:sp>
      <p:sp>
        <p:nvSpPr>
          <p:cNvPr id="5" name="Footer Placeholder 4">
            <a:extLst>
              <a:ext uri="{FF2B5EF4-FFF2-40B4-BE49-F238E27FC236}">
                <a16:creationId xmlns:a16="http://schemas.microsoft.com/office/drawing/2014/main" id="{9042B252-2687-2538-C4E5-F18644EBBF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F87A33-D35F-6FFC-6547-0771A46E4BBB}"/>
              </a:ext>
            </a:extLst>
          </p:cNvPr>
          <p:cNvSpPr>
            <a:spLocks noGrp="1"/>
          </p:cNvSpPr>
          <p:nvPr>
            <p:ph type="sldNum" sz="quarter" idx="12"/>
          </p:nvPr>
        </p:nvSpPr>
        <p:spPr/>
        <p:txBody>
          <a:bodyPr/>
          <a:lstStyle/>
          <a:p>
            <a:fld id="{C9087B17-1EFA-4364-A149-EFB30760496D}" type="slidenum">
              <a:rPr lang="en-IN" smtClean="0"/>
              <a:t>‹#›</a:t>
            </a:fld>
            <a:endParaRPr lang="en-IN"/>
          </a:p>
        </p:txBody>
      </p:sp>
    </p:spTree>
    <p:extLst>
      <p:ext uri="{BB962C8B-B14F-4D97-AF65-F5344CB8AC3E}">
        <p14:creationId xmlns:p14="http://schemas.microsoft.com/office/powerpoint/2010/main" val="2486041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5BFA4B-9A16-99B2-976E-AA67D9C088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75FDB6F-40FE-2332-823D-FFA8D625AA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3FD55A-1B44-6444-68DD-BB2AFFD637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EF3CDA-5BC1-4800-9C74-18D5A96132FA}" type="datetimeFigureOut">
              <a:rPr lang="en-IN" smtClean="0"/>
              <a:t>01-09-2025</a:t>
            </a:fld>
            <a:endParaRPr lang="en-IN"/>
          </a:p>
        </p:txBody>
      </p:sp>
      <p:sp>
        <p:nvSpPr>
          <p:cNvPr id="5" name="Footer Placeholder 4">
            <a:extLst>
              <a:ext uri="{FF2B5EF4-FFF2-40B4-BE49-F238E27FC236}">
                <a16:creationId xmlns:a16="http://schemas.microsoft.com/office/drawing/2014/main" id="{9519CAD5-B692-D1D8-B4A7-AB2FADD288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76D403D-DB32-69B4-89E6-F39EC4D5AF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087B17-1EFA-4364-A149-EFB30760496D}" type="slidenum">
              <a:rPr lang="en-IN" smtClean="0"/>
              <a:t>‹#›</a:t>
            </a:fld>
            <a:endParaRPr lang="en-IN"/>
          </a:p>
        </p:txBody>
      </p:sp>
    </p:spTree>
    <p:extLst>
      <p:ext uri="{BB962C8B-B14F-4D97-AF65-F5344CB8AC3E}">
        <p14:creationId xmlns:p14="http://schemas.microsoft.com/office/powerpoint/2010/main" val="56907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2209800" y="2644776"/>
            <a:ext cx="7772400" cy="1470025"/>
          </a:xfrm>
        </p:spPr>
        <p:txBody>
          <a:bodyPr>
            <a:normAutofit fontScale="90000"/>
          </a:bodyPr>
          <a:lstStyle/>
          <a:p>
            <a:pPr eaLnBrk="1" hangingPunct="1">
              <a:lnSpc>
                <a:spcPts val="4525"/>
              </a:lnSpc>
            </a:pPr>
            <a:r>
              <a:rPr lang="en-US" altLang="en-US" sz="4000" b="1" dirty="0">
                <a:latin typeface="Times New Roman" panose="02020603050405020304" pitchFamily="18" charset="0"/>
                <a:ea typeface="DQLMEJ+FranklinGothic-Book"/>
                <a:cs typeface="Times New Roman" panose="02020603050405020304" pitchFamily="18" charset="0"/>
                <a:sym typeface="Wingdings" panose="05000000000000000000" pitchFamily="2" charset="2"/>
              </a:rPr>
              <a:t>BASIC ELECTRONICS</a:t>
            </a:r>
            <a:br>
              <a:rPr lang="en-US" sz="4000" dirty="0">
                <a:latin typeface="Times New Roman" panose="02020603050405020304" pitchFamily="18" charset="0"/>
                <a:ea typeface="DQLMEJ+FranklinGothic-Book"/>
                <a:cs typeface="Times New Roman" panose="02020603050405020304" pitchFamily="18" charset="0"/>
              </a:rPr>
            </a:br>
            <a:r>
              <a:rPr lang="en-US" altLang="en-US" sz="4000" b="1" dirty="0">
                <a:latin typeface="Times New Roman" panose="02020603050405020304" pitchFamily="18" charset="0"/>
                <a:ea typeface="DQLMEJ+FranklinGothic-Book"/>
                <a:cs typeface="Times New Roman" panose="02020603050405020304" pitchFamily="18" charset="0"/>
                <a:sym typeface="Wingdings" panose="05000000000000000000" pitchFamily="2" charset="2"/>
              </a:rPr>
              <a:t>(24B11EC111)</a:t>
            </a:r>
            <a:br>
              <a:rPr lang="en-US" altLang="en-US" sz="4000" b="1" dirty="0">
                <a:latin typeface="Times New Roman" panose="02020603050405020304" pitchFamily="18" charset="0"/>
                <a:ea typeface="DQLMEJ+FranklinGothic-Book"/>
                <a:cs typeface="Times New Roman" panose="02020603050405020304" pitchFamily="18" charset="0"/>
                <a:sym typeface="Wingdings" panose="05000000000000000000" pitchFamily="2" charset="2"/>
              </a:rPr>
            </a:br>
            <a:r>
              <a:rPr lang="en-US" altLang="en-US" sz="4000" b="1" dirty="0">
                <a:latin typeface="Times New Roman" panose="02020603050405020304" pitchFamily="18" charset="0"/>
                <a:ea typeface="DQLMEJ+FranklinGothic-Book"/>
                <a:cs typeface="Times New Roman" panose="02020603050405020304" pitchFamily="18" charset="0"/>
                <a:sym typeface="Wingdings" panose="05000000000000000000" pitchFamily="2" charset="2"/>
              </a:rPr>
              <a:t>UNIT-2</a:t>
            </a:r>
            <a:br>
              <a:rPr lang="en-US" altLang="en-US" sz="4000" b="1" dirty="0">
                <a:latin typeface="Times New Roman" panose="02020603050405020304" pitchFamily="18" charset="0"/>
                <a:ea typeface="DQLMEJ+FranklinGothic-Book"/>
                <a:cs typeface="Times New Roman" panose="02020603050405020304" pitchFamily="18" charset="0"/>
                <a:sym typeface="Wingdings" panose="05000000000000000000" pitchFamily="2" charset="2"/>
              </a:rPr>
            </a:br>
            <a:r>
              <a:rPr lang="en-US" altLang="en-US" sz="4000" b="1" dirty="0">
                <a:latin typeface="Times New Roman" panose="02020603050405020304" pitchFamily="18" charset="0"/>
                <a:ea typeface="DQLMEJ+FranklinGothic-Book"/>
                <a:cs typeface="Times New Roman" panose="02020603050405020304" pitchFamily="18" charset="0"/>
                <a:sym typeface="Wingdings" panose="05000000000000000000" pitchFamily="2" charset="2"/>
              </a:rPr>
              <a:t>Lecture-7 (Clipper Circuits)</a:t>
            </a:r>
          </a:p>
        </p:txBody>
      </p:sp>
      <p:sp>
        <p:nvSpPr>
          <p:cNvPr id="3075"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C8FBFA7-3D01-4FF6-A58F-C30292061BB7}" type="slidenum">
              <a:rPr lang="ru-RU" altLang="en-US" sz="1200">
                <a:solidFill>
                  <a:srgbClr val="898989"/>
                </a:solidFill>
              </a:rPr>
              <a:pPr>
                <a:spcBef>
                  <a:spcPct val="0"/>
                </a:spcBef>
                <a:buFontTx/>
                <a:buNone/>
              </a:pPr>
              <a:t>1</a:t>
            </a:fld>
            <a:endParaRPr lang="ru-RU" altLang="en-US" sz="1200">
              <a:solidFill>
                <a:srgbClr val="898989"/>
              </a:solidFill>
            </a:endParaRPr>
          </a:p>
        </p:txBody>
      </p:sp>
    </p:spTree>
    <p:extLst>
      <p:ext uri="{BB962C8B-B14F-4D97-AF65-F5344CB8AC3E}">
        <p14:creationId xmlns:p14="http://schemas.microsoft.com/office/powerpoint/2010/main" val="1903565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1544" y="764704"/>
            <a:ext cx="8229600" cy="1066800"/>
          </a:xfrm>
        </p:spPr>
        <p:txBody>
          <a:bodyPr/>
          <a:lstStyle/>
          <a:p>
            <a:r>
              <a:rPr lang="en-IN" b="1" dirty="0">
                <a:latin typeface="Times New Roman" pitchFamily="18" charset="0"/>
                <a:cs typeface="Times New Roman" pitchFamily="18" charset="0"/>
              </a:rPr>
              <a:t>Outline</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1991544" y="1916832"/>
            <a:ext cx="8229600" cy="4325112"/>
          </a:xfrm>
        </p:spPr>
        <p:txBody>
          <a:bodyPr>
            <a:normAutofit/>
          </a:bodyPr>
          <a:lstStyle/>
          <a:p>
            <a:r>
              <a:rPr lang="en-US" dirty="0"/>
              <a:t>Content</a:t>
            </a:r>
          </a:p>
          <a:p>
            <a:pPr lvl="1"/>
            <a:r>
              <a:rPr lang="en-US" dirty="0"/>
              <a:t>Introduction to clippers</a:t>
            </a:r>
          </a:p>
          <a:p>
            <a:pPr lvl="1"/>
            <a:r>
              <a:rPr lang="en-US" dirty="0"/>
              <a:t>Classifications</a:t>
            </a:r>
          </a:p>
          <a:p>
            <a:pPr lvl="1"/>
            <a:r>
              <a:rPr lang="en-US" dirty="0"/>
              <a:t>Series clipper</a:t>
            </a:r>
          </a:p>
          <a:p>
            <a:pPr lvl="1"/>
            <a:r>
              <a:rPr lang="en-US" dirty="0"/>
              <a:t>Parallel clipper</a:t>
            </a:r>
          </a:p>
          <a:p>
            <a:pPr lvl="1"/>
            <a:r>
              <a:rPr lang="en-US" dirty="0"/>
              <a:t>Biased clipper</a:t>
            </a:r>
          </a:p>
          <a:p>
            <a:pPr lvl="1"/>
            <a:r>
              <a:rPr lang="en-US" dirty="0"/>
              <a:t>Examples</a:t>
            </a:r>
          </a:p>
          <a:p>
            <a:pPr lvl="1"/>
            <a:r>
              <a:rPr lang="en-US" dirty="0"/>
              <a:t>Combination clipper</a:t>
            </a:r>
          </a:p>
          <a:p>
            <a:pPr lvl="1"/>
            <a:r>
              <a:rPr lang="en-US" dirty="0"/>
              <a:t>Summary of clippers</a:t>
            </a:r>
          </a:p>
          <a:p>
            <a:pPr lvl="1"/>
            <a:r>
              <a:rPr lang="en-US" dirty="0"/>
              <a:t>Reference</a:t>
            </a:r>
            <a:endParaRPr lang="en-US" dirty="0">
              <a:solidFill>
                <a:srgbClr val="00B050"/>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F693A74A-2F08-4DE9-AABD-1CFEBD8C0681}"/>
              </a:ext>
            </a:extLst>
          </p:cNvPr>
          <p:cNvSpPr>
            <a:spLocks noGrp="1"/>
          </p:cNvSpPr>
          <p:nvPr>
            <p:ph type="sldNum" sz="quarter" idx="12"/>
          </p:nvPr>
        </p:nvSpPr>
        <p:spPr/>
        <p:txBody>
          <a:bodyPr/>
          <a:lstStyle/>
          <a:p>
            <a:fld id="{AD1450A3-5863-4018-97AA-7A53D73041E9}"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7528" y="332656"/>
            <a:ext cx="8229600" cy="1066800"/>
          </a:xfrm>
        </p:spPr>
        <p:txBody>
          <a:bodyPr/>
          <a:lstStyle/>
          <a:p>
            <a:r>
              <a:rPr lang="en-IN" dirty="0">
                <a:latin typeface="Times New Roman" pitchFamily="18" charset="0"/>
                <a:cs typeface="Times New Roman" pitchFamily="18" charset="0"/>
              </a:rPr>
              <a:t>Introduction of clipper</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1981200" y="1372126"/>
            <a:ext cx="8229600" cy="5081210"/>
          </a:xfrm>
        </p:spPr>
        <p:txBody>
          <a:bodyPr>
            <a:normAutofit/>
          </a:bodyPr>
          <a:lstStyle/>
          <a:p>
            <a:pPr algn="just"/>
            <a:r>
              <a:rPr lang="en-US" sz="1800" dirty="0">
                <a:cs typeface="Times New Roman" pitchFamily="18" charset="0"/>
              </a:rPr>
              <a:t>Clippers are networks that employ diodes to “clip” away a portion of an input signal without distorting the remaining part of the applied waveform. </a:t>
            </a:r>
          </a:p>
          <a:p>
            <a:r>
              <a:rPr lang="en-US" sz="1800" dirty="0"/>
              <a:t>A circuit which use to remove the peak of the wave is called clipper.</a:t>
            </a:r>
            <a:endParaRPr lang="en-US" sz="1800" dirty="0">
              <a:cs typeface="Times New Roman" pitchFamily="18" charset="0"/>
            </a:endParaRPr>
          </a:p>
          <a:p>
            <a:pPr marL="109728" indent="0" algn="just">
              <a:buNone/>
            </a:pPr>
            <a:endParaRPr lang="en-IN" sz="1800" dirty="0">
              <a:cs typeface="Times New Roman" pitchFamily="18" charset="0"/>
            </a:endParaRPr>
          </a:p>
          <a:p>
            <a:pPr algn="just"/>
            <a:endParaRPr lang="en-US" sz="1800" dirty="0">
              <a:cs typeface="Times New Roman" pitchFamily="18" charset="0"/>
            </a:endParaRPr>
          </a:p>
        </p:txBody>
      </p:sp>
      <p:sp>
        <p:nvSpPr>
          <p:cNvPr id="6" name="TextBox 5"/>
          <p:cNvSpPr txBox="1"/>
          <p:nvPr/>
        </p:nvSpPr>
        <p:spPr>
          <a:xfrm>
            <a:off x="9731525" y="6093296"/>
            <a:ext cx="659476" cy="369332"/>
          </a:xfrm>
          <a:prstGeom prst="rect">
            <a:avLst/>
          </a:prstGeom>
          <a:noFill/>
        </p:spPr>
        <p:txBody>
          <a:bodyPr wrap="none" rtlCol="0">
            <a:spAutoFit/>
          </a:bodyPr>
          <a:lstStyle/>
          <a:p>
            <a:r>
              <a:rPr lang="en-IN" dirty="0"/>
              <a:t>Ref 1</a:t>
            </a:r>
            <a:endParaRPr lang="en-US" dirty="0"/>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38103" y="3212976"/>
            <a:ext cx="6648450" cy="2533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a:extLst>
              <a:ext uri="{FF2B5EF4-FFF2-40B4-BE49-F238E27FC236}">
                <a16:creationId xmlns:a16="http://schemas.microsoft.com/office/drawing/2014/main" id="{A6D73B5B-3D18-4CED-B834-2D15A3D3C0E3}"/>
              </a:ext>
            </a:extLst>
          </p:cNvPr>
          <p:cNvSpPr>
            <a:spLocks noGrp="1"/>
          </p:cNvSpPr>
          <p:nvPr>
            <p:ph type="sldNum" sz="quarter" idx="12"/>
          </p:nvPr>
        </p:nvSpPr>
        <p:spPr/>
        <p:txBody>
          <a:bodyPr/>
          <a:lstStyle/>
          <a:p>
            <a:fld id="{AD1450A3-5863-4018-97AA-7A53D73041E9}"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9536" y="692696"/>
            <a:ext cx="8229600" cy="1066800"/>
          </a:xfrm>
        </p:spPr>
        <p:txBody>
          <a:bodyPr/>
          <a:lstStyle/>
          <a:p>
            <a:r>
              <a:rPr lang="en-IN" dirty="0">
                <a:solidFill>
                  <a:schemeClr val="tx1"/>
                </a:solidFill>
                <a:latin typeface="Times New Roman" pitchFamily="18" charset="0"/>
                <a:cs typeface="Times New Roman" pitchFamily="18" charset="0"/>
              </a:rPr>
              <a:t>Why clipper used?</a:t>
            </a:r>
            <a:endParaRPr lang="en-US"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1800" dirty="0"/>
              <a:t>The purpose of clippers is to protect a circuit against too high or too low voltages.</a:t>
            </a:r>
          </a:p>
          <a:p>
            <a:r>
              <a:rPr lang="en-US" sz="1800" dirty="0"/>
              <a:t>A simplest clipper circuit </a:t>
            </a:r>
            <a:r>
              <a:rPr lang="en-US" sz="1800" dirty="0">
                <a:sym typeface="Wingdings" panose="05000000000000000000" pitchFamily="2" charset="2"/>
              </a:rPr>
              <a:t></a:t>
            </a:r>
            <a:endParaRPr lang="en-US" sz="1800" dirty="0"/>
          </a:p>
          <a:p>
            <a:endParaRPr lang="en-US" sz="1800" dirty="0">
              <a:solidFill>
                <a:srgbClr val="7030A0"/>
              </a:solidFill>
              <a:latin typeface="Times New Roman" pitchFamily="18" charset="0"/>
              <a:cs typeface="Times New Roman" pitchFamily="18" charset="0"/>
            </a:endParaRPr>
          </a:p>
        </p:txBody>
      </p:sp>
      <p:sp>
        <p:nvSpPr>
          <p:cNvPr id="4" name="TextBox 3"/>
          <p:cNvSpPr txBox="1"/>
          <p:nvPr/>
        </p:nvSpPr>
        <p:spPr>
          <a:xfrm>
            <a:off x="9942892" y="6444044"/>
            <a:ext cx="659476" cy="369332"/>
          </a:xfrm>
          <a:prstGeom prst="rect">
            <a:avLst/>
          </a:prstGeom>
          <a:noFill/>
        </p:spPr>
        <p:txBody>
          <a:bodyPr wrap="none" rtlCol="0">
            <a:spAutoFit/>
          </a:bodyPr>
          <a:lstStyle/>
          <a:p>
            <a:r>
              <a:rPr lang="en-IN" dirty="0"/>
              <a:t>Ref 1</a:t>
            </a:r>
            <a:endParaRPr lang="en-US" dirty="0"/>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6309" y="2180891"/>
            <a:ext cx="4034291" cy="2496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287115" y="4278789"/>
            <a:ext cx="431528" cy="369332"/>
          </a:xfrm>
          <a:prstGeom prst="rect">
            <a:avLst/>
          </a:prstGeom>
          <a:noFill/>
        </p:spPr>
        <p:txBody>
          <a:bodyPr wrap="none" rtlCol="0">
            <a:spAutoFit/>
          </a:bodyPr>
          <a:lstStyle/>
          <a:p>
            <a:r>
              <a:rPr lang="en-US" dirty="0"/>
              <a:t>V</a:t>
            </a:r>
            <a:r>
              <a:rPr lang="en-US" baseline="-25000" dirty="0"/>
              <a:t>in</a:t>
            </a:r>
          </a:p>
        </p:txBody>
      </p:sp>
      <p:sp>
        <p:nvSpPr>
          <p:cNvPr id="6" name="Slide Number Placeholder 5">
            <a:extLst>
              <a:ext uri="{FF2B5EF4-FFF2-40B4-BE49-F238E27FC236}">
                <a16:creationId xmlns:a16="http://schemas.microsoft.com/office/drawing/2014/main" id="{8EF61F14-6AC9-4C1D-AAFA-C11E8385119B}"/>
              </a:ext>
            </a:extLst>
          </p:cNvPr>
          <p:cNvSpPr>
            <a:spLocks noGrp="1"/>
          </p:cNvSpPr>
          <p:nvPr>
            <p:ph type="sldNum" sz="quarter" idx="12"/>
          </p:nvPr>
        </p:nvSpPr>
        <p:spPr/>
        <p:txBody>
          <a:bodyPr/>
          <a:lstStyle/>
          <a:p>
            <a:fld id="{AD1450A3-5863-4018-97AA-7A53D73041E9}"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6606" y="548680"/>
            <a:ext cx="8229600" cy="1066800"/>
          </a:xfrm>
        </p:spPr>
        <p:txBody>
          <a:bodyPr/>
          <a:lstStyle/>
          <a:p>
            <a:r>
              <a:rPr lang="en-IN" dirty="0">
                <a:latin typeface="Times New Roman" pitchFamily="18" charset="0"/>
                <a:cs typeface="Times New Roman" pitchFamily="18" charset="0"/>
              </a:rPr>
              <a:t>Classification of clippers</a:t>
            </a:r>
            <a:endParaRPr lang="en-US" dirty="0">
              <a:latin typeface="Times New Roman" pitchFamily="18" charset="0"/>
              <a:cs typeface="Times New Roman" pitchFamily="18" charset="0"/>
            </a:endParaRPr>
          </a:p>
        </p:txBody>
      </p:sp>
      <p:sp>
        <p:nvSpPr>
          <p:cNvPr id="4" name="TextBox 3"/>
          <p:cNvSpPr txBox="1"/>
          <p:nvPr/>
        </p:nvSpPr>
        <p:spPr>
          <a:xfrm>
            <a:off x="9696400" y="6444044"/>
            <a:ext cx="659476" cy="369332"/>
          </a:xfrm>
          <a:prstGeom prst="rect">
            <a:avLst/>
          </a:prstGeom>
          <a:noFill/>
        </p:spPr>
        <p:txBody>
          <a:bodyPr wrap="none" rtlCol="0">
            <a:spAutoFit/>
          </a:bodyPr>
          <a:lstStyle/>
          <a:p>
            <a:r>
              <a:rPr lang="en-IN" dirty="0"/>
              <a:t>Ref 1</a:t>
            </a:r>
            <a:endParaRPr lang="en-US" dirty="0"/>
          </a:p>
        </p:txBody>
      </p:sp>
      <p:sp>
        <p:nvSpPr>
          <p:cNvPr id="5" name="Content Placeholder 4"/>
          <p:cNvSpPr>
            <a:spLocks noGrp="1"/>
          </p:cNvSpPr>
          <p:nvPr>
            <p:ph idx="1"/>
          </p:nvPr>
        </p:nvSpPr>
        <p:spPr>
          <a:xfrm>
            <a:off x="1949464" y="1916832"/>
            <a:ext cx="8229600" cy="4325112"/>
          </a:xfrm>
        </p:spPr>
        <p:txBody>
          <a:bodyPr/>
          <a:lstStyle/>
          <a:p>
            <a:pPr algn="just">
              <a:defRPr/>
            </a:pPr>
            <a:r>
              <a:rPr lang="en-US" sz="2000" dirty="0"/>
              <a:t>According to </a:t>
            </a:r>
            <a:r>
              <a:rPr lang="en-US" sz="2000" b="1" dirty="0"/>
              <a:t>non- linear devices </a:t>
            </a:r>
            <a:r>
              <a:rPr lang="en-US" sz="2000" dirty="0"/>
              <a:t>used</a:t>
            </a:r>
          </a:p>
          <a:p>
            <a:pPr lvl="1" algn="just">
              <a:defRPr/>
            </a:pPr>
            <a:r>
              <a:rPr lang="en-US" sz="1600" dirty="0"/>
              <a:t>Diode clippers and Transistor clippers</a:t>
            </a:r>
          </a:p>
          <a:p>
            <a:pPr algn="just">
              <a:defRPr/>
            </a:pPr>
            <a:endParaRPr lang="en-US" sz="2000" dirty="0"/>
          </a:p>
          <a:p>
            <a:pPr algn="just">
              <a:defRPr/>
            </a:pPr>
            <a:r>
              <a:rPr lang="en-US" sz="2000" dirty="0"/>
              <a:t>According to </a:t>
            </a:r>
            <a:r>
              <a:rPr lang="en-US" sz="2000" b="1" dirty="0"/>
              <a:t>circuit configuration </a:t>
            </a:r>
          </a:p>
          <a:p>
            <a:pPr lvl="1" algn="just">
              <a:defRPr/>
            </a:pPr>
            <a:r>
              <a:rPr lang="en-US" sz="1600" dirty="0"/>
              <a:t>Series clippers and Parallel clippers</a:t>
            </a:r>
          </a:p>
          <a:p>
            <a:pPr algn="just">
              <a:defRPr/>
            </a:pPr>
            <a:endParaRPr lang="en-US" sz="2000" dirty="0"/>
          </a:p>
          <a:p>
            <a:pPr algn="just">
              <a:defRPr/>
            </a:pPr>
            <a:r>
              <a:rPr lang="en-US" sz="2000" dirty="0"/>
              <a:t>According to </a:t>
            </a:r>
            <a:r>
              <a:rPr lang="en-US" sz="2000" b="1" dirty="0"/>
              <a:t>biasing</a:t>
            </a:r>
            <a:r>
              <a:rPr lang="en-US" sz="2000" dirty="0"/>
              <a:t> </a:t>
            </a:r>
          </a:p>
          <a:p>
            <a:pPr lvl="1" algn="just">
              <a:defRPr/>
            </a:pPr>
            <a:r>
              <a:rPr lang="en-US" sz="1600" dirty="0"/>
              <a:t>Biased clippers and Unbiased clippers.</a:t>
            </a:r>
          </a:p>
          <a:p>
            <a:pPr algn="just">
              <a:defRPr/>
            </a:pPr>
            <a:endParaRPr lang="en-US" sz="2000" dirty="0"/>
          </a:p>
          <a:p>
            <a:pPr algn="just">
              <a:defRPr/>
            </a:pPr>
            <a:r>
              <a:rPr lang="en-US" sz="2000" dirty="0"/>
              <a:t>According to </a:t>
            </a:r>
            <a:r>
              <a:rPr lang="en-US" sz="2000" b="1" dirty="0"/>
              <a:t>level of clipping</a:t>
            </a:r>
          </a:p>
          <a:p>
            <a:pPr lvl="1" algn="just">
              <a:defRPr/>
            </a:pPr>
            <a:r>
              <a:rPr lang="en-US" sz="1600" dirty="0"/>
              <a:t>Positive clippers, Negative clippers and combination clippers</a:t>
            </a:r>
          </a:p>
        </p:txBody>
      </p:sp>
      <p:sp>
        <p:nvSpPr>
          <p:cNvPr id="3" name="Slide Number Placeholder 2">
            <a:extLst>
              <a:ext uri="{FF2B5EF4-FFF2-40B4-BE49-F238E27FC236}">
                <a16:creationId xmlns:a16="http://schemas.microsoft.com/office/drawing/2014/main" id="{A3E80AEE-C05D-48AD-82F3-A1F6B8C15A5D}"/>
              </a:ext>
            </a:extLst>
          </p:cNvPr>
          <p:cNvSpPr>
            <a:spLocks noGrp="1"/>
          </p:cNvSpPr>
          <p:nvPr>
            <p:ph type="sldNum" sz="quarter" idx="12"/>
          </p:nvPr>
        </p:nvSpPr>
        <p:spPr/>
        <p:txBody>
          <a:bodyPr/>
          <a:lstStyle/>
          <a:p>
            <a:fld id="{AD1450A3-5863-4018-97AA-7A53D73041E9}"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620688"/>
            <a:ext cx="8229600" cy="1066800"/>
          </a:xfrm>
        </p:spPr>
        <p:txBody>
          <a:bodyPr/>
          <a:lstStyle/>
          <a:p>
            <a:r>
              <a:rPr lang="en-US" dirty="0">
                <a:latin typeface="Times New Roman" pitchFamily="18" charset="0"/>
                <a:cs typeface="Times New Roman" pitchFamily="18" charset="0"/>
              </a:rPr>
              <a:t>Series and Parallel clippers</a:t>
            </a:r>
          </a:p>
        </p:txBody>
      </p:sp>
      <p:sp>
        <p:nvSpPr>
          <p:cNvPr id="4" name="TextBox 3"/>
          <p:cNvSpPr txBox="1"/>
          <p:nvPr/>
        </p:nvSpPr>
        <p:spPr>
          <a:xfrm>
            <a:off x="9942892" y="6444044"/>
            <a:ext cx="659476" cy="369332"/>
          </a:xfrm>
          <a:prstGeom prst="rect">
            <a:avLst/>
          </a:prstGeom>
          <a:noFill/>
        </p:spPr>
        <p:txBody>
          <a:bodyPr wrap="none" rtlCol="0">
            <a:spAutoFit/>
          </a:bodyPr>
          <a:lstStyle/>
          <a:p>
            <a:r>
              <a:rPr lang="en-IN" dirty="0"/>
              <a:t>Ref 1</a:t>
            </a:r>
            <a:endParaRPr lang="en-US" dirty="0"/>
          </a:p>
        </p:txBody>
      </p:sp>
      <p:sp>
        <p:nvSpPr>
          <p:cNvPr id="5" name="Content Placeholder 4"/>
          <p:cNvSpPr>
            <a:spLocks noGrp="1"/>
          </p:cNvSpPr>
          <p:nvPr>
            <p:ph idx="1"/>
          </p:nvPr>
        </p:nvSpPr>
        <p:spPr>
          <a:xfrm>
            <a:off x="2058098" y="1653456"/>
            <a:ext cx="8229600" cy="4325112"/>
          </a:xfrm>
        </p:spPr>
        <p:txBody>
          <a:bodyPr/>
          <a:lstStyle/>
          <a:p>
            <a:pPr marL="109728" indent="0">
              <a:buNone/>
            </a:pPr>
            <a:endParaRPr lang="en-US" sz="2000" dirty="0"/>
          </a:p>
          <a:p>
            <a:endParaRPr lang="en-US" dirty="0"/>
          </a:p>
        </p:txBody>
      </p:sp>
      <p:sp>
        <p:nvSpPr>
          <p:cNvPr id="6" name="TextBox 5"/>
          <p:cNvSpPr txBox="1"/>
          <p:nvPr/>
        </p:nvSpPr>
        <p:spPr>
          <a:xfrm>
            <a:off x="4574021" y="5659085"/>
            <a:ext cx="2081083" cy="369332"/>
          </a:xfrm>
          <a:prstGeom prst="rect">
            <a:avLst/>
          </a:prstGeom>
          <a:noFill/>
        </p:spPr>
        <p:txBody>
          <a:bodyPr wrap="none" rtlCol="0">
            <a:spAutoFit/>
          </a:bodyPr>
          <a:lstStyle/>
          <a:p>
            <a:r>
              <a:rPr lang="en-US" b="1" dirty="0"/>
              <a:t>Series configuration</a:t>
            </a:r>
          </a:p>
        </p:txBody>
      </p:sp>
      <p:grpSp>
        <p:nvGrpSpPr>
          <p:cNvPr id="15" name="Group 14"/>
          <p:cNvGrpSpPr/>
          <p:nvPr/>
        </p:nvGrpSpPr>
        <p:grpSpPr>
          <a:xfrm>
            <a:off x="2246272" y="3115432"/>
            <a:ext cx="3164058" cy="1905021"/>
            <a:chOff x="2741387" y="2583076"/>
            <a:chExt cx="4065961" cy="2304256"/>
          </a:xfrm>
        </p:grpSpPr>
        <p:grpSp>
          <p:nvGrpSpPr>
            <p:cNvPr id="16" name="Group 15"/>
            <p:cNvGrpSpPr/>
            <p:nvPr/>
          </p:nvGrpSpPr>
          <p:grpSpPr>
            <a:xfrm>
              <a:off x="2958826" y="2583076"/>
              <a:ext cx="3456384" cy="2304256"/>
              <a:chOff x="2915816" y="2924944"/>
              <a:chExt cx="3456384" cy="2304256"/>
            </a:xfrm>
            <a:solidFill>
              <a:schemeClr val="tx1"/>
            </a:solidFill>
          </p:grpSpPr>
          <p:sp>
            <p:nvSpPr>
              <p:cNvPr id="31" name="Isosceles Triangle 30"/>
              <p:cNvSpPr/>
              <p:nvPr/>
            </p:nvSpPr>
            <p:spPr>
              <a:xfrm>
                <a:off x="3635896" y="2924944"/>
                <a:ext cx="1060704" cy="914400"/>
              </a:xfrm>
              <a:prstGeom prst="triangle">
                <a:avLst/>
              </a:prstGeom>
              <a:grpFill/>
              <a:ln w="19050"/>
              <a:scene3d>
                <a:camera prst="orthographicFront">
                  <a:rot lat="54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p:cNvGrpSpPr/>
              <p:nvPr/>
            </p:nvGrpSpPr>
            <p:grpSpPr>
              <a:xfrm>
                <a:off x="4170320" y="3308609"/>
                <a:ext cx="402187" cy="360040"/>
                <a:chOff x="4166248" y="3212976"/>
                <a:chExt cx="507058" cy="530352"/>
              </a:xfrm>
              <a:grpFill/>
            </p:grpSpPr>
            <p:sp>
              <p:nvSpPr>
                <p:cNvPr id="50" name="Isosceles Triangle 49"/>
                <p:cNvSpPr/>
                <p:nvPr/>
              </p:nvSpPr>
              <p:spPr>
                <a:xfrm rot="5400000">
                  <a:off x="4129672" y="3249552"/>
                  <a:ext cx="530352" cy="457200"/>
                </a:xfrm>
                <a:prstGeom prst="triangle">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a:off x="4581883" y="3212976"/>
                  <a:ext cx="91423" cy="530352"/>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3" name="Straight Connector 32"/>
              <p:cNvCxnSpPr>
                <a:endCxn id="50" idx="3"/>
              </p:cNvCxnSpPr>
              <p:nvPr/>
            </p:nvCxnSpPr>
            <p:spPr>
              <a:xfrm>
                <a:off x="2915816" y="3488629"/>
                <a:ext cx="1254504" cy="1"/>
              </a:xfrm>
              <a:prstGeom prst="line">
                <a:avLst/>
              </a:prstGeom>
              <a:grpFill/>
              <a:ln w="19050"/>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4605394" y="3475465"/>
                <a:ext cx="1010722" cy="13165"/>
              </a:xfrm>
              <a:prstGeom prst="line">
                <a:avLst/>
              </a:prstGeom>
              <a:grpFill/>
              <a:ln w="19050"/>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5616116" y="3475465"/>
                <a:ext cx="0" cy="516433"/>
              </a:xfrm>
              <a:prstGeom prst="line">
                <a:avLst/>
              </a:prstGeom>
              <a:grpFill/>
              <a:ln w="19050"/>
            </p:spPr>
            <p:style>
              <a:lnRef idx="1">
                <a:schemeClr val="accent1"/>
              </a:lnRef>
              <a:fillRef idx="0">
                <a:schemeClr val="accent1"/>
              </a:fillRef>
              <a:effectRef idx="0">
                <a:schemeClr val="accent1"/>
              </a:effectRef>
              <a:fontRef idx="minor">
                <a:schemeClr val="tx1"/>
              </a:fontRef>
            </p:style>
          </p:cxnSp>
          <p:grpSp>
            <p:nvGrpSpPr>
              <p:cNvPr id="36" name="Group 35"/>
              <p:cNvGrpSpPr/>
              <p:nvPr/>
            </p:nvGrpSpPr>
            <p:grpSpPr>
              <a:xfrm>
                <a:off x="5539916" y="3861048"/>
                <a:ext cx="184212" cy="931671"/>
                <a:chOff x="6588224" y="2636912"/>
                <a:chExt cx="296416" cy="1140827"/>
              </a:xfrm>
              <a:grpFill/>
            </p:grpSpPr>
            <p:cxnSp>
              <p:nvCxnSpPr>
                <p:cNvPr id="41" name="Straight Connector 40"/>
                <p:cNvCxnSpPr/>
                <p:nvPr/>
              </p:nvCxnSpPr>
              <p:spPr>
                <a:xfrm>
                  <a:off x="6700428" y="2816932"/>
                  <a:ext cx="175828" cy="108012"/>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6588224" y="2969332"/>
                  <a:ext cx="288032" cy="216024"/>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6596608" y="3254539"/>
                  <a:ext cx="288032" cy="216024"/>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6596608" y="3514577"/>
                  <a:ext cx="207640" cy="108012"/>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H="1">
                  <a:off x="6596608" y="2924944"/>
                  <a:ext cx="279648" cy="44388"/>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H="1">
                  <a:off x="6600800" y="3185356"/>
                  <a:ext cx="279648" cy="44388"/>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H="1">
                  <a:off x="6600800" y="3470563"/>
                  <a:ext cx="279648" cy="44388"/>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V="1">
                  <a:off x="6700428" y="2636912"/>
                  <a:ext cx="0" cy="18002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V="1">
                  <a:off x="6801458" y="3597719"/>
                  <a:ext cx="0" cy="18002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7" name="Straight Connector 36"/>
              <p:cNvCxnSpPr/>
              <p:nvPr/>
            </p:nvCxnSpPr>
            <p:spPr>
              <a:xfrm>
                <a:off x="2915816" y="5229200"/>
                <a:ext cx="2748466" cy="0"/>
              </a:xfrm>
              <a:prstGeom prst="line">
                <a:avLst/>
              </a:prstGeom>
              <a:grpFill/>
              <a:ln w="19050"/>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5652120" y="4719211"/>
                <a:ext cx="5210" cy="509989"/>
              </a:xfrm>
              <a:prstGeom prst="line">
                <a:avLst/>
              </a:prstGeom>
              <a:grpFill/>
              <a:ln w="19050"/>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5629417" y="3475465"/>
                <a:ext cx="598767" cy="0"/>
              </a:xfrm>
              <a:prstGeom prst="line">
                <a:avLst/>
              </a:prstGeom>
              <a:grpFill/>
              <a:ln w="19050"/>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5674167" y="5229200"/>
                <a:ext cx="698033" cy="0"/>
              </a:xfrm>
              <a:prstGeom prst="line">
                <a:avLst/>
              </a:prstGeom>
              <a:grpFill/>
              <a:ln w="19050"/>
            </p:spPr>
            <p:style>
              <a:lnRef idx="1">
                <a:schemeClr val="accent1"/>
              </a:lnRef>
              <a:fillRef idx="0">
                <a:schemeClr val="accent1"/>
              </a:fillRef>
              <a:effectRef idx="0">
                <a:schemeClr val="accent1"/>
              </a:effectRef>
              <a:fontRef idx="minor">
                <a:schemeClr val="tx1"/>
              </a:fontRef>
            </p:style>
          </p:cxnSp>
        </p:grpSp>
        <p:grpSp>
          <p:nvGrpSpPr>
            <p:cNvPr id="17" name="Group 16"/>
            <p:cNvGrpSpPr/>
            <p:nvPr/>
          </p:nvGrpSpPr>
          <p:grpSpPr>
            <a:xfrm>
              <a:off x="6444208" y="3146762"/>
              <a:ext cx="187513" cy="1578382"/>
              <a:chOff x="6487218" y="3146762"/>
              <a:chExt cx="187513" cy="1578382"/>
            </a:xfrm>
          </p:grpSpPr>
          <p:grpSp>
            <p:nvGrpSpPr>
              <p:cNvPr id="27" name="Group 26"/>
              <p:cNvGrpSpPr/>
              <p:nvPr/>
            </p:nvGrpSpPr>
            <p:grpSpPr>
              <a:xfrm>
                <a:off x="6487218" y="3146762"/>
                <a:ext cx="158515" cy="160270"/>
                <a:chOff x="6487218" y="2966741"/>
                <a:chExt cx="317030" cy="360040"/>
              </a:xfrm>
            </p:grpSpPr>
            <p:cxnSp>
              <p:nvCxnSpPr>
                <p:cNvPr id="29" name="Straight Connector 28"/>
                <p:cNvCxnSpPr/>
                <p:nvPr/>
              </p:nvCxnSpPr>
              <p:spPr>
                <a:xfrm>
                  <a:off x="6660232" y="2966741"/>
                  <a:ext cx="0"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6487218" y="3140179"/>
                  <a:ext cx="317030" cy="6583"/>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8" name="Straight Connector 27"/>
              <p:cNvCxnSpPr/>
              <p:nvPr/>
            </p:nvCxnSpPr>
            <p:spPr>
              <a:xfrm>
                <a:off x="6516216" y="4725144"/>
                <a:ext cx="158515"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8" name="TextBox 17"/>
            <p:cNvSpPr txBox="1"/>
            <p:nvPr/>
          </p:nvSpPr>
          <p:spPr>
            <a:xfrm>
              <a:off x="5197741" y="3862228"/>
              <a:ext cx="397979" cy="446733"/>
            </a:xfrm>
            <a:prstGeom prst="rect">
              <a:avLst/>
            </a:prstGeom>
            <a:noFill/>
          </p:spPr>
          <p:txBody>
            <a:bodyPr wrap="none" rtlCol="0">
              <a:spAutoFit/>
            </a:bodyPr>
            <a:lstStyle/>
            <a:p>
              <a:r>
                <a:rPr lang="en-US" dirty="0"/>
                <a:t>R</a:t>
              </a:r>
            </a:p>
          </p:txBody>
        </p:sp>
        <p:sp>
          <p:nvSpPr>
            <p:cNvPr id="19" name="TextBox 18"/>
            <p:cNvSpPr txBox="1"/>
            <p:nvPr/>
          </p:nvSpPr>
          <p:spPr>
            <a:xfrm>
              <a:off x="4283968" y="2636912"/>
              <a:ext cx="420639" cy="446733"/>
            </a:xfrm>
            <a:prstGeom prst="rect">
              <a:avLst/>
            </a:prstGeom>
            <a:noFill/>
          </p:spPr>
          <p:txBody>
            <a:bodyPr wrap="none" rtlCol="0">
              <a:spAutoFit/>
            </a:bodyPr>
            <a:lstStyle/>
            <a:p>
              <a:r>
                <a:rPr lang="en-US" dirty="0"/>
                <a:t>D</a:t>
              </a:r>
            </a:p>
          </p:txBody>
        </p:sp>
        <p:sp>
          <p:nvSpPr>
            <p:cNvPr id="20" name="TextBox 19"/>
            <p:cNvSpPr txBox="1"/>
            <p:nvPr/>
          </p:nvSpPr>
          <p:spPr>
            <a:xfrm>
              <a:off x="6300192" y="3790655"/>
              <a:ext cx="507156" cy="446733"/>
            </a:xfrm>
            <a:prstGeom prst="rect">
              <a:avLst/>
            </a:prstGeom>
            <a:noFill/>
          </p:spPr>
          <p:txBody>
            <a:bodyPr wrap="none" rtlCol="0">
              <a:spAutoFit/>
            </a:bodyPr>
            <a:lstStyle/>
            <a:p>
              <a:r>
                <a:rPr lang="en-US" dirty="0"/>
                <a:t>V</a:t>
              </a:r>
              <a:r>
                <a:rPr lang="en-US" baseline="-25000" dirty="0"/>
                <a:t>0</a:t>
              </a:r>
            </a:p>
          </p:txBody>
        </p:sp>
        <p:sp>
          <p:nvSpPr>
            <p:cNvPr id="21" name="TextBox 20"/>
            <p:cNvSpPr txBox="1"/>
            <p:nvPr/>
          </p:nvSpPr>
          <p:spPr>
            <a:xfrm>
              <a:off x="2741387" y="3866604"/>
              <a:ext cx="451537" cy="446733"/>
            </a:xfrm>
            <a:prstGeom prst="rect">
              <a:avLst/>
            </a:prstGeom>
            <a:noFill/>
          </p:spPr>
          <p:txBody>
            <a:bodyPr wrap="none" rtlCol="0">
              <a:spAutoFit/>
            </a:bodyPr>
            <a:lstStyle/>
            <a:p>
              <a:r>
                <a:rPr lang="en-US" dirty="0"/>
                <a:t>V</a:t>
              </a:r>
              <a:r>
                <a:rPr lang="en-US" baseline="-25000" dirty="0"/>
                <a:t>i</a:t>
              </a:r>
            </a:p>
          </p:txBody>
        </p:sp>
        <p:grpSp>
          <p:nvGrpSpPr>
            <p:cNvPr id="22" name="Group 21"/>
            <p:cNvGrpSpPr/>
            <p:nvPr/>
          </p:nvGrpSpPr>
          <p:grpSpPr>
            <a:xfrm>
              <a:off x="2944327" y="3212976"/>
              <a:ext cx="187513" cy="1578382"/>
              <a:chOff x="6487218" y="3146762"/>
              <a:chExt cx="187513" cy="1578382"/>
            </a:xfrm>
          </p:grpSpPr>
          <p:grpSp>
            <p:nvGrpSpPr>
              <p:cNvPr id="23" name="Group 22"/>
              <p:cNvGrpSpPr/>
              <p:nvPr/>
            </p:nvGrpSpPr>
            <p:grpSpPr>
              <a:xfrm>
                <a:off x="6487218" y="3146762"/>
                <a:ext cx="158515" cy="160270"/>
                <a:chOff x="6487218" y="2966741"/>
                <a:chExt cx="317030" cy="360040"/>
              </a:xfrm>
            </p:grpSpPr>
            <p:cxnSp>
              <p:nvCxnSpPr>
                <p:cNvPr id="25" name="Straight Connector 24"/>
                <p:cNvCxnSpPr/>
                <p:nvPr/>
              </p:nvCxnSpPr>
              <p:spPr>
                <a:xfrm>
                  <a:off x="6660232" y="2966741"/>
                  <a:ext cx="0"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6487218" y="3140179"/>
                  <a:ext cx="317030" cy="6583"/>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4" name="Straight Connector 23"/>
              <p:cNvCxnSpPr/>
              <p:nvPr/>
            </p:nvCxnSpPr>
            <p:spPr>
              <a:xfrm>
                <a:off x="6516216" y="4725144"/>
                <a:ext cx="158515" cy="0"/>
              </a:xfrm>
              <a:prstGeom prst="line">
                <a:avLst/>
              </a:prstGeom>
            </p:spPr>
            <p:style>
              <a:lnRef idx="1">
                <a:schemeClr val="accent1"/>
              </a:lnRef>
              <a:fillRef idx="0">
                <a:schemeClr val="accent1"/>
              </a:fillRef>
              <a:effectRef idx="0">
                <a:schemeClr val="accent1"/>
              </a:effectRef>
              <a:fontRef idx="minor">
                <a:schemeClr val="tx1"/>
              </a:fontRef>
            </p:style>
          </p:cxnSp>
        </p:grpSp>
      </p:grpSp>
      <p:sp>
        <p:nvSpPr>
          <p:cNvPr id="8" name="Rectangle 7"/>
          <p:cNvSpPr/>
          <p:nvPr/>
        </p:nvSpPr>
        <p:spPr>
          <a:xfrm>
            <a:off x="6384032" y="3058368"/>
            <a:ext cx="2864310" cy="369332"/>
          </a:xfrm>
          <a:prstGeom prst="rect">
            <a:avLst/>
          </a:prstGeom>
        </p:spPr>
        <p:txBody>
          <a:bodyPr wrap="none">
            <a:spAutoFit/>
          </a:bodyPr>
          <a:lstStyle/>
          <a:p>
            <a:r>
              <a:rPr lang="en-US" dirty="0">
                <a:latin typeface="Times New Roman" pitchFamily="18" charset="0"/>
                <a:cs typeface="Times New Roman" pitchFamily="18" charset="0"/>
              </a:rPr>
              <a:t>If ,V</a:t>
            </a:r>
            <a:r>
              <a:rPr lang="en-US" baseline="-25000" dirty="0">
                <a:latin typeface="Times New Roman" pitchFamily="18" charset="0"/>
                <a:cs typeface="Times New Roman" pitchFamily="18" charset="0"/>
              </a:rPr>
              <a:t>i</a:t>
            </a:r>
            <a:r>
              <a:rPr lang="en-US" dirty="0">
                <a:latin typeface="Times New Roman" pitchFamily="18" charset="0"/>
                <a:cs typeface="Times New Roman" pitchFamily="18" charset="0"/>
              </a:rPr>
              <a:t> &lt; </a:t>
            </a:r>
            <a:r>
              <a:rPr lang="en-US" dirty="0" err="1">
                <a:latin typeface="Times New Roman" pitchFamily="18" charset="0"/>
                <a:cs typeface="Times New Roman" pitchFamily="18" charset="0"/>
              </a:rPr>
              <a:t>V</a:t>
            </a:r>
            <a:r>
              <a:rPr lang="en-US" baseline="-25000" dirty="0" err="1">
                <a:latin typeface="Times New Roman" pitchFamily="18" charset="0"/>
                <a:cs typeface="Times New Roman" pitchFamily="18" charset="0"/>
              </a:rPr>
              <a:t>d</a:t>
            </a:r>
            <a:r>
              <a:rPr lang="en-US" baseline="-25000" dirty="0">
                <a:latin typeface="Times New Roman" pitchFamily="18" charset="0"/>
                <a:cs typeface="Times New Roman" pitchFamily="18" charset="0"/>
              </a:rPr>
              <a:t>,</a:t>
            </a:r>
            <a:r>
              <a:rPr lang="en-US" dirty="0">
                <a:latin typeface="Times New Roman" pitchFamily="18" charset="0"/>
                <a:cs typeface="Times New Roman" pitchFamily="18" charset="0"/>
              </a:rPr>
              <a:t> </a:t>
            </a:r>
            <a:r>
              <a:rPr lang="en-US" dirty="0">
                <a:highlight>
                  <a:srgbClr val="FFFF00"/>
                </a:highlight>
                <a:latin typeface="Times New Roman" pitchFamily="18" charset="0"/>
                <a:cs typeface="Times New Roman" pitchFamily="18" charset="0"/>
              </a:rPr>
              <a:t>diode OFF,  V</a:t>
            </a:r>
            <a:r>
              <a:rPr lang="en-US" baseline="-25000" dirty="0">
                <a:highlight>
                  <a:srgbClr val="FFFF00"/>
                </a:highlight>
                <a:latin typeface="Times New Roman" pitchFamily="18" charset="0"/>
                <a:cs typeface="Times New Roman" pitchFamily="18" charset="0"/>
              </a:rPr>
              <a:t>0</a:t>
            </a:r>
            <a:r>
              <a:rPr lang="en-US" dirty="0">
                <a:highlight>
                  <a:srgbClr val="FFFF00"/>
                </a:highlight>
                <a:latin typeface="Times New Roman" pitchFamily="18" charset="0"/>
                <a:cs typeface="Times New Roman" pitchFamily="18" charset="0"/>
              </a:rPr>
              <a:t>=0</a:t>
            </a:r>
            <a:endParaRPr lang="en-US" baseline="-25000" dirty="0">
              <a:highlight>
                <a:srgbClr val="FFFF00"/>
              </a:highlight>
              <a:latin typeface="Times New Roman" pitchFamily="18" charset="0"/>
              <a:cs typeface="Times New Roman" pitchFamily="18" charset="0"/>
            </a:endParaRPr>
          </a:p>
        </p:txBody>
      </p:sp>
      <p:grpSp>
        <p:nvGrpSpPr>
          <p:cNvPr id="53" name="Group 52"/>
          <p:cNvGrpSpPr/>
          <p:nvPr/>
        </p:nvGrpSpPr>
        <p:grpSpPr>
          <a:xfrm>
            <a:off x="6384032" y="3356993"/>
            <a:ext cx="2959752" cy="1720759"/>
            <a:chOff x="1761719" y="3140968"/>
            <a:chExt cx="4106356" cy="2304256"/>
          </a:xfrm>
        </p:grpSpPr>
        <p:grpSp>
          <p:nvGrpSpPr>
            <p:cNvPr id="54" name="Group 53"/>
            <p:cNvGrpSpPr/>
            <p:nvPr/>
          </p:nvGrpSpPr>
          <p:grpSpPr>
            <a:xfrm>
              <a:off x="1761719" y="3140968"/>
              <a:ext cx="4106356" cy="2304256"/>
              <a:chOff x="2741387" y="2583076"/>
              <a:chExt cx="4106356" cy="2304256"/>
            </a:xfrm>
          </p:grpSpPr>
          <p:grpSp>
            <p:nvGrpSpPr>
              <p:cNvPr id="56" name="Group 55"/>
              <p:cNvGrpSpPr/>
              <p:nvPr/>
            </p:nvGrpSpPr>
            <p:grpSpPr>
              <a:xfrm>
                <a:off x="2958826" y="2583076"/>
                <a:ext cx="3456384" cy="2304256"/>
                <a:chOff x="2915816" y="2924944"/>
                <a:chExt cx="3456384" cy="2304256"/>
              </a:xfrm>
              <a:solidFill>
                <a:schemeClr val="tx1"/>
              </a:solidFill>
            </p:grpSpPr>
            <p:sp>
              <p:nvSpPr>
                <p:cNvPr id="70" name="Isosceles Triangle 69"/>
                <p:cNvSpPr/>
                <p:nvPr/>
              </p:nvSpPr>
              <p:spPr>
                <a:xfrm>
                  <a:off x="3635896" y="2924944"/>
                  <a:ext cx="1060704" cy="914400"/>
                </a:xfrm>
                <a:prstGeom prst="triangle">
                  <a:avLst/>
                </a:prstGeom>
                <a:grpFill/>
                <a:ln w="19050"/>
                <a:scene3d>
                  <a:camera prst="orthographicFront">
                    <a:rot lat="54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1" name="Straight Connector 70"/>
                <p:cNvCxnSpPr/>
                <p:nvPr/>
              </p:nvCxnSpPr>
              <p:spPr>
                <a:xfrm>
                  <a:off x="2915816" y="3488629"/>
                  <a:ext cx="1254504" cy="1"/>
                </a:xfrm>
                <a:prstGeom prst="line">
                  <a:avLst/>
                </a:prstGeom>
                <a:grpFill/>
                <a:ln w="19050"/>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V="1">
                  <a:off x="4605394" y="3475465"/>
                  <a:ext cx="1010722" cy="13165"/>
                </a:xfrm>
                <a:prstGeom prst="line">
                  <a:avLst/>
                </a:prstGeom>
                <a:grpFill/>
                <a:ln w="19050"/>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5616116" y="3475465"/>
                  <a:ext cx="0" cy="516433"/>
                </a:xfrm>
                <a:prstGeom prst="line">
                  <a:avLst/>
                </a:prstGeom>
                <a:grpFill/>
                <a:ln w="19050"/>
              </p:spPr>
              <p:style>
                <a:lnRef idx="1">
                  <a:schemeClr val="accent1"/>
                </a:lnRef>
                <a:fillRef idx="0">
                  <a:schemeClr val="accent1"/>
                </a:fillRef>
                <a:effectRef idx="0">
                  <a:schemeClr val="accent1"/>
                </a:effectRef>
                <a:fontRef idx="minor">
                  <a:schemeClr val="tx1"/>
                </a:fontRef>
              </p:style>
            </p:cxnSp>
            <p:grpSp>
              <p:nvGrpSpPr>
                <p:cNvPr id="74" name="Group 73"/>
                <p:cNvGrpSpPr/>
                <p:nvPr/>
              </p:nvGrpSpPr>
              <p:grpSpPr>
                <a:xfrm>
                  <a:off x="5539916" y="3861048"/>
                  <a:ext cx="184212" cy="931671"/>
                  <a:chOff x="6588224" y="2636912"/>
                  <a:chExt cx="296416" cy="1140827"/>
                </a:xfrm>
                <a:grpFill/>
              </p:grpSpPr>
              <p:cxnSp>
                <p:nvCxnSpPr>
                  <p:cNvPr id="79" name="Straight Connector 78"/>
                  <p:cNvCxnSpPr/>
                  <p:nvPr/>
                </p:nvCxnSpPr>
                <p:spPr>
                  <a:xfrm>
                    <a:off x="6700428" y="2816932"/>
                    <a:ext cx="175828" cy="108012"/>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6588224" y="2969332"/>
                    <a:ext cx="288032" cy="216024"/>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6596608" y="3254539"/>
                    <a:ext cx="288032" cy="216024"/>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6596608" y="3514577"/>
                    <a:ext cx="207640" cy="108012"/>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flipH="1">
                    <a:off x="6596608" y="2924944"/>
                    <a:ext cx="279648" cy="44388"/>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flipH="1">
                    <a:off x="6600800" y="3185356"/>
                    <a:ext cx="279648" cy="44388"/>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flipH="1">
                    <a:off x="6600800" y="3470563"/>
                    <a:ext cx="279648" cy="44388"/>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flipV="1">
                    <a:off x="6700428" y="2636912"/>
                    <a:ext cx="0" cy="18002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flipV="1">
                    <a:off x="6801458" y="3597719"/>
                    <a:ext cx="0" cy="18002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5" name="Straight Connector 74"/>
                <p:cNvCxnSpPr/>
                <p:nvPr/>
              </p:nvCxnSpPr>
              <p:spPr>
                <a:xfrm>
                  <a:off x="2915816" y="5229200"/>
                  <a:ext cx="2748466" cy="0"/>
                </a:xfrm>
                <a:prstGeom prst="line">
                  <a:avLst/>
                </a:prstGeom>
                <a:grpFill/>
                <a:ln w="19050"/>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flipV="1">
                  <a:off x="5652120" y="4719211"/>
                  <a:ext cx="5210" cy="509989"/>
                </a:xfrm>
                <a:prstGeom prst="line">
                  <a:avLst/>
                </a:prstGeom>
                <a:grpFill/>
                <a:ln w="19050"/>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5629417" y="3475465"/>
                  <a:ext cx="598767" cy="0"/>
                </a:xfrm>
                <a:prstGeom prst="line">
                  <a:avLst/>
                </a:prstGeom>
                <a:grpFill/>
                <a:ln w="19050"/>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5674167" y="5229200"/>
                  <a:ext cx="698033" cy="0"/>
                </a:xfrm>
                <a:prstGeom prst="line">
                  <a:avLst/>
                </a:prstGeom>
                <a:grpFill/>
                <a:ln w="19050"/>
              </p:spPr>
              <p:style>
                <a:lnRef idx="1">
                  <a:schemeClr val="accent1"/>
                </a:lnRef>
                <a:fillRef idx="0">
                  <a:schemeClr val="accent1"/>
                </a:fillRef>
                <a:effectRef idx="0">
                  <a:schemeClr val="accent1"/>
                </a:effectRef>
                <a:fontRef idx="minor">
                  <a:schemeClr val="tx1"/>
                </a:fontRef>
              </p:style>
            </p:cxnSp>
          </p:grpSp>
          <p:grpSp>
            <p:nvGrpSpPr>
              <p:cNvPr id="57" name="Group 56"/>
              <p:cNvGrpSpPr/>
              <p:nvPr/>
            </p:nvGrpSpPr>
            <p:grpSpPr>
              <a:xfrm>
                <a:off x="6444208" y="3146762"/>
                <a:ext cx="187513" cy="1578382"/>
                <a:chOff x="6487218" y="3146762"/>
                <a:chExt cx="187513" cy="1578382"/>
              </a:xfrm>
            </p:grpSpPr>
            <p:grpSp>
              <p:nvGrpSpPr>
                <p:cNvPr id="66" name="Group 65"/>
                <p:cNvGrpSpPr/>
                <p:nvPr/>
              </p:nvGrpSpPr>
              <p:grpSpPr>
                <a:xfrm>
                  <a:off x="6487218" y="3146762"/>
                  <a:ext cx="158515" cy="160270"/>
                  <a:chOff x="6487218" y="2966741"/>
                  <a:chExt cx="317030" cy="360040"/>
                </a:xfrm>
              </p:grpSpPr>
              <p:cxnSp>
                <p:nvCxnSpPr>
                  <p:cNvPr id="68" name="Straight Connector 67"/>
                  <p:cNvCxnSpPr/>
                  <p:nvPr/>
                </p:nvCxnSpPr>
                <p:spPr>
                  <a:xfrm>
                    <a:off x="6660232" y="2966741"/>
                    <a:ext cx="0"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6487218" y="3140179"/>
                    <a:ext cx="317030" cy="6583"/>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67" name="Straight Connector 66"/>
                <p:cNvCxnSpPr/>
                <p:nvPr/>
              </p:nvCxnSpPr>
              <p:spPr>
                <a:xfrm>
                  <a:off x="6516216" y="4725144"/>
                  <a:ext cx="158515"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58" name="TextBox 57"/>
              <p:cNvSpPr txBox="1"/>
              <p:nvPr/>
            </p:nvSpPr>
            <p:spPr>
              <a:xfrm>
                <a:off x="5197742" y="3862228"/>
                <a:ext cx="429677" cy="494570"/>
              </a:xfrm>
              <a:prstGeom prst="rect">
                <a:avLst/>
              </a:prstGeom>
              <a:noFill/>
            </p:spPr>
            <p:txBody>
              <a:bodyPr wrap="none" rtlCol="0">
                <a:spAutoFit/>
              </a:bodyPr>
              <a:lstStyle/>
              <a:p>
                <a:r>
                  <a:rPr lang="en-US" dirty="0"/>
                  <a:t>R</a:t>
                </a:r>
              </a:p>
            </p:txBody>
          </p:sp>
          <p:sp>
            <p:nvSpPr>
              <p:cNvPr id="59" name="TextBox 58"/>
              <p:cNvSpPr txBox="1"/>
              <p:nvPr/>
            </p:nvSpPr>
            <p:spPr>
              <a:xfrm>
                <a:off x="6300192" y="3790655"/>
                <a:ext cx="547551" cy="494570"/>
              </a:xfrm>
              <a:prstGeom prst="rect">
                <a:avLst/>
              </a:prstGeom>
              <a:noFill/>
            </p:spPr>
            <p:txBody>
              <a:bodyPr wrap="none" rtlCol="0">
                <a:spAutoFit/>
              </a:bodyPr>
              <a:lstStyle/>
              <a:p>
                <a:r>
                  <a:rPr lang="en-US" dirty="0"/>
                  <a:t>V</a:t>
                </a:r>
                <a:r>
                  <a:rPr lang="en-US" baseline="-25000" dirty="0"/>
                  <a:t>0</a:t>
                </a:r>
              </a:p>
            </p:txBody>
          </p:sp>
          <p:sp>
            <p:nvSpPr>
              <p:cNvPr id="60" name="TextBox 59"/>
              <p:cNvSpPr txBox="1"/>
              <p:nvPr/>
            </p:nvSpPr>
            <p:spPr>
              <a:xfrm>
                <a:off x="2741387" y="3866604"/>
                <a:ext cx="487501" cy="494570"/>
              </a:xfrm>
              <a:prstGeom prst="rect">
                <a:avLst/>
              </a:prstGeom>
              <a:noFill/>
            </p:spPr>
            <p:txBody>
              <a:bodyPr wrap="none" rtlCol="0">
                <a:spAutoFit/>
              </a:bodyPr>
              <a:lstStyle/>
              <a:p>
                <a:r>
                  <a:rPr lang="en-US" dirty="0"/>
                  <a:t>V</a:t>
                </a:r>
                <a:r>
                  <a:rPr lang="en-US" baseline="-25000" dirty="0"/>
                  <a:t>i</a:t>
                </a:r>
              </a:p>
            </p:txBody>
          </p:sp>
          <p:grpSp>
            <p:nvGrpSpPr>
              <p:cNvPr id="61" name="Group 60"/>
              <p:cNvGrpSpPr/>
              <p:nvPr/>
            </p:nvGrpSpPr>
            <p:grpSpPr>
              <a:xfrm>
                <a:off x="2944327" y="3212976"/>
                <a:ext cx="187513" cy="1578382"/>
                <a:chOff x="6487218" y="3146762"/>
                <a:chExt cx="187513" cy="1578382"/>
              </a:xfrm>
            </p:grpSpPr>
            <p:grpSp>
              <p:nvGrpSpPr>
                <p:cNvPr id="62" name="Group 61"/>
                <p:cNvGrpSpPr/>
                <p:nvPr/>
              </p:nvGrpSpPr>
              <p:grpSpPr>
                <a:xfrm>
                  <a:off x="6487218" y="3146762"/>
                  <a:ext cx="158515" cy="160270"/>
                  <a:chOff x="6487218" y="2966741"/>
                  <a:chExt cx="317030" cy="360040"/>
                </a:xfrm>
              </p:grpSpPr>
              <p:cxnSp>
                <p:nvCxnSpPr>
                  <p:cNvPr id="64" name="Straight Connector 63"/>
                  <p:cNvCxnSpPr/>
                  <p:nvPr/>
                </p:nvCxnSpPr>
                <p:spPr>
                  <a:xfrm>
                    <a:off x="6660232" y="2966741"/>
                    <a:ext cx="0"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6487218" y="3140179"/>
                    <a:ext cx="317030" cy="6583"/>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63" name="Straight Connector 62"/>
                <p:cNvCxnSpPr/>
                <p:nvPr/>
              </p:nvCxnSpPr>
              <p:spPr>
                <a:xfrm>
                  <a:off x="6516216" y="4725144"/>
                  <a:ext cx="158515" cy="0"/>
                </a:xfrm>
                <a:prstGeom prst="line">
                  <a:avLst/>
                </a:prstGeom>
              </p:spPr>
              <p:style>
                <a:lnRef idx="1">
                  <a:schemeClr val="accent1"/>
                </a:lnRef>
                <a:fillRef idx="0">
                  <a:schemeClr val="accent1"/>
                </a:fillRef>
                <a:effectRef idx="0">
                  <a:schemeClr val="accent1"/>
                </a:effectRef>
                <a:fontRef idx="minor">
                  <a:schemeClr val="tx1"/>
                </a:fontRef>
              </p:style>
            </p:cxnSp>
          </p:grpSp>
        </p:grpSp>
        <p:sp>
          <p:nvSpPr>
            <p:cNvPr id="55" name="TextBox 54"/>
            <p:cNvSpPr txBox="1"/>
            <p:nvPr/>
          </p:nvSpPr>
          <p:spPr>
            <a:xfrm>
              <a:off x="3164435" y="3820089"/>
              <a:ext cx="684816" cy="494570"/>
            </a:xfrm>
            <a:prstGeom prst="rect">
              <a:avLst/>
            </a:prstGeom>
            <a:noFill/>
          </p:spPr>
          <p:txBody>
            <a:bodyPr wrap="none" rtlCol="0">
              <a:spAutoFit/>
            </a:bodyPr>
            <a:lstStyle/>
            <a:p>
              <a:r>
                <a:rPr lang="en-US" dirty="0"/>
                <a:t>R.B</a:t>
              </a:r>
            </a:p>
          </p:txBody>
        </p:sp>
      </p:grpSp>
      <p:sp>
        <p:nvSpPr>
          <p:cNvPr id="3" name="Slide Number Placeholder 2">
            <a:extLst>
              <a:ext uri="{FF2B5EF4-FFF2-40B4-BE49-F238E27FC236}">
                <a16:creationId xmlns:a16="http://schemas.microsoft.com/office/drawing/2014/main" id="{C0559DB7-CB02-4E3A-8CAC-E661D3DD083E}"/>
              </a:ext>
            </a:extLst>
          </p:cNvPr>
          <p:cNvSpPr>
            <a:spLocks noGrp="1"/>
          </p:cNvSpPr>
          <p:nvPr>
            <p:ph type="sldNum" sz="quarter" idx="12"/>
          </p:nvPr>
        </p:nvSpPr>
        <p:spPr/>
        <p:txBody>
          <a:bodyPr/>
          <a:lstStyle/>
          <a:p>
            <a:fld id="{AD1450A3-5863-4018-97AA-7A53D73041E9}"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9985" y="476672"/>
            <a:ext cx="8229600" cy="1066800"/>
          </a:xfrm>
        </p:spPr>
        <p:txBody>
          <a:bodyPr/>
          <a:lstStyle/>
          <a:p>
            <a:r>
              <a:rPr lang="en-US" dirty="0"/>
              <a:t>Series…</a:t>
            </a:r>
          </a:p>
        </p:txBody>
      </p:sp>
      <p:sp>
        <p:nvSpPr>
          <p:cNvPr id="4" name="Rectangle 3"/>
          <p:cNvSpPr/>
          <p:nvPr/>
        </p:nvSpPr>
        <p:spPr>
          <a:xfrm>
            <a:off x="2454573" y="1867573"/>
            <a:ext cx="3451138" cy="369332"/>
          </a:xfrm>
          <a:prstGeom prst="rect">
            <a:avLst/>
          </a:prstGeom>
        </p:spPr>
        <p:txBody>
          <a:bodyPr wrap="none">
            <a:spAutoFit/>
          </a:bodyPr>
          <a:lstStyle/>
          <a:p>
            <a:r>
              <a:rPr lang="en-US" dirty="0">
                <a:latin typeface="Times New Roman" pitchFamily="18" charset="0"/>
                <a:cs typeface="Times New Roman" pitchFamily="18" charset="0"/>
              </a:rPr>
              <a:t>If,  V</a:t>
            </a:r>
            <a:r>
              <a:rPr lang="en-US" baseline="-25000" dirty="0">
                <a:latin typeface="Times New Roman" pitchFamily="18" charset="0"/>
                <a:cs typeface="Times New Roman" pitchFamily="18" charset="0"/>
              </a:rPr>
              <a:t>i</a:t>
            </a:r>
            <a:r>
              <a:rPr lang="en-US" dirty="0">
                <a:latin typeface="Times New Roman" pitchFamily="18" charset="0"/>
                <a:cs typeface="Times New Roman" pitchFamily="18" charset="0"/>
              </a:rPr>
              <a:t> &gt; </a:t>
            </a:r>
            <a:r>
              <a:rPr lang="en-US" dirty="0" err="1">
                <a:latin typeface="Times New Roman" pitchFamily="18" charset="0"/>
                <a:cs typeface="Times New Roman" pitchFamily="18" charset="0"/>
              </a:rPr>
              <a:t>V</a:t>
            </a:r>
            <a:r>
              <a:rPr lang="en-US" baseline="-25000" dirty="0" err="1">
                <a:latin typeface="Times New Roman" pitchFamily="18" charset="0"/>
                <a:cs typeface="Times New Roman" pitchFamily="18" charset="0"/>
              </a:rPr>
              <a:t>d</a:t>
            </a:r>
            <a:r>
              <a:rPr lang="en-US" baseline="-25000" dirty="0">
                <a:latin typeface="Times New Roman" pitchFamily="18" charset="0"/>
                <a:cs typeface="Times New Roman" pitchFamily="18" charset="0"/>
              </a:rPr>
              <a:t>,</a:t>
            </a:r>
            <a:r>
              <a:rPr lang="en-US" dirty="0">
                <a:latin typeface="Times New Roman" pitchFamily="18" charset="0"/>
                <a:cs typeface="Times New Roman" pitchFamily="18" charset="0"/>
              </a:rPr>
              <a:t> </a:t>
            </a:r>
            <a:r>
              <a:rPr lang="en-US" dirty="0">
                <a:highlight>
                  <a:srgbClr val="FFFF00"/>
                </a:highlight>
                <a:latin typeface="Times New Roman" pitchFamily="18" charset="0"/>
                <a:cs typeface="Times New Roman" pitchFamily="18" charset="0"/>
              </a:rPr>
              <a:t>diode ON,  V</a:t>
            </a:r>
            <a:r>
              <a:rPr lang="en-US" baseline="-25000" dirty="0">
                <a:highlight>
                  <a:srgbClr val="FFFF00"/>
                </a:highlight>
                <a:latin typeface="Times New Roman" pitchFamily="18" charset="0"/>
                <a:cs typeface="Times New Roman" pitchFamily="18" charset="0"/>
              </a:rPr>
              <a:t>0 </a:t>
            </a:r>
            <a:r>
              <a:rPr lang="en-US" dirty="0">
                <a:highlight>
                  <a:srgbClr val="FFFF00"/>
                </a:highlight>
                <a:latin typeface="Times New Roman" pitchFamily="18" charset="0"/>
                <a:cs typeface="Times New Roman" pitchFamily="18" charset="0"/>
              </a:rPr>
              <a:t>= V</a:t>
            </a:r>
            <a:r>
              <a:rPr lang="en-US" baseline="-25000" dirty="0">
                <a:highlight>
                  <a:srgbClr val="FFFF00"/>
                </a:highlight>
                <a:latin typeface="Times New Roman" pitchFamily="18" charset="0"/>
                <a:cs typeface="Times New Roman" pitchFamily="18" charset="0"/>
              </a:rPr>
              <a:t>i</a:t>
            </a:r>
            <a:r>
              <a:rPr lang="en-US" dirty="0">
                <a:highlight>
                  <a:srgbClr val="FFFF00"/>
                </a:highlight>
                <a:latin typeface="Times New Roman" pitchFamily="18" charset="0"/>
                <a:cs typeface="Times New Roman" pitchFamily="18" charset="0"/>
              </a:rPr>
              <a:t> -</a:t>
            </a:r>
            <a:r>
              <a:rPr lang="en-US" dirty="0" err="1">
                <a:highlight>
                  <a:srgbClr val="FFFF00"/>
                </a:highlight>
                <a:latin typeface="Times New Roman" pitchFamily="18" charset="0"/>
                <a:cs typeface="Times New Roman" pitchFamily="18" charset="0"/>
              </a:rPr>
              <a:t>V</a:t>
            </a:r>
            <a:r>
              <a:rPr lang="en-US" baseline="-25000" dirty="0" err="1">
                <a:highlight>
                  <a:srgbClr val="FFFF00"/>
                </a:highlight>
                <a:latin typeface="Times New Roman" pitchFamily="18" charset="0"/>
                <a:cs typeface="Times New Roman" pitchFamily="18" charset="0"/>
              </a:rPr>
              <a:t>d</a:t>
            </a:r>
            <a:endParaRPr lang="en-US" baseline="-25000" dirty="0">
              <a:highlight>
                <a:srgbClr val="FFFF00"/>
              </a:highlight>
              <a:latin typeface="Times New Roman" pitchFamily="18" charset="0"/>
              <a:cs typeface="Times New Roman" pitchFamily="18" charset="0"/>
            </a:endParaRPr>
          </a:p>
        </p:txBody>
      </p:sp>
      <p:grpSp>
        <p:nvGrpSpPr>
          <p:cNvPr id="5" name="Group 4"/>
          <p:cNvGrpSpPr/>
          <p:nvPr/>
        </p:nvGrpSpPr>
        <p:grpSpPr>
          <a:xfrm>
            <a:off x="2718009" y="2276873"/>
            <a:ext cx="3434925" cy="1939625"/>
            <a:chOff x="4990964" y="2987660"/>
            <a:chExt cx="4020777" cy="2419823"/>
          </a:xfrm>
        </p:grpSpPr>
        <p:grpSp>
          <p:nvGrpSpPr>
            <p:cNvPr id="6" name="Group 5"/>
            <p:cNvGrpSpPr/>
            <p:nvPr/>
          </p:nvGrpSpPr>
          <p:grpSpPr>
            <a:xfrm>
              <a:off x="4990964" y="3103227"/>
              <a:ext cx="4020777" cy="2304256"/>
              <a:chOff x="2741387" y="2583076"/>
              <a:chExt cx="4020777" cy="2304256"/>
            </a:xfrm>
          </p:grpSpPr>
          <p:grpSp>
            <p:nvGrpSpPr>
              <p:cNvPr id="12" name="Group 11"/>
              <p:cNvGrpSpPr/>
              <p:nvPr/>
            </p:nvGrpSpPr>
            <p:grpSpPr>
              <a:xfrm>
                <a:off x="2958826" y="2583076"/>
                <a:ext cx="3456384" cy="2304256"/>
                <a:chOff x="2915816" y="2924944"/>
                <a:chExt cx="3456384" cy="2304256"/>
              </a:xfrm>
              <a:solidFill>
                <a:schemeClr val="tx1"/>
              </a:solidFill>
            </p:grpSpPr>
            <p:sp>
              <p:nvSpPr>
                <p:cNvPr id="26" name="Isosceles Triangle 25"/>
                <p:cNvSpPr/>
                <p:nvPr/>
              </p:nvSpPr>
              <p:spPr>
                <a:xfrm>
                  <a:off x="3635896" y="2924944"/>
                  <a:ext cx="1060704" cy="914400"/>
                </a:xfrm>
                <a:prstGeom prst="triangle">
                  <a:avLst/>
                </a:prstGeom>
                <a:grpFill/>
                <a:ln w="19050"/>
                <a:scene3d>
                  <a:camera prst="orthographicFront">
                    <a:rot lat="54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p:cNvCxnSpPr/>
                <p:nvPr/>
              </p:nvCxnSpPr>
              <p:spPr>
                <a:xfrm>
                  <a:off x="2915816" y="3488629"/>
                  <a:ext cx="1254504" cy="1"/>
                </a:xfrm>
                <a:prstGeom prst="line">
                  <a:avLst/>
                </a:prstGeom>
                <a:grpFill/>
                <a:ln w="19050"/>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4407015" y="3475466"/>
                  <a:ext cx="1209101" cy="22206"/>
                </a:xfrm>
                <a:prstGeom prst="line">
                  <a:avLst/>
                </a:prstGeom>
                <a:grpFill/>
                <a:ln w="19050"/>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5616116" y="3475465"/>
                  <a:ext cx="0" cy="516433"/>
                </a:xfrm>
                <a:prstGeom prst="line">
                  <a:avLst/>
                </a:prstGeom>
                <a:grpFill/>
                <a:ln w="19050"/>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a:xfrm>
                  <a:off x="5539916" y="3861048"/>
                  <a:ext cx="184212" cy="931671"/>
                  <a:chOff x="6588224" y="2636912"/>
                  <a:chExt cx="296416" cy="1140827"/>
                </a:xfrm>
                <a:grpFill/>
              </p:grpSpPr>
              <p:cxnSp>
                <p:nvCxnSpPr>
                  <p:cNvPr id="35" name="Straight Connector 34"/>
                  <p:cNvCxnSpPr/>
                  <p:nvPr/>
                </p:nvCxnSpPr>
                <p:spPr>
                  <a:xfrm>
                    <a:off x="6700428" y="2816932"/>
                    <a:ext cx="175828" cy="108012"/>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6588224" y="2969332"/>
                    <a:ext cx="288032" cy="216024"/>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6596608" y="3254539"/>
                    <a:ext cx="288032" cy="216024"/>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6596608" y="3514577"/>
                    <a:ext cx="207640" cy="108012"/>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a:off x="6596608" y="2924944"/>
                    <a:ext cx="279648" cy="44388"/>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a:off x="6600800" y="3185356"/>
                    <a:ext cx="279648" cy="44388"/>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H="1">
                    <a:off x="6600800" y="3470563"/>
                    <a:ext cx="279648" cy="44388"/>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6700428" y="2636912"/>
                    <a:ext cx="0" cy="18002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V="1">
                    <a:off x="6801458" y="3597719"/>
                    <a:ext cx="0" cy="18002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1" name="Straight Connector 30"/>
                <p:cNvCxnSpPr/>
                <p:nvPr/>
              </p:nvCxnSpPr>
              <p:spPr>
                <a:xfrm>
                  <a:off x="2915816" y="5229200"/>
                  <a:ext cx="2748466" cy="0"/>
                </a:xfrm>
                <a:prstGeom prst="line">
                  <a:avLst/>
                </a:prstGeom>
                <a:grpFill/>
                <a:ln w="19050"/>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5652120" y="4719211"/>
                  <a:ext cx="5210" cy="509989"/>
                </a:xfrm>
                <a:prstGeom prst="line">
                  <a:avLst/>
                </a:prstGeom>
                <a:grpFill/>
                <a:ln w="19050"/>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5629417" y="3475465"/>
                  <a:ext cx="598767" cy="0"/>
                </a:xfrm>
                <a:prstGeom prst="line">
                  <a:avLst/>
                </a:prstGeom>
                <a:grpFill/>
                <a:ln w="19050"/>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674167" y="5229200"/>
                  <a:ext cx="698033" cy="0"/>
                </a:xfrm>
                <a:prstGeom prst="line">
                  <a:avLst/>
                </a:prstGeom>
                <a:grpFill/>
                <a:ln w="19050"/>
              </p:spPr>
              <p:style>
                <a:lnRef idx="1">
                  <a:schemeClr val="accent1"/>
                </a:lnRef>
                <a:fillRef idx="0">
                  <a:schemeClr val="accent1"/>
                </a:fillRef>
                <a:effectRef idx="0">
                  <a:schemeClr val="accent1"/>
                </a:effectRef>
                <a:fontRef idx="minor">
                  <a:schemeClr val="tx1"/>
                </a:fontRef>
              </p:style>
            </p:cxnSp>
          </p:grpSp>
          <p:grpSp>
            <p:nvGrpSpPr>
              <p:cNvPr id="13" name="Group 12"/>
              <p:cNvGrpSpPr/>
              <p:nvPr/>
            </p:nvGrpSpPr>
            <p:grpSpPr>
              <a:xfrm>
                <a:off x="6444208" y="3146762"/>
                <a:ext cx="187513" cy="1578382"/>
                <a:chOff x="6487218" y="3146762"/>
                <a:chExt cx="187513" cy="1578382"/>
              </a:xfrm>
            </p:grpSpPr>
            <p:grpSp>
              <p:nvGrpSpPr>
                <p:cNvPr id="22" name="Group 21"/>
                <p:cNvGrpSpPr/>
                <p:nvPr/>
              </p:nvGrpSpPr>
              <p:grpSpPr>
                <a:xfrm>
                  <a:off x="6487218" y="3146762"/>
                  <a:ext cx="158515" cy="160270"/>
                  <a:chOff x="6487218" y="2966741"/>
                  <a:chExt cx="317030" cy="360040"/>
                </a:xfrm>
              </p:grpSpPr>
              <p:cxnSp>
                <p:nvCxnSpPr>
                  <p:cNvPr id="24" name="Straight Connector 23"/>
                  <p:cNvCxnSpPr/>
                  <p:nvPr/>
                </p:nvCxnSpPr>
                <p:spPr>
                  <a:xfrm>
                    <a:off x="6660232" y="2966741"/>
                    <a:ext cx="0"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487218" y="3140179"/>
                    <a:ext cx="317030" cy="6583"/>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3" name="Straight Connector 22"/>
                <p:cNvCxnSpPr/>
                <p:nvPr/>
              </p:nvCxnSpPr>
              <p:spPr>
                <a:xfrm>
                  <a:off x="6516216" y="4725144"/>
                  <a:ext cx="158515"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 name="TextBox 13"/>
              <p:cNvSpPr txBox="1"/>
              <p:nvPr/>
            </p:nvSpPr>
            <p:spPr>
              <a:xfrm>
                <a:off x="5197741" y="3862228"/>
                <a:ext cx="362522" cy="460768"/>
              </a:xfrm>
              <a:prstGeom prst="rect">
                <a:avLst/>
              </a:prstGeom>
              <a:noFill/>
            </p:spPr>
            <p:txBody>
              <a:bodyPr wrap="none" rtlCol="0">
                <a:spAutoFit/>
              </a:bodyPr>
              <a:lstStyle/>
              <a:p>
                <a:r>
                  <a:rPr lang="en-US" dirty="0"/>
                  <a:t>R</a:t>
                </a:r>
              </a:p>
            </p:txBody>
          </p:sp>
          <p:sp>
            <p:nvSpPr>
              <p:cNvPr id="15" name="TextBox 14"/>
              <p:cNvSpPr txBox="1"/>
              <p:nvPr/>
            </p:nvSpPr>
            <p:spPr>
              <a:xfrm>
                <a:off x="6300192" y="3790655"/>
                <a:ext cx="461972" cy="460768"/>
              </a:xfrm>
              <a:prstGeom prst="rect">
                <a:avLst/>
              </a:prstGeom>
              <a:noFill/>
            </p:spPr>
            <p:txBody>
              <a:bodyPr wrap="none" rtlCol="0">
                <a:spAutoFit/>
              </a:bodyPr>
              <a:lstStyle/>
              <a:p>
                <a:r>
                  <a:rPr lang="en-US" dirty="0"/>
                  <a:t>V</a:t>
                </a:r>
                <a:r>
                  <a:rPr lang="en-US" baseline="-25000" dirty="0"/>
                  <a:t>0</a:t>
                </a:r>
              </a:p>
            </p:txBody>
          </p:sp>
          <p:sp>
            <p:nvSpPr>
              <p:cNvPr id="16" name="TextBox 15"/>
              <p:cNvSpPr txBox="1"/>
              <p:nvPr/>
            </p:nvSpPr>
            <p:spPr>
              <a:xfrm>
                <a:off x="2741387" y="3866605"/>
                <a:ext cx="411308" cy="460768"/>
              </a:xfrm>
              <a:prstGeom prst="rect">
                <a:avLst/>
              </a:prstGeom>
              <a:noFill/>
            </p:spPr>
            <p:txBody>
              <a:bodyPr wrap="none" rtlCol="0">
                <a:spAutoFit/>
              </a:bodyPr>
              <a:lstStyle/>
              <a:p>
                <a:r>
                  <a:rPr lang="en-US" dirty="0"/>
                  <a:t>V</a:t>
                </a:r>
                <a:r>
                  <a:rPr lang="en-US" baseline="-25000" dirty="0"/>
                  <a:t>i</a:t>
                </a:r>
              </a:p>
            </p:txBody>
          </p:sp>
          <p:grpSp>
            <p:nvGrpSpPr>
              <p:cNvPr id="17" name="Group 16"/>
              <p:cNvGrpSpPr/>
              <p:nvPr/>
            </p:nvGrpSpPr>
            <p:grpSpPr>
              <a:xfrm>
                <a:off x="2944327" y="3212976"/>
                <a:ext cx="187513" cy="1578382"/>
                <a:chOff x="6487218" y="3146762"/>
                <a:chExt cx="187513" cy="1578382"/>
              </a:xfrm>
            </p:grpSpPr>
            <p:grpSp>
              <p:nvGrpSpPr>
                <p:cNvPr id="18" name="Group 17"/>
                <p:cNvGrpSpPr/>
                <p:nvPr/>
              </p:nvGrpSpPr>
              <p:grpSpPr>
                <a:xfrm>
                  <a:off x="6487218" y="3146762"/>
                  <a:ext cx="158515" cy="160270"/>
                  <a:chOff x="6487218" y="2966741"/>
                  <a:chExt cx="317030" cy="360040"/>
                </a:xfrm>
              </p:grpSpPr>
              <p:cxnSp>
                <p:nvCxnSpPr>
                  <p:cNvPr id="20" name="Straight Connector 19"/>
                  <p:cNvCxnSpPr/>
                  <p:nvPr/>
                </p:nvCxnSpPr>
                <p:spPr>
                  <a:xfrm>
                    <a:off x="6660232" y="2966741"/>
                    <a:ext cx="0"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6487218" y="3140179"/>
                    <a:ext cx="317030" cy="6583"/>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9" name="Straight Connector 18"/>
                <p:cNvCxnSpPr/>
                <p:nvPr/>
              </p:nvCxnSpPr>
              <p:spPr>
                <a:xfrm>
                  <a:off x="6516216" y="4725144"/>
                  <a:ext cx="158515" cy="0"/>
                </a:xfrm>
                <a:prstGeom prst="line">
                  <a:avLst/>
                </a:prstGeom>
              </p:spPr>
              <p:style>
                <a:lnRef idx="1">
                  <a:schemeClr val="accent1"/>
                </a:lnRef>
                <a:fillRef idx="0">
                  <a:schemeClr val="accent1"/>
                </a:fillRef>
                <a:effectRef idx="0">
                  <a:schemeClr val="accent1"/>
                </a:effectRef>
                <a:fontRef idx="minor">
                  <a:schemeClr val="tx1"/>
                </a:fontRef>
              </p:style>
            </p:cxnSp>
          </p:grpSp>
        </p:grpSp>
        <p:sp>
          <p:nvSpPr>
            <p:cNvPr id="7" name="TextBox 6"/>
            <p:cNvSpPr txBox="1"/>
            <p:nvPr/>
          </p:nvSpPr>
          <p:spPr>
            <a:xfrm>
              <a:off x="6431740" y="4214349"/>
              <a:ext cx="528472" cy="460768"/>
            </a:xfrm>
            <a:prstGeom prst="rect">
              <a:avLst/>
            </a:prstGeom>
            <a:noFill/>
          </p:spPr>
          <p:txBody>
            <a:bodyPr wrap="none" rtlCol="0">
              <a:spAutoFit/>
            </a:bodyPr>
            <a:lstStyle/>
            <a:p>
              <a:r>
                <a:rPr lang="en-US" dirty="0"/>
                <a:t>F.B</a:t>
              </a:r>
            </a:p>
          </p:txBody>
        </p:sp>
        <p:cxnSp>
          <p:nvCxnSpPr>
            <p:cNvPr id="8" name="Straight Connector 7"/>
            <p:cNvCxnSpPr/>
            <p:nvPr/>
          </p:nvCxnSpPr>
          <p:spPr>
            <a:xfrm>
              <a:off x="6458835" y="3356992"/>
              <a:ext cx="4072" cy="682339"/>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6660232" y="3541226"/>
              <a:ext cx="0" cy="285957"/>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156175" y="3356991"/>
              <a:ext cx="867275" cy="460768"/>
            </a:xfrm>
            <a:prstGeom prst="rect">
              <a:avLst/>
            </a:prstGeom>
            <a:noFill/>
          </p:spPr>
          <p:txBody>
            <a:bodyPr wrap="none" rtlCol="0">
              <a:spAutoFit/>
            </a:bodyPr>
            <a:lstStyle/>
            <a:p>
              <a:r>
                <a:rPr lang="en-US" dirty="0"/>
                <a:t>+       -</a:t>
              </a:r>
            </a:p>
          </p:txBody>
        </p:sp>
        <p:sp>
          <p:nvSpPr>
            <p:cNvPr id="11" name="TextBox 10"/>
            <p:cNvSpPr txBox="1"/>
            <p:nvPr/>
          </p:nvSpPr>
          <p:spPr>
            <a:xfrm>
              <a:off x="6332644" y="2987660"/>
              <a:ext cx="452364" cy="460768"/>
            </a:xfrm>
            <a:prstGeom prst="rect">
              <a:avLst/>
            </a:prstGeom>
            <a:noFill/>
          </p:spPr>
          <p:txBody>
            <a:bodyPr wrap="none" rtlCol="0">
              <a:spAutoFit/>
            </a:bodyPr>
            <a:lstStyle/>
            <a:p>
              <a:r>
                <a:rPr lang="en-US" dirty="0" err="1"/>
                <a:t>V</a:t>
              </a:r>
              <a:r>
                <a:rPr lang="en-US" baseline="-25000" dirty="0" err="1"/>
                <a:t>d</a:t>
              </a:r>
              <a:endParaRPr lang="en-US" baseline="-25000" dirty="0"/>
            </a:p>
          </p:txBody>
        </p:sp>
      </p:grpSp>
      <p:sp>
        <p:nvSpPr>
          <p:cNvPr id="44" name="TextBox 43"/>
          <p:cNvSpPr txBox="1"/>
          <p:nvPr/>
        </p:nvSpPr>
        <p:spPr>
          <a:xfrm>
            <a:off x="6960096" y="2819679"/>
            <a:ext cx="3468654" cy="923330"/>
          </a:xfrm>
          <a:prstGeom prst="rect">
            <a:avLst/>
          </a:prstGeom>
          <a:noFill/>
        </p:spPr>
        <p:txBody>
          <a:bodyPr wrap="square" rtlCol="0">
            <a:spAutoFit/>
          </a:bodyPr>
          <a:lstStyle/>
          <a:p>
            <a:r>
              <a:rPr lang="en-US" dirty="0">
                <a:latin typeface="Times New Roman" pitchFamily="18" charset="0"/>
                <a:cs typeface="Times New Roman" pitchFamily="18" charset="0"/>
              </a:rPr>
              <a:t>Where, </a:t>
            </a:r>
            <a:r>
              <a:rPr lang="en-US" dirty="0" err="1">
                <a:highlight>
                  <a:srgbClr val="FFFF00"/>
                </a:highlight>
                <a:latin typeface="Times New Roman" pitchFamily="18" charset="0"/>
                <a:cs typeface="Times New Roman" pitchFamily="18" charset="0"/>
              </a:rPr>
              <a:t>V</a:t>
            </a:r>
            <a:r>
              <a:rPr lang="en-US" baseline="-25000" dirty="0" err="1">
                <a:highlight>
                  <a:srgbClr val="FFFF00"/>
                </a:highlight>
                <a:latin typeface="Times New Roman" pitchFamily="18" charset="0"/>
                <a:cs typeface="Times New Roman" pitchFamily="18" charset="0"/>
              </a:rPr>
              <a:t>d</a:t>
            </a:r>
            <a:r>
              <a:rPr lang="en-US" dirty="0">
                <a:highlight>
                  <a:srgbClr val="FFFF00"/>
                </a:highlight>
                <a:latin typeface="Times New Roman" pitchFamily="18" charset="0"/>
                <a:cs typeface="Times New Roman" pitchFamily="18" charset="0"/>
              </a:rPr>
              <a:t>=0 V </a:t>
            </a:r>
            <a:r>
              <a:rPr lang="en-US" dirty="0">
                <a:latin typeface="Times New Roman" pitchFamily="18" charset="0"/>
                <a:cs typeface="Times New Roman" pitchFamily="18" charset="0"/>
              </a:rPr>
              <a:t>(for ideal diode)</a:t>
            </a:r>
          </a:p>
          <a:p>
            <a:r>
              <a:rPr lang="en-US" dirty="0" err="1">
                <a:latin typeface="Times New Roman" pitchFamily="18" charset="0"/>
                <a:cs typeface="Times New Roman" pitchFamily="18" charset="0"/>
              </a:rPr>
              <a:t>V</a:t>
            </a:r>
            <a:r>
              <a:rPr lang="en-US" baseline="-25000" dirty="0" err="1">
                <a:latin typeface="Times New Roman" pitchFamily="18" charset="0"/>
                <a:cs typeface="Times New Roman" pitchFamily="18" charset="0"/>
              </a:rPr>
              <a:t>d</a:t>
            </a:r>
            <a:r>
              <a:rPr lang="en-US" dirty="0">
                <a:latin typeface="Times New Roman" pitchFamily="18" charset="0"/>
                <a:cs typeface="Times New Roman" pitchFamily="18" charset="0"/>
              </a:rPr>
              <a:t>=</a:t>
            </a:r>
            <a:r>
              <a:rPr lang="en-US" dirty="0">
                <a:highlight>
                  <a:srgbClr val="FFFF00"/>
                </a:highlight>
                <a:latin typeface="Times New Roman" pitchFamily="18" charset="0"/>
                <a:cs typeface="Times New Roman" pitchFamily="18" charset="0"/>
              </a:rPr>
              <a:t>0.7 V</a:t>
            </a:r>
            <a:r>
              <a:rPr lang="en-US" dirty="0">
                <a:latin typeface="Times New Roman" pitchFamily="18" charset="0"/>
                <a:cs typeface="Times New Roman" pitchFamily="18" charset="0"/>
              </a:rPr>
              <a:t>  (practical diode or silicon diode)</a:t>
            </a:r>
          </a:p>
        </p:txBody>
      </p:sp>
      <p:pic>
        <p:nvPicPr>
          <p:cNvPr id="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01888" y="4938838"/>
            <a:ext cx="3919992" cy="1919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7" name="Group 46"/>
          <p:cNvGrpSpPr/>
          <p:nvPr/>
        </p:nvGrpSpPr>
        <p:grpSpPr>
          <a:xfrm>
            <a:off x="5178152" y="5562280"/>
            <a:ext cx="1008112" cy="416716"/>
            <a:chOff x="6948264" y="3023064"/>
            <a:chExt cx="1008112" cy="576064"/>
          </a:xfrm>
        </p:grpSpPr>
        <p:cxnSp>
          <p:nvCxnSpPr>
            <p:cNvPr id="49" name="Straight Connector 48"/>
            <p:cNvCxnSpPr/>
            <p:nvPr/>
          </p:nvCxnSpPr>
          <p:spPr>
            <a:xfrm>
              <a:off x="6948264" y="3023064"/>
              <a:ext cx="50405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7452320" y="3023064"/>
              <a:ext cx="0" cy="57606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7452320" y="3599128"/>
              <a:ext cx="50405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52" name="Rectangle 51"/>
          <p:cNvSpPr/>
          <p:nvPr/>
        </p:nvSpPr>
        <p:spPr>
          <a:xfrm>
            <a:off x="7176121" y="5106634"/>
            <a:ext cx="2858921" cy="553998"/>
          </a:xfrm>
          <a:prstGeom prst="rect">
            <a:avLst/>
          </a:prstGeom>
        </p:spPr>
        <p:txBody>
          <a:bodyPr wrap="square">
            <a:spAutoFit/>
          </a:bodyPr>
          <a:lstStyle/>
          <a:p>
            <a:r>
              <a:rPr lang="en-US" sz="1500" dirty="0">
                <a:solidFill>
                  <a:srgbClr val="FF0000"/>
                </a:solidFill>
                <a:highlight>
                  <a:srgbClr val="FFFF00"/>
                </a:highlight>
              </a:rPr>
              <a:t>Red line </a:t>
            </a:r>
            <a:r>
              <a:rPr lang="en-US" sz="1500" dirty="0">
                <a:highlight>
                  <a:srgbClr val="FFFF00"/>
                </a:highlight>
              </a:rPr>
              <a:t>represent Practical diode and  </a:t>
            </a:r>
            <a:r>
              <a:rPr lang="en-US" sz="1500" dirty="0">
                <a:solidFill>
                  <a:srgbClr val="00B0F0"/>
                </a:solidFill>
                <a:highlight>
                  <a:srgbClr val="FFFF00"/>
                </a:highlight>
              </a:rPr>
              <a:t>Blue line </a:t>
            </a:r>
            <a:r>
              <a:rPr lang="en-US" sz="1500" dirty="0">
                <a:highlight>
                  <a:srgbClr val="FFFF00"/>
                </a:highlight>
              </a:rPr>
              <a:t>for Ideal diode</a:t>
            </a:r>
          </a:p>
        </p:txBody>
      </p:sp>
      <p:sp>
        <p:nvSpPr>
          <p:cNvPr id="53" name="TextBox 52"/>
          <p:cNvSpPr txBox="1"/>
          <p:nvPr/>
        </p:nvSpPr>
        <p:spPr>
          <a:xfrm>
            <a:off x="2454573" y="4509120"/>
            <a:ext cx="2775568" cy="369332"/>
          </a:xfrm>
          <a:prstGeom prst="rect">
            <a:avLst/>
          </a:prstGeom>
          <a:noFill/>
        </p:spPr>
        <p:txBody>
          <a:bodyPr wrap="none" rtlCol="0">
            <a:spAutoFit/>
          </a:bodyPr>
          <a:lstStyle/>
          <a:p>
            <a:r>
              <a:rPr lang="en-US" dirty="0"/>
              <a:t>Input and output waveform</a:t>
            </a:r>
          </a:p>
        </p:txBody>
      </p:sp>
      <p:sp>
        <p:nvSpPr>
          <p:cNvPr id="3" name="Slide Number Placeholder 2">
            <a:extLst>
              <a:ext uri="{FF2B5EF4-FFF2-40B4-BE49-F238E27FC236}">
                <a16:creationId xmlns:a16="http://schemas.microsoft.com/office/drawing/2014/main" id="{F8201124-3848-4DEE-8A7B-29EB63DD18B4}"/>
              </a:ext>
            </a:extLst>
          </p:cNvPr>
          <p:cNvSpPr>
            <a:spLocks noGrp="1"/>
          </p:cNvSpPr>
          <p:nvPr>
            <p:ph type="sldNum" sz="quarter" idx="12"/>
          </p:nvPr>
        </p:nvSpPr>
        <p:spPr/>
        <p:txBody>
          <a:bodyPr/>
          <a:lstStyle/>
          <a:p>
            <a:fld id="{AD1450A3-5863-4018-97AA-7A53D73041E9}" type="slidenum">
              <a:rPr lang="en-US" smtClean="0"/>
              <a:pPr/>
              <a:t>7</a:t>
            </a:fld>
            <a:endParaRPr lang="en-US"/>
          </a:p>
        </p:txBody>
      </p:sp>
    </p:spTree>
    <p:extLst>
      <p:ext uri="{BB962C8B-B14F-4D97-AF65-F5344CB8AC3E}">
        <p14:creationId xmlns:p14="http://schemas.microsoft.com/office/powerpoint/2010/main" val="211060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1089" y="548680"/>
            <a:ext cx="8229600" cy="1066800"/>
          </a:xfrm>
        </p:spPr>
        <p:txBody>
          <a:bodyPr/>
          <a:lstStyle/>
          <a:p>
            <a:r>
              <a:rPr lang="en-US" dirty="0"/>
              <a:t>Parallel </a:t>
            </a:r>
          </a:p>
        </p:txBody>
      </p:sp>
      <p:sp>
        <p:nvSpPr>
          <p:cNvPr id="5" name="TextBox 4"/>
          <p:cNvSpPr txBox="1"/>
          <p:nvPr/>
        </p:nvSpPr>
        <p:spPr>
          <a:xfrm>
            <a:off x="4057855" y="5193838"/>
            <a:ext cx="3180622" cy="923330"/>
          </a:xfrm>
          <a:prstGeom prst="rect">
            <a:avLst/>
          </a:prstGeom>
          <a:noFill/>
        </p:spPr>
        <p:txBody>
          <a:bodyPr wrap="square" rtlCol="0">
            <a:spAutoFit/>
          </a:bodyPr>
          <a:lstStyle/>
          <a:p>
            <a:r>
              <a:rPr lang="en-US" dirty="0">
                <a:latin typeface="Times New Roman" pitchFamily="18" charset="0"/>
                <a:cs typeface="Times New Roman" pitchFamily="18" charset="0"/>
              </a:rPr>
              <a:t>Where, </a:t>
            </a:r>
            <a:r>
              <a:rPr lang="en-US" dirty="0" err="1">
                <a:latin typeface="Times New Roman" pitchFamily="18" charset="0"/>
                <a:cs typeface="Times New Roman" pitchFamily="18" charset="0"/>
              </a:rPr>
              <a:t>V</a:t>
            </a:r>
            <a:r>
              <a:rPr lang="en-US" baseline="-25000" dirty="0" err="1">
                <a:latin typeface="Times New Roman" pitchFamily="18" charset="0"/>
                <a:cs typeface="Times New Roman" pitchFamily="18" charset="0"/>
              </a:rPr>
              <a:t>d</a:t>
            </a:r>
            <a:r>
              <a:rPr lang="en-US" dirty="0">
                <a:latin typeface="Times New Roman" pitchFamily="18" charset="0"/>
                <a:cs typeface="Times New Roman" pitchFamily="18" charset="0"/>
              </a:rPr>
              <a:t>=0 V (for ideal diode)</a:t>
            </a:r>
          </a:p>
          <a:p>
            <a:r>
              <a:rPr lang="en-US" dirty="0" err="1">
                <a:latin typeface="Times New Roman" pitchFamily="18" charset="0"/>
                <a:cs typeface="Times New Roman" pitchFamily="18" charset="0"/>
              </a:rPr>
              <a:t>V</a:t>
            </a:r>
            <a:r>
              <a:rPr lang="en-US" baseline="-25000" dirty="0" err="1">
                <a:latin typeface="Times New Roman" pitchFamily="18" charset="0"/>
                <a:cs typeface="Times New Roman" pitchFamily="18" charset="0"/>
              </a:rPr>
              <a:t>d</a:t>
            </a:r>
            <a:r>
              <a:rPr lang="en-US" dirty="0">
                <a:latin typeface="Times New Roman" pitchFamily="18" charset="0"/>
                <a:cs typeface="Times New Roman" pitchFamily="18" charset="0"/>
              </a:rPr>
              <a:t>=0.7 V  (practical diode or silicon diode)</a:t>
            </a:r>
          </a:p>
        </p:txBody>
      </p:sp>
      <p:sp>
        <p:nvSpPr>
          <p:cNvPr id="6" name="TextBox 5"/>
          <p:cNvSpPr txBox="1"/>
          <p:nvPr/>
        </p:nvSpPr>
        <p:spPr>
          <a:xfrm>
            <a:off x="2517504" y="4005064"/>
            <a:ext cx="2171813" cy="369332"/>
          </a:xfrm>
          <a:prstGeom prst="rect">
            <a:avLst/>
          </a:prstGeom>
          <a:noFill/>
        </p:spPr>
        <p:txBody>
          <a:bodyPr wrap="none" rtlCol="0">
            <a:spAutoFit/>
          </a:bodyPr>
          <a:lstStyle/>
          <a:p>
            <a:r>
              <a:rPr lang="en-US" dirty="0"/>
              <a:t>Parallel configuration</a:t>
            </a:r>
          </a:p>
        </p:txBody>
      </p:sp>
      <p:grpSp>
        <p:nvGrpSpPr>
          <p:cNvPr id="7" name="Group 6"/>
          <p:cNvGrpSpPr/>
          <p:nvPr/>
        </p:nvGrpSpPr>
        <p:grpSpPr>
          <a:xfrm>
            <a:off x="2423592" y="2060849"/>
            <a:ext cx="3065238" cy="1843631"/>
            <a:chOff x="602780" y="481105"/>
            <a:chExt cx="4144432" cy="2155809"/>
          </a:xfrm>
        </p:grpSpPr>
        <p:grpSp>
          <p:nvGrpSpPr>
            <p:cNvPr id="8" name="Group 7"/>
            <p:cNvGrpSpPr/>
            <p:nvPr/>
          </p:nvGrpSpPr>
          <p:grpSpPr>
            <a:xfrm rot="5400000">
              <a:off x="3288584" y="1433850"/>
              <a:ext cx="402187" cy="360040"/>
              <a:chOff x="4166248" y="3212976"/>
              <a:chExt cx="507058" cy="530352"/>
            </a:xfrm>
            <a:solidFill>
              <a:schemeClr val="tx1"/>
            </a:solidFill>
          </p:grpSpPr>
          <p:sp>
            <p:nvSpPr>
              <p:cNvPr id="40" name="Isosceles Triangle 39"/>
              <p:cNvSpPr/>
              <p:nvPr/>
            </p:nvSpPr>
            <p:spPr>
              <a:xfrm rot="5400000">
                <a:off x="4129672" y="3249552"/>
                <a:ext cx="530352" cy="457200"/>
              </a:xfrm>
              <a:prstGeom prst="triangle">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p:cNvSpPr/>
              <p:nvPr/>
            </p:nvSpPr>
            <p:spPr>
              <a:xfrm>
                <a:off x="4581883" y="3212976"/>
                <a:ext cx="91423" cy="530352"/>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9" name="Straight Connector 8"/>
            <p:cNvCxnSpPr/>
            <p:nvPr/>
          </p:nvCxnSpPr>
          <p:spPr>
            <a:xfrm flipV="1">
              <a:off x="819773" y="967605"/>
              <a:ext cx="943915" cy="13123"/>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2694534" y="883178"/>
              <a:ext cx="825985" cy="13347"/>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3520519" y="883177"/>
              <a:ext cx="0" cy="516433"/>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grpSp>
          <p:nvGrpSpPr>
            <p:cNvPr id="12" name="Group 11"/>
            <p:cNvGrpSpPr/>
            <p:nvPr/>
          </p:nvGrpSpPr>
          <p:grpSpPr>
            <a:xfrm>
              <a:off x="2155540" y="481105"/>
              <a:ext cx="184212" cy="931671"/>
              <a:chOff x="6588224" y="2636912"/>
              <a:chExt cx="296416" cy="1140827"/>
            </a:xfrm>
            <a:solidFill>
              <a:schemeClr val="tx1"/>
            </a:solidFill>
            <a:scene3d>
              <a:camera prst="orthographicFront">
                <a:rot lat="0" lon="0" rev="5400000"/>
              </a:camera>
              <a:lightRig rig="threePt" dir="t"/>
            </a:scene3d>
          </p:grpSpPr>
          <p:cxnSp>
            <p:nvCxnSpPr>
              <p:cNvPr id="31" name="Straight Connector 30"/>
              <p:cNvCxnSpPr/>
              <p:nvPr/>
            </p:nvCxnSpPr>
            <p:spPr>
              <a:xfrm>
                <a:off x="6700428" y="2816932"/>
                <a:ext cx="175828" cy="108012"/>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6588224" y="2969332"/>
                <a:ext cx="288032" cy="216024"/>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596608" y="3254539"/>
                <a:ext cx="288032" cy="216024"/>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6596608" y="3514577"/>
                <a:ext cx="207640" cy="108012"/>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a:off x="6596608" y="2924944"/>
                <a:ext cx="279648" cy="44388"/>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6600800" y="3185356"/>
                <a:ext cx="279648" cy="44388"/>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H="1">
                <a:off x="6600800" y="3470563"/>
                <a:ext cx="279648" cy="44388"/>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6700428" y="2636912"/>
                <a:ext cx="0" cy="18002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V="1">
                <a:off x="6801458" y="3597719"/>
                <a:ext cx="0" cy="18002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 name="Straight Connector 12"/>
            <p:cNvCxnSpPr/>
            <p:nvPr/>
          </p:nvCxnSpPr>
          <p:spPr>
            <a:xfrm>
              <a:off x="820219" y="2636912"/>
              <a:ext cx="2748466" cy="0"/>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cxnSp>
          <p:nvCxnSpPr>
            <p:cNvPr id="14" name="Straight Connector 13"/>
            <p:cNvCxnSpPr>
              <a:endCxn id="41" idx="3"/>
            </p:cNvCxnSpPr>
            <p:nvPr/>
          </p:nvCxnSpPr>
          <p:spPr>
            <a:xfrm flipV="1">
              <a:off x="3486718" y="1814964"/>
              <a:ext cx="2960" cy="821950"/>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533820" y="883177"/>
              <a:ext cx="598767" cy="0"/>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3578570" y="2636912"/>
              <a:ext cx="698033" cy="0"/>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grpSp>
          <p:nvGrpSpPr>
            <p:cNvPr id="17" name="Group 16"/>
            <p:cNvGrpSpPr/>
            <p:nvPr/>
          </p:nvGrpSpPr>
          <p:grpSpPr>
            <a:xfrm>
              <a:off x="4305601" y="896342"/>
              <a:ext cx="187513" cy="1578382"/>
              <a:chOff x="6487218" y="3146762"/>
              <a:chExt cx="187513" cy="1578382"/>
            </a:xfrm>
          </p:grpSpPr>
          <p:grpSp>
            <p:nvGrpSpPr>
              <p:cNvPr id="27" name="Group 26"/>
              <p:cNvGrpSpPr/>
              <p:nvPr/>
            </p:nvGrpSpPr>
            <p:grpSpPr>
              <a:xfrm>
                <a:off x="6487218" y="3146762"/>
                <a:ext cx="158515" cy="160270"/>
                <a:chOff x="6487218" y="2966741"/>
                <a:chExt cx="317030" cy="360040"/>
              </a:xfrm>
            </p:grpSpPr>
            <p:cxnSp>
              <p:nvCxnSpPr>
                <p:cNvPr id="29" name="Straight Connector 28"/>
                <p:cNvCxnSpPr/>
                <p:nvPr/>
              </p:nvCxnSpPr>
              <p:spPr>
                <a:xfrm>
                  <a:off x="6660232" y="2966741"/>
                  <a:ext cx="0"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6487218" y="3140179"/>
                  <a:ext cx="317030" cy="6583"/>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8" name="Straight Connector 27"/>
              <p:cNvCxnSpPr/>
              <p:nvPr/>
            </p:nvCxnSpPr>
            <p:spPr>
              <a:xfrm>
                <a:off x="6516216" y="4725144"/>
                <a:ext cx="158515"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8" name="TextBox 17"/>
            <p:cNvSpPr txBox="1"/>
            <p:nvPr/>
          </p:nvSpPr>
          <p:spPr>
            <a:xfrm>
              <a:off x="2129950" y="1085476"/>
              <a:ext cx="418738" cy="431870"/>
            </a:xfrm>
            <a:prstGeom prst="rect">
              <a:avLst/>
            </a:prstGeom>
            <a:noFill/>
          </p:spPr>
          <p:txBody>
            <a:bodyPr wrap="none" rtlCol="0">
              <a:spAutoFit/>
            </a:bodyPr>
            <a:lstStyle/>
            <a:p>
              <a:r>
                <a:rPr lang="en-US" dirty="0"/>
                <a:t>R</a:t>
              </a:r>
            </a:p>
          </p:txBody>
        </p:sp>
        <p:sp>
          <p:nvSpPr>
            <p:cNvPr id="19" name="TextBox 18"/>
            <p:cNvSpPr txBox="1"/>
            <p:nvPr/>
          </p:nvSpPr>
          <p:spPr>
            <a:xfrm>
              <a:off x="2977024" y="1411855"/>
              <a:ext cx="442580" cy="431870"/>
            </a:xfrm>
            <a:prstGeom prst="rect">
              <a:avLst/>
            </a:prstGeom>
            <a:noFill/>
          </p:spPr>
          <p:txBody>
            <a:bodyPr wrap="none" rtlCol="0">
              <a:spAutoFit/>
            </a:bodyPr>
            <a:lstStyle/>
            <a:p>
              <a:r>
                <a:rPr lang="en-US" dirty="0"/>
                <a:t>D</a:t>
              </a:r>
            </a:p>
          </p:txBody>
        </p:sp>
        <p:sp>
          <p:nvSpPr>
            <p:cNvPr id="20" name="TextBox 19"/>
            <p:cNvSpPr txBox="1"/>
            <p:nvPr/>
          </p:nvSpPr>
          <p:spPr>
            <a:xfrm>
              <a:off x="4161585" y="1540235"/>
              <a:ext cx="585627" cy="431870"/>
            </a:xfrm>
            <a:prstGeom prst="rect">
              <a:avLst/>
            </a:prstGeom>
            <a:noFill/>
          </p:spPr>
          <p:txBody>
            <a:bodyPr wrap="none" rtlCol="0">
              <a:spAutoFit/>
            </a:bodyPr>
            <a:lstStyle/>
            <a:p>
              <a:r>
                <a:rPr lang="en-US" dirty="0"/>
                <a:t>V0</a:t>
              </a:r>
            </a:p>
          </p:txBody>
        </p:sp>
        <p:sp>
          <p:nvSpPr>
            <p:cNvPr id="21" name="TextBox 20"/>
            <p:cNvSpPr txBox="1"/>
            <p:nvPr/>
          </p:nvSpPr>
          <p:spPr>
            <a:xfrm>
              <a:off x="602780" y="1616184"/>
              <a:ext cx="498932" cy="431870"/>
            </a:xfrm>
            <a:prstGeom prst="rect">
              <a:avLst/>
            </a:prstGeom>
            <a:noFill/>
          </p:spPr>
          <p:txBody>
            <a:bodyPr wrap="none" rtlCol="0">
              <a:spAutoFit/>
            </a:bodyPr>
            <a:lstStyle/>
            <a:p>
              <a:r>
                <a:rPr lang="en-US" dirty="0"/>
                <a:t>Vi</a:t>
              </a:r>
            </a:p>
          </p:txBody>
        </p:sp>
        <p:grpSp>
          <p:nvGrpSpPr>
            <p:cNvPr id="22" name="Group 21"/>
            <p:cNvGrpSpPr/>
            <p:nvPr/>
          </p:nvGrpSpPr>
          <p:grpSpPr>
            <a:xfrm>
              <a:off x="805720" y="1056612"/>
              <a:ext cx="234291" cy="1484326"/>
              <a:chOff x="6487218" y="3146762"/>
              <a:chExt cx="187513" cy="1578382"/>
            </a:xfrm>
          </p:grpSpPr>
          <p:grpSp>
            <p:nvGrpSpPr>
              <p:cNvPr id="23" name="Group 22"/>
              <p:cNvGrpSpPr/>
              <p:nvPr/>
            </p:nvGrpSpPr>
            <p:grpSpPr>
              <a:xfrm>
                <a:off x="6487218" y="3146762"/>
                <a:ext cx="158515" cy="160270"/>
                <a:chOff x="6487218" y="2966741"/>
                <a:chExt cx="317030" cy="360040"/>
              </a:xfrm>
            </p:grpSpPr>
            <p:cxnSp>
              <p:nvCxnSpPr>
                <p:cNvPr id="25" name="Straight Connector 24"/>
                <p:cNvCxnSpPr/>
                <p:nvPr/>
              </p:nvCxnSpPr>
              <p:spPr>
                <a:xfrm>
                  <a:off x="6660232" y="2966741"/>
                  <a:ext cx="0"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6487218" y="3140179"/>
                  <a:ext cx="317030" cy="6583"/>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4" name="Straight Connector 23"/>
              <p:cNvCxnSpPr/>
              <p:nvPr/>
            </p:nvCxnSpPr>
            <p:spPr>
              <a:xfrm>
                <a:off x="6516216" y="4725144"/>
                <a:ext cx="158515" cy="0"/>
              </a:xfrm>
              <a:prstGeom prst="line">
                <a:avLst/>
              </a:prstGeom>
            </p:spPr>
            <p:style>
              <a:lnRef idx="1">
                <a:schemeClr val="accent1"/>
              </a:lnRef>
              <a:fillRef idx="0">
                <a:schemeClr val="accent1"/>
              </a:fillRef>
              <a:effectRef idx="0">
                <a:schemeClr val="accent1"/>
              </a:effectRef>
              <a:fontRef idx="minor">
                <a:schemeClr val="tx1"/>
              </a:fontRef>
            </p:style>
          </p:cxnSp>
        </p:grpSp>
      </p:grpSp>
      <p:sp>
        <p:nvSpPr>
          <p:cNvPr id="114" name="Rectangle 113"/>
          <p:cNvSpPr/>
          <p:nvPr/>
        </p:nvSpPr>
        <p:spPr>
          <a:xfrm>
            <a:off x="6642870" y="2303239"/>
            <a:ext cx="2981522" cy="646331"/>
          </a:xfrm>
          <a:prstGeom prst="rect">
            <a:avLst/>
          </a:prstGeom>
        </p:spPr>
        <p:txBody>
          <a:bodyPr wrap="none">
            <a:spAutoFit/>
          </a:bodyPr>
          <a:lstStyle/>
          <a:p>
            <a:r>
              <a:rPr lang="en-US" dirty="0">
                <a:latin typeface="Times New Roman" pitchFamily="18" charset="0"/>
                <a:cs typeface="Times New Roman" pitchFamily="18" charset="0"/>
              </a:rPr>
              <a:t>If ,</a:t>
            </a:r>
            <a:r>
              <a:rPr lang="en-US" dirty="0">
                <a:highlight>
                  <a:srgbClr val="FFFF00"/>
                </a:highlight>
                <a:latin typeface="Times New Roman" pitchFamily="18" charset="0"/>
                <a:cs typeface="Times New Roman" pitchFamily="18" charset="0"/>
              </a:rPr>
              <a:t>V</a:t>
            </a:r>
            <a:r>
              <a:rPr lang="en-US" baseline="-25000" dirty="0">
                <a:highlight>
                  <a:srgbClr val="FFFF00"/>
                </a:highlight>
                <a:latin typeface="Times New Roman" pitchFamily="18" charset="0"/>
                <a:cs typeface="Times New Roman" pitchFamily="18" charset="0"/>
              </a:rPr>
              <a:t>i</a:t>
            </a:r>
            <a:r>
              <a:rPr lang="en-US" dirty="0">
                <a:highlight>
                  <a:srgbClr val="FFFF00"/>
                </a:highlight>
                <a:latin typeface="Times New Roman" pitchFamily="18" charset="0"/>
                <a:cs typeface="Times New Roman" pitchFamily="18" charset="0"/>
              </a:rPr>
              <a:t> &gt; </a:t>
            </a:r>
            <a:r>
              <a:rPr lang="en-US" dirty="0" err="1">
                <a:highlight>
                  <a:srgbClr val="FFFF00"/>
                </a:highlight>
                <a:latin typeface="Times New Roman" pitchFamily="18" charset="0"/>
                <a:cs typeface="Times New Roman" pitchFamily="18" charset="0"/>
              </a:rPr>
              <a:t>V</a:t>
            </a:r>
            <a:r>
              <a:rPr lang="en-US" baseline="-25000" dirty="0" err="1">
                <a:highlight>
                  <a:srgbClr val="FFFF00"/>
                </a:highlight>
                <a:latin typeface="Times New Roman" pitchFamily="18" charset="0"/>
                <a:cs typeface="Times New Roman" pitchFamily="18" charset="0"/>
              </a:rPr>
              <a:t>d</a:t>
            </a:r>
            <a:r>
              <a:rPr lang="en-US" baseline="-25000" dirty="0">
                <a:latin typeface="Times New Roman" pitchFamily="18" charset="0"/>
                <a:cs typeface="Times New Roman" pitchFamily="18" charset="0"/>
              </a:rPr>
              <a:t>,</a:t>
            </a:r>
            <a:r>
              <a:rPr lang="en-US" dirty="0">
                <a:latin typeface="Times New Roman" pitchFamily="18" charset="0"/>
                <a:cs typeface="Times New Roman" pitchFamily="18" charset="0"/>
              </a:rPr>
              <a:t> positive half cycle </a:t>
            </a:r>
          </a:p>
          <a:p>
            <a:r>
              <a:rPr lang="en-US" dirty="0">
                <a:latin typeface="Times New Roman" pitchFamily="18" charset="0"/>
                <a:cs typeface="Times New Roman" pitchFamily="18" charset="0"/>
              </a:rPr>
              <a:t>diode ON,  </a:t>
            </a:r>
            <a:r>
              <a:rPr lang="en-US" b="1" dirty="0">
                <a:highlight>
                  <a:srgbClr val="FFFF00"/>
                </a:highlight>
                <a:latin typeface="Times New Roman" pitchFamily="18" charset="0"/>
                <a:cs typeface="Times New Roman" pitchFamily="18" charset="0"/>
              </a:rPr>
              <a:t>V</a:t>
            </a:r>
            <a:r>
              <a:rPr lang="en-US" b="1" baseline="-25000" dirty="0">
                <a:highlight>
                  <a:srgbClr val="FFFF00"/>
                </a:highlight>
                <a:latin typeface="Times New Roman" pitchFamily="18" charset="0"/>
                <a:cs typeface="Times New Roman" pitchFamily="18" charset="0"/>
              </a:rPr>
              <a:t>0</a:t>
            </a:r>
            <a:r>
              <a:rPr lang="en-US" b="1" dirty="0">
                <a:highlight>
                  <a:srgbClr val="FFFF00"/>
                </a:highlight>
                <a:latin typeface="Times New Roman" pitchFamily="18" charset="0"/>
                <a:cs typeface="Times New Roman" pitchFamily="18" charset="0"/>
              </a:rPr>
              <a:t>=</a:t>
            </a:r>
            <a:r>
              <a:rPr lang="en-US" b="1" dirty="0" err="1">
                <a:highlight>
                  <a:srgbClr val="FFFF00"/>
                </a:highlight>
                <a:latin typeface="Times New Roman" pitchFamily="18" charset="0"/>
                <a:cs typeface="Times New Roman" pitchFamily="18" charset="0"/>
              </a:rPr>
              <a:t>V</a:t>
            </a:r>
            <a:r>
              <a:rPr lang="en-US" b="1" baseline="-25000" dirty="0" err="1">
                <a:highlight>
                  <a:srgbClr val="FFFF00"/>
                </a:highlight>
                <a:latin typeface="Times New Roman" pitchFamily="18" charset="0"/>
                <a:cs typeface="Times New Roman" pitchFamily="18" charset="0"/>
              </a:rPr>
              <a:t>d</a:t>
            </a:r>
            <a:endParaRPr lang="en-US" b="1" baseline="-25000" dirty="0">
              <a:highlight>
                <a:srgbClr val="FFFF00"/>
              </a:highlight>
              <a:latin typeface="Times New Roman" pitchFamily="18" charset="0"/>
              <a:cs typeface="Times New Roman" pitchFamily="18" charset="0"/>
            </a:endParaRPr>
          </a:p>
        </p:txBody>
      </p:sp>
      <p:grpSp>
        <p:nvGrpSpPr>
          <p:cNvPr id="117" name="Group 116"/>
          <p:cNvGrpSpPr/>
          <p:nvPr/>
        </p:nvGrpSpPr>
        <p:grpSpPr>
          <a:xfrm>
            <a:off x="6700958" y="2924944"/>
            <a:ext cx="3370266" cy="1645444"/>
            <a:chOff x="3594819" y="4780424"/>
            <a:chExt cx="3370266" cy="1645444"/>
          </a:xfrm>
        </p:grpSpPr>
        <p:grpSp>
          <p:nvGrpSpPr>
            <p:cNvPr id="43" name="Group 42"/>
            <p:cNvGrpSpPr/>
            <p:nvPr/>
          </p:nvGrpSpPr>
          <p:grpSpPr>
            <a:xfrm>
              <a:off x="3594819" y="4780424"/>
              <a:ext cx="3370266" cy="1645444"/>
              <a:chOff x="2360732" y="3783368"/>
              <a:chExt cx="4083613" cy="2155809"/>
            </a:xfrm>
          </p:grpSpPr>
          <p:grpSp>
            <p:nvGrpSpPr>
              <p:cNvPr id="44" name="Group 43"/>
              <p:cNvGrpSpPr/>
              <p:nvPr/>
            </p:nvGrpSpPr>
            <p:grpSpPr>
              <a:xfrm>
                <a:off x="2360732" y="3783368"/>
                <a:ext cx="4083613" cy="2155809"/>
                <a:chOff x="5281034" y="321705"/>
                <a:chExt cx="4083613" cy="2155809"/>
              </a:xfrm>
            </p:grpSpPr>
            <p:grpSp>
              <p:nvGrpSpPr>
                <p:cNvPr id="48" name="Group 47"/>
                <p:cNvGrpSpPr/>
                <p:nvPr/>
              </p:nvGrpSpPr>
              <p:grpSpPr>
                <a:xfrm>
                  <a:off x="5281034" y="321705"/>
                  <a:ext cx="4083613" cy="2155809"/>
                  <a:chOff x="602780" y="481105"/>
                  <a:chExt cx="4083613" cy="2155809"/>
                </a:xfrm>
              </p:grpSpPr>
              <p:cxnSp>
                <p:nvCxnSpPr>
                  <p:cNvPr id="50" name="Straight Connector 49"/>
                  <p:cNvCxnSpPr/>
                  <p:nvPr/>
                </p:nvCxnSpPr>
                <p:spPr>
                  <a:xfrm flipV="1">
                    <a:off x="819773" y="967605"/>
                    <a:ext cx="943915" cy="13123"/>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V="1">
                    <a:off x="2694534" y="883178"/>
                    <a:ext cx="825985" cy="13347"/>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3520519" y="883177"/>
                    <a:ext cx="0" cy="516433"/>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grpSp>
                <p:nvGrpSpPr>
                  <p:cNvPr id="53" name="Group 52"/>
                  <p:cNvGrpSpPr/>
                  <p:nvPr/>
                </p:nvGrpSpPr>
                <p:grpSpPr>
                  <a:xfrm>
                    <a:off x="2155540" y="481105"/>
                    <a:ext cx="184212" cy="931671"/>
                    <a:chOff x="6588224" y="2636912"/>
                    <a:chExt cx="296416" cy="1140827"/>
                  </a:xfrm>
                  <a:solidFill>
                    <a:schemeClr val="tx1"/>
                  </a:solidFill>
                  <a:scene3d>
                    <a:camera prst="orthographicFront">
                      <a:rot lat="0" lon="0" rev="5400000"/>
                    </a:camera>
                    <a:lightRig rig="threePt" dir="t"/>
                  </a:scene3d>
                </p:grpSpPr>
                <p:cxnSp>
                  <p:nvCxnSpPr>
                    <p:cNvPr id="71" name="Straight Connector 70"/>
                    <p:cNvCxnSpPr/>
                    <p:nvPr/>
                  </p:nvCxnSpPr>
                  <p:spPr>
                    <a:xfrm>
                      <a:off x="6700428" y="2816932"/>
                      <a:ext cx="175828" cy="108012"/>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6588224" y="2969332"/>
                      <a:ext cx="288032" cy="216024"/>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6596608" y="3254539"/>
                      <a:ext cx="288032" cy="216024"/>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6596608" y="3514577"/>
                      <a:ext cx="207640" cy="108012"/>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flipH="1">
                      <a:off x="6596608" y="2924944"/>
                      <a:ext cx="279648" cy="44388"/>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flipH="1">
                      <a:off x="6600800" y="3185356"/>
                      <a:ext cx="279648" cy="44388"/>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flipH="1">
                      <a:off x="6600800" y="3470563"/>
                      <a:ext cx="279648" cy="44388"/>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flipV="1">
                      <a:off x="6700428" y="2636912"/>
                      <a:ext cx="0" cy="18002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flipV="1">
                      <a:off x="6801458" y="3597719"/>
                      <a:ext cx="0" cy="18002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4" name="Straight Connector 53"/>
                  <p:cNvCxnSpPr/>
                  <p:nvPr/>
                </p:nvCxnSpPr>
                <p:spPr>
                  <a:xfrm>
                    <a:off x="820219" y="2636912"/>
                    <a:ext cx="2748466" cy="0"/>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3534128" y="1616184"/>
                    <a:ext cx="0" cy="1020730"/>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3533820" y="883177"/>
                    <a:ext cx="598767" cy="0"/>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3578570" y="2636912"/>
                    <a:ext cx="698033" cy="0"/>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grpSp>
                <p:nvGrpSpPr>
                  <p:cNvPr id="58" name="Group 57"/>
                  <p:cNvGrpSpPr/>
                  <p:nvPr/>
                </p:nvGrpSpPr>
                <p:grpSpPr>
                  <a:xfrm>
                    <a:off x="4305601" y="896342"/>
                    <a:ext cx="187513" cy="1578382"/>
                    <a:chOff x="6487218" y="3146762"/>
                    <a:chExt cx="187513" cy="1578382"/>
                  </a:xfrm>
                </p:grpSpPr>
                <p:grpSp>
                  <p:nvGrpSpPr>
                    <p:cNvPr id="67" name="Group 66"/>
                    <p:cNvGrpSpPr/>
                    <p:nvPr/>
                  </p:nvGrpSpPr>
                  <p:grpSpPr>
                    <a:xfrm>
                      <a:off x="6487218" y="3146762"/>
                      <a:ext cx="158515" cy="160270"/>
                      <a:chOff x="6487218" y="2966741"/>
                      <a:chExt cx="317030" cy="360040"/>
                    </a:xfrm>
                  </p:grpSpPr>
                  <p:cxnSp>
                    <p:nvCxnSpPr>
                      <p:cNvPr id="69" name="Straight Connector 68"/>
                      <p:cNvCxnSpPr/>
                      <p:nvPr/>
                    </p:nvCxnSpPr>
                    <p:spPr>
                      <a:xfrm>
                        <a:off x="6660232" y="2966741"/>
                        <a:ext cx="0"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a:off x="6487218" y="3140179"/>
                        <a:ext cx="317030" cy="6583"/>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68" name="Straight Connector 67"/>
                    <p:cNvCxnSpPr/>
                    <p:nvPr/>
                  </p:nvCxnSpPr>
                  <p:spPr>
                    <a:xfrm>
                      <a:off x="6516216" y="4725144"/>
                      <a:ext cx="158515"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59" name="TextBox 58"/>
                  <p:cNvSpPr txBox="1"/>
                  <p:nvPr/>
                </p:nvSpPr>
                <p:spPr>
                  <a:xfrm>
                    <a:off x="2129950" y="1085477"/>
                    <a:ext cx="375251" cy="483887"/>
                  </a:xfrm>
                  <a:prstGeom prst="rect">
                    <a:avLst/>
                  </a:prstGeom>
                  <a:noFill/>
                </p:spPr>
                <p:txBody>
                  <a:bodyPr wrap="none" rtlCol="0">
                    <a:spAutoFit/>
                  </a:bodyPr>
                  <a:lstStyle/>
                  <a:p>
                    <a:r>
                      <a:rPr lang="en-US" dirty="0"/>
                      <a:t>R</a:t>
                    </a:r>
                  </a:p>
                </p:txBody>
              </p:sp>
              <p:sp>
                <p:nvSpPr>
                  <p:cNvPr id="60" name="TextBox 59"/>
                  <p:cNvSpPr txBox="1"/>
                  <p:nvPr/>
                </p:nvSpPr>
                <p:spPr>
                  <a:xfrm>
                    <a:off x="4161585" y="1540235"/>
                    <a:ext cx="524808" cy="483887"/>
                  </a:xfrm>
                  <a:prstGeom prst="rect">
                    <a:avLst/>
                  </a:prstGeom>
                  <a:noFill/>
                </p:spPr>
                <p:txBody>
                  <a:bodyPr wrap="none" rtlCol="0">
                    <a:spAutoFit/>
                  </a:bodyPr>
                  <a:lstStyle/>
                  <a:p>
                    <a:r>
                      <a:rPr lang="en-US" dirty="0"/>
                      <a:t>V0</a:t>
                    </a:r>
                  </a:p>
                </p:txBody>
              </p:sp>
              <p:sp>
                <p:nvSpPr>
                  <p:cNvPr id="61" name="TextBox 60"/>
                  <p:cNvSpPr txBox="1"/>
                  <p:nvPr/>
                </p:nvSpPr>
                <p:spPr>
                  <a:xfrm>
                    <a:off x="602780" y="1616184"/>
                    <a:ext cx="447117" cy="483887"/>
                  </a:xfrm>
                  <a:prstGeom prst="rect">
                    <a:avLst/>
                  </a:prstGeom>
                  <a:noFill/>
                </p:spPr>
                <p:txBody>
                  <a:bodyPr wrap="none" rtlCol="0">
                    <a:spAutoFit/>
                  </a:bodyPr>
                  <a:lstStyle/>
                  <a:p>
                    <a:r>
                      <a:rPr lang="en-US" dirty="0"/>
                      <a:t>Vi</a:t>
                    </a:r>
                  </a:p>
                </p:txBody>
              </p:sp>
              <p:grpSp>
                <p:nvGrpSpPr>
                  <p:cNvPr id="62" name="Group 61"/>
                  <p:cNvGrpSpPr/>
                  <p:nvPr/>
                </p:nvGrpSpPr>
                <p:grpSpPr>
                  <a:xfrm>
                    <a:off x="805720" y="1056612"/>
                    <a:ext cx="234291" cy="1484326"/>
                    <a:chOff x="6487218" y="3146762"/>
                    <a:chExt cx="187513" cy="1578382"/>
                  </a:xfrm>
                </p:grpSpPr>
                <p:grpSp>
                  <p:nvGrpSpPr>
                    <p:cNvPr id="63" name="Group 62"/>
                    <p:cNvGrpSpPr/>
                    <p:nvPr/>
                  </p:nvGrpSpPr>
                  <p:grpSpPr>
                    <a:xfrm>
                      <a:off x="6487218" y="3146762"/>
                      <a:ext cx="158515" cy="160270"/>
                      <a:chOff x="6487218" y="2966741"/>
                      <a:chExt cx="317030" cy="360040"/>
                    </a:xfrm>
                  </p:grpSpPr>
                  <p:cxnSp>
                    <p:nvCxnSpPr>
                      <p:cNvPr id="65" name="Straight Connector 64"/>
                      <p:cNvCxnSpPr/>
                      <p:nvPr/>
                    </p:nvCxnSpPr>
                    <p:spPr>
                      <a:xfrm>
                        <a:off x="6660232" y="2966741"/>
                        <a:ext cx="0"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6487218" y="3140179"/>
                        <a:ext cx="317030" cy="6583"/>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64" name="Straight Connector 63"/>
                    <p:cNvCxnSpPr/>
                    <p:nvPr/>
                  </p:nvCxnSpPr>
                  <p:spPr>
                    <a:xfrm>
                      <a:off x="6516216" y="4725144"/>
                      <a:ext cx="158515" cy="0"/>
                    </a:xfrm>
                    <a:prstGeom prst="line">
                      <a:avLst/>
                    </a:prstGeom>
                  </p:spPr>
                  <p:style>
                    <a:lnRef idx="1">
                      <a:schemeClr val="accent1"/>
                    </a:lnRef>
                    <a:fillRef idx="0">
                      <a:schemeClr val="accent1"/>
                    </a:fillRef>
                    <a:effectRef idx="0">
                      <a:schemeClr val="accent1"/>
                    </a:effectRef>
                    <a:fontRef idx="minor">
                      <a:schemeClr val="tx1"/>
                    </a:fontRef>
                  </p:style>
                </p:cxnSp>
              </p:grpSp>
            </p:grpSp>
            <p:sp>
              <p:nvSpPr>
                <p:cNvPr id="49" name="TextBox 48"/>
                <p:cNvSpPr txBox="1"/>
                <p:nvPr/>
              </p:nvSpPr>
              <p:spPr>
                <a:xfrm>
                  <a:off x="7505896" y="1552297"/>
                  <a:ext cx="547028" cy="483887"/>
                </a:xfrm>
                <a:prstGeom prst="rect">
                  <a:avLst/>
                </a:prstGeom>
                <a:noFill/>
              </p:spPr>
              <p:txBody>
                <a:bodyPr wrap="none" rtlCol="0">
                  <a:spAutoFit/>
                </a:bodyPr>
                <a:lstStyle/>
                <a:p>
                  <a:r>
                    <a:rPr lang="en-US" dirty="0"/>
                    <a:t>F.B</a:t>
                  </a:r>
                </a:p>
              </p:txBody>
            </p:sp>
          </p:grpSp>
          <p:cxnSp>
            <p:nvCxnSpPr>
              <p:cNvPr id="45" name="Straight Connector 44"/>
              <p:cNvCxnSpPr/>
              <p:nvPr/>
            </p:nvCxnSpPr>
            <p:spPr>
              <a:xfrm>
                <a:off x="5001157" y="4725144"/>
                <a:ext cx="57895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5145447" y="4941168"/>
                <a:ext cx="338527" cy="0"/>
              </a:xfrm>
              <a:prstGeom prst="line">
                <a:avLst/>
              </a:prstGeom>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5385187" y="4387740"/>
                <a:ext cx="363597" cy="1209718"/>
              </a:xfrm>
              <a:prstGeom prst="rect">
                <a:avLst/>
              </a:prstGeom>
              <a:noFill/>
            </p:spPr>
            <p:txBody>
              <a:bodyPr wrap="none" rtlCol="0">
                <a:spAutoFit/>
              </a:bodyPr>
              <a:lstStyle/>
              <a:p>
                <a:r>
                  <a:rPr lang="en-US" dirty="0"/>
                  <a:t>+</a:t>
                </a:r>
              </a:p>
              <a:p>
                <a:r>
                  <a:rPr lang="en-US" dirty="0"/>
                  <a:t> </a:t>
                </a:r>
              </a:p>
              <a:p>
                <a:r>
                  <a:rPr lang="en-US" dirty="0"/>
                  <a:t>-</a:t>
                </a:r>
              </a:p>
            </p:txBody>
          </p:sp>
        </p:grpSp>
        <p:sp>
          <p:nvSpPr>
            <p:cNvPr id="116" name="TextBox 115"/>
            <p:cNvSpPr txBox="1"/>
            <p:nvPr/>
          </p:nvSpPr>
          <p:spPr>
            <a:xfrm>
              <a:off x="5302397" y="5382665"/>
              <a:ext cx="428131" cy="369332"/>
            </a:xfrm>
            <a:prstGeom prst="rect">
              <a:avLst/>
            </a:prstGeom>
            <a:noFill/>
          </p:spPr>
          <p:txBody>
            <a:bodyPr wrap="none" rtlCol="0">
              <a:spAutoFit/>
            </a:bodyPr>
            <a:lstStyle/>
            <a:p>
              <a:r>
                <a:rPr lang="en-US" dirty="0" err="1"/>
                <a:t>Vd</a:t>
              </a:r>
              <a:endParaRPr lang="en-US" dirty="0"/>
            </a:p>
          </p:txBody>
        </p:sp>
      </p:grpSp>
      <p:sp>
        <p:nvSpPr>
          <p:cNvPr id="81" name="TextBox 80"/>
          <p:cNvSpPr txBox="1"/>
          <p:nvPr/>
        </p:nvSpPr>
        <p:spPr>
          <a:xfrm>
            <a:off x="9942892" y="6444044"/>
            <a:ext cx="659476" cy="369332"/>
          </a:xfrm>
          <a:prstGeom prst="rect">
            <a:avLst/>
          </a:prstGeom>
          <a:noFill/>
        </p:spPr>
        <p:txBody>
          <a:bodyPr wrap="none" rtlCol="0">
            <a:spAutoFit/>
          </a:bodyPr>
          <a:lstStyle/>
          <a:p>
            <a:r>
              <a:rPr lang="en-IN" dirty="0"/>
              <a:t>Ref 1</a:t>
            </a:r>
            <a:endParaRPr lang="en-US" dirty="0"/>
          </a:p>
        </p:txBody>
      </p:sp>
      <p:sp>
        <p:nvSpPr>
          <p:cNvPr id="3" name="Slide Number Placeholder 2">
            <a:extLst>
              <a:ext uri="{FF2B5EF4-FFF2-40B4-BE49-F238E27FC236}">
                <a16:creationId xmlns:a16="http://schemas.microsoft.com/office/drawing/2014/main" id="{6538C7F3-671F-46B9-91AD-B6549CDB5BEF}"/>
              </a:ext>
            </a:extLst>
          </p:cNvPr>
          <p:cNvSpPr>
            <a:spLocks noGrp="1"/>
          </p:cNvSpPr>
          <p:nvPr>
            <p:ph type="sldNum" sz="quarter" idx="12"/>
          </p:nvPr>
        </p:nvSpPr>
        <p:spPr/>
        <p:txBody>
          <a:bodyPr/>
          <a:lstStyle/>
          <a:p>
            <a:fld id="{AD1450A3-5863-4018-97AA-7A53D73041E9}" type="slidenum">
              <a:rPr lang="en-US" smtClean="0"/>
              <a:pPr/>
              <a:t>8</a:t>
            </a:fld>
            <a:endParaRPr lang="en-US"/>
          </a:p>
        </p:txBody>
      </p:sp>
      <p:sp>
        <p:nvSpPr>
          <p:cNvPr id="82" name="TextBox 81">
            <a:extLst>
              <a:ext uri="{FF2B5EF4-FFF2-40B4-BE49-F238E27FC236}">
                <a16:creationId xmlns:a16="http://schemas.microsoft.com/office/drawing/2014/main" id="{8846189A-C1BC-426D-909B-47D47ADC39FD}"/>
              </a:ext>
            </a:extLst>
          </p:cNvPr>
          <p:cNvSpPr txBox="1"/>
          <p:nvPr/>
        </p:nvSpPr>
        <p:spPr>
          <a:xfrm>
            <a:off x="8253686" y="1296508"/>
            <a:ext cx="2727863" cy="369332"/>
          </a:xfrm>
          <a:prstGeom prst="rect">
            <a:avLst/>
          </a:prstGeom>
          <a:noFill/>
        </p:spPr>
        <p:txBody>
          <a:bodyPr wrap="none" rtlCol="0">
            <a:spAutoFit/>
          </a:bodyPr>
          <a:lstStyle/>
          <a:p>
            <a:r>
              <a:rPr lang="en-US" dirty="0"/>
              <a:t>Where R is extremely small</a:t>
            </a:r>
          </a:p>
        </p:txBody>
      </p:sp>
    </p:spTree>
    <p:extLst>
      <p:ext uri="{BB962C8B-B14F-4D97-AF65-F5344CB8AC3E}">
        <p14:creationId xmlns:p14="http://schemas.microsoft.com/office/powerpoint/2010/main" val="2764787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1544" y="548680"/>
            <a:ext cx="8229600" cy="1066800"/>
          </a:xfrm>
        </p:spPr>
        <p:txBody>
          <a:bodyPr/>
          <a:lstStyle/>
          <a:p>
            <a:r>
              <a:rPr lang="en-US" dirty="0"/>
              <a:t>Parallel...</a:t>
            </a:r>
          </a:p>
        </p:txBody>
      </p:sp>
      <p:grpSp>
        <p:nvGrpSpPr>
          <p:cNvPr id="4" name="Group 3"/>
          <p:cNvGrpSpPr/>
          <p:nvPr/>
        </p:nvGrpSpPr>
        <p:grpSpPr>
          <a:xfrm>
            <a:off x="6425172" y="1696560"/>
            <a:ext cx="3477576" cy="1758620"/>
            <a:chOff x="5281034" y="321705"/>
            <a:chExt cx="4065115" cy="2155809"/>
          </a:xfrm>
        </p:grpSpPr>
        <p:grpSp>
          <p:nvGrpSpPr>
            <p:cNvPr id="5" name="Group 4"/>
            <p:cNvGrpSpPr/>
            <p:nvPr/>
          </p:nvGrpSpPr>
          <p:grpSpPr>
            <a:xfrm>
              <a:off x="5281034" y="321705"/>
              <a:ext cx="4065115" cy="2155809"/>
              <a:chOff x="602780" y="481105"/>
              <a:chExt cx="4065115" cy="2155809"/>
            </a:xfrm>
          </p:grpSpPr>
          <p:cxnSp>
            <p:nvCxnSpPr>
              <p:cNvPr id="7" name="Straight Connector 6"/>
              <p:cNvCxnSpPr/>
              <p:nvPr/>
            </p:nvCxnSpPr>
            <p:spPr>
              <a:xfrm flipV="1">
                <a:off x="819773" y="967605"/>
                <a:ext cx="943915" cy="13123"/>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2694534" y="883178"/>
                <a:ext cx="825985" cy="13347"/>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3520519" y="883177"/>
                <a:ext cx="0" cy="516433"/>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grpSp>
            <p:nvGrpSpPr>
              <p:cNvPr id="10" name="Group 9"/>
              <p:cNvGrpSpPr/>
              <p:nvPr/>
            </p:nvGrpSpPr>
            <p:grpSpPr>
              <a:xfrm>
                <a:off x="2155540" y="481105"/>
                <a:ext cx="184212" cy="931671"/>
                <a:chOff x="6588224" y="2636912"/>
                <a:chExt cx="296416" cy="1140827"/>
              </a:xfrm>
              <a:solidFill>
                <a:schemeClr val="tx1"/>
              </a:solidFill>
              <a:scene3d>
                <a:camera prst="orthographicFront">
                  <a:rot lat="0" lon="0" rev="5400000"/>
                </a:camera>
                <a:lightRig rig="threePt" dir="t"/>
              </a:scene3d>
            </p:grpSpPr>
            <p:cxnSp>
              <p:nvCxnSpPr>
                <p:cNvPr id="29" name="Straight Connector 28"/>
                <p:cNvCxnSpPr/>
                <p:nvPr/>
              </p:nvCxnSpPr>
              <p:spPr>
                <a:xfrm>
                  <a:off x="6700428" y="2816932"/>
                  <a:ext cx="175828" cy="108012"/>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6588224" y="2969332"/>
                  <a:ext cx="288032" cy="216024"/>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6596608" y="3254539"/>
                  <a:ext cx="288032" cy="216024"/>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6596608" y="3514577"/>
                  <a:ext cx="207640" cy="108012"/>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6596608" y="2924944"/>
                  <a:ext cx="279648" cy="44388"/>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a:off x="6600800" y="3185356"/>
                  <a:ext cx="279648" cy="44388"/>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a:off x="6600800" y="3470563"/>
                  <a:ext cx="279648" cy="44388"/>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6700428" y="2636912"/>
                  <a:ext cx="0" cy="18002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6801458" y="3597719"/>
                  <a:ext cx="0" cy="18002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 name="Straight Connector 10"/>
              <p:cNvCxnSpPr/>
              <p:nvPr/>
            </p:nvCxnSpPr>
            <p:spPr>
              <a:xfrm>
                <a:off x="820219" y="2636912"/>
                <a:ext cx="2748466" cy="0"/>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3486718" y="1814964"/>
                <a:ext cx="2960" cy="821950"/>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533820" y="883177"/>
                <a:ext cx="598767" cy="0"/>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578570" y="2636912"/>
                <a:ext cx="698033" cy="0"/>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grpSp>
            <p:nvGrpSpPr>
              <p:cNvPr id="15" name="Group 14"/>
              <p:cNvGrpSpPr/>
              <p:nvPr/>
            </p:nvGrpSpPr>
            <p:grpSpPr>
              <a:xfrm>
                <a:off x="4305601" y="896342"/>
                <a:ext cx="187513" cy="1578382"/>
                <a:chOff x="6487218" y="3146762"/>
                <a:chExt cx="187513" cy="1578382"/>
              </a:xfrm>
            </p:grpSpPr>
            <p:grpSp>
              <p:nvGrpSpPr>
                <p:cNvPr id="25" name="Group 24"/>
                <p:cNvGrpSpPr/>
                <p:nvPr/>
              </p:nvGrpSpPr>
              <p:grpSpPr>
                <a:xfrm>
                  <a:off x="6487218" y="3146762"/>
                  <a:ext cx="158515" cy="160270"/>
                  <a:chOff x="6487218" y="2966741"/>
                  <a:chExt cx="317030" cy="360040"/>
                </a:xfrm>
              </p:grpSpPr>
              <p:cxnSp>
                <p:nvCxnSpPr>
                  <p:cNvPr id="27" name="Straight Connector 26"/>
                  <p:cNvCxnSpPr/>
                  <p:nvPr/>
                </p:nvCxnSpPr>
                <p:spPr>
                  <a:xfrm>
                    <a:off x="6660232" y="2966741"/>
                    <a:ext cx="0"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6487218" y="3140179"/>
                    <a:ext cx="317030" cy="6583"/>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6" name="Straight Connector 25"/>
                <p:cNvCxnSpPr/>
                <p:nvPr/>
              </p:nvCxnSpPr>
              <p:spPr>
                <a:xfrm>
                  <a:off x="6516216" y="4725144"/>
                  <a:ext cx="158515"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6" name="TextBox 15"/>
              <p:cNvSpPr txBox="1"/>
              <p:nvPr/>
            </p:nvSpPr>
            <p:spPr>
              <a:xfrm>
                <a:off x="2129950" y="1085476"/>
                <a:ext cx="362024" cy="452747"/>
              </a:xfrm>
              <a:prstGeom prst="rect">
                <a:avLst/>
              </a:prstGeom>
              <a:noFill/>
            </p:spPr>
            <p:txBody>
              <a:bodyPr wrap="none" rtlCol="0">
                <a:spAutoFit/>
              </a:bodyPr>
              <a:lstStyle/>
              <a:p>
                <a:r>
                  <a:rPr lang="en-US" dirty="0"/>
                  <a:t>R</a:t>
                </a:r>
              </a:p>
            </p:txBody>
          </p:sp>
          <p:sp>
            <p:nvSpPr>
              <p:cNvPr id="17" name="TextBox 16"/>
              <p:cNvSpPr txBox="1"/>
              <p:nvPr/>
            </p:nvSpPr>
            <p:spPr>
              <a:xfrm>
                <a:off x="2977024" y="1411854"/>
                <a:ext cx="382637" cy="452747"/>
              </a:xfrm>
              <a:prstGeom prst="rect">
                <a:avLst/>
              </a:prstGeom>
              <a:noFill/>
            </p:spPr>
            <p:txBody>
              <a:bodyPr wrap="none" rtlCol="0">
                <a:spAutoFit/>
              </a:bodyPr>
              <a:lstStyle/>
              <a:p>
                <a:r>
                  <a:rPr lang="en-US" dirty="0"/>
                  <a:t>D</a:t>
                </a:r>
              </a:p>
            </p:txBody>
          </p:sp>
          <p:sp>
            <p:nvSpPr>
              <p:cNvPr id="18" name="TextBox 17"/>
              <p:cNvSpPr txBox="1"/>
              <p:nvPr/>
            </p:nvSpPr>
            <p:spPr>
              <a:xfrm>
                <a:off x="4161585" y="1540236"/>
                <a:ext cx="506310" cy="452747"/>
              </a:xfrm>
              <a:prstGeom prst="rect">
                <a:avLst/>
              </a:prstGeom>
              <a:noFill/>
            </p:spPr>
            <p:txBody>
              <a:bodyPr wrap="none" rtlCol="0">
                <a:spAutoFit/>
              </a:bodyPr>
              <a:lstStyle/>
              <a:p>
                <a:r>
                  <a:rPr lang="en-US" dirty="0"/>
                  <a:t>V0</a:t>
                </a:r>
              </a:p>
            </p:txBody>
          </p:sp>
          <p:sp>
            <p:nvSpPr>
              <p:cNvPr id="19" name="TextBox 18"/>
              <p:cNvSpPr txBox="1"/>
              <p:nvPr/>
            </p:nvSpPr>
            <p:spPr>
              <a:xfrm>
                <a:off x="602780" y="1616184"/>
                <a:ext cx="431357" cy="452747"/>
              </a:xfrm>
              <a:prstGeom prst="rect">
                <a:avLst/>
              </a:prstGeom>
              <a:noFill/>
            </p:spPr>
            <p:txBody>
              <a:bodyPr wrap="none" rtlCol="0">
                <a:spAutoFit/>
              </a:bodyPr>
              <a:lstStyle/>
              <a:p>
                <a:r>
                  <a:rPr lang="en-US" dirty="0"/>
                  <a:t>Vi</a:t>
                </a:r>
              </a:p>
            </p:txBody>
          </p:sp>
          <p:grpSp>
            <p:nvGrpSpPr>
              <p:cNvPr id="20" name="Group 19"/>
              <p:cNvGrpSpPr/>
              <p:nvPr/>
            </p:nvGrpSpPr>
            <p:grpSpPr>
              <a:xfrm>
                <a:off x="805720" y="1056612"/>
                <a:ext cx="234291" cy="1484326"/>
                <a:chOff x="6487218" y="3146762"/>
                <a:chExt cx="187513" cy="1578382"/>
              </a:xfrm>
            </p:grpSpPr>
            <p:grpSp>
              <p:nvGrpSpPr>
                <p:cNvPr id="21" name="Group 20"/>
                <p:cNvGrpSpPr/>
                <p:nvPr/>
              </p:nvGrpSpPr>
              <p:grpSpPr>
                <a:xfrm>
                  <a:off x="6487218" y="3146762"/>
                  <a:ext cx="158515" cy="160270"/>
                  <a:chOff x="6487218" y="2966741"/>
                  <a:chExt cx="317030" cy="360040"/>
                </a:xfrm>
              </p:grpSpPr>
              <p:cxnSp>
                <p:nvCxnSpPr>
                  <p:cNvPr id="23" name="Straight Connector 22"/>
                  <p:cNvCxnSpPr/>
                  <p:nvPr/>
                </p:nvCxnSpPr>
                <p:spPr>
                  <a:xfrm>
                    <a:off x="6660232" y="2966741"/>
                    <a:ext cx="0"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6487218" y="3140179"/>
                    <a:ext cx="317030" cy="6583"/>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2" name="Straight Connector 21"/>
                <p:cNvCxnSpPr/>
                <p:nvPr/>
              </p:nvCxnSpPr>
              <p:spPr>
                <a:xfrm>
                  <a:off x="6516216" y="4725144"/>
                  <a:ext cx="158515" cy="0"/>
                </a:xfrm>
                <a:prstGeom prst="line">
                  <a:avLst/>
                </a:prstGeom>
              </p:spPr>
              <p:style>
                <a:lnRef idx="1">
                  <a:schemeClr val="accent1"/>
                </a:lnRef>
                <a:fillRef idx="0">
                  <a:schemeClr val="accent1"/>
                </a:fillRef>
                <a:effectRef idx="0">
                  <a:schemeClr val="accent1"/>
                </a:effectRef>
                <a:fontRef idx="minor">
                  <a:schemeClr val="tx1"/>
                </a:fontRef>
              </p:style>
            </p:cxnSp>
          </p:grpSp>
        </p:grpSp>
        <p:sp>
          <p:nvSpPr>
            <p:cNvPr id="6" name="TextBox 5"/>
            <p:cNvSpPr txBox="1"/>
            <p:nvPr/>
          </p:nvSpPr>
          <p:spPr>
            <a:xfrm>
              <a:off x="7505896" y="1552297"/>
              <a:ext cx="576991" cy="452747"/>
            </a:xfrm>
            <a:prstGeom prst="rect">
              <a:avLst/>
            </a:prstGeom>
            <a:noFill/>
          </p:spPr>
          <p:txBody>
            <a:bodyPr wrap="none" rtlCol="0">
              <a:spAutoFit/>
            </a:bodyPr>
            <a:lstStyle/>
            <a:p>
              <a:r>
                <a:rPr lang="en-US" dirty="0"/>
                <a:t>R.B</a:t>
              </a:r>
            </a:p>
          </p:txBody>
        </p:sp>
      </p:grpSp>
      <p:sp>
        <p:nvSpPr>
          <p:cNvPr id="38" name="Rectangle 37"/>
          <p:cNvSpPr/>
          <p:nvPr/>
        </p:nvSpPr>
        <p:spPr>
          <a:xfrm>
            <a:off x="2371026" y="2148603"/>
            <a:ext cx="3359831" cy="646331"/>
          </a:xfrm>
          <a:prstGeom prst="rect">
            <a:avLst/>
          </a:prstGeom>
        </p:spPr>
        <p:txBody>
          <a:bodyPr wrap="none">
            <a:spAutoFit/>
          </a:bodyPr>
          <a:lstStyle/>
          <a:p>
            <a:r>
              <a:rPr lang="en-US" dirty="0">
                <a:latin typeface="Times New Roman" pitchFamily="18" charset="0"/>
                <a:cs typeface="Times New Roman" pitchFamily="18" charset="0"/>
              </a:rPr>
              <a:t>If ,</a:t>
            </a:r>
            <a:r>
              <a:rPr lang="en-US" dirty="0">
                <a:highlight>
                  <a:srgbClr val="FFFF00"/>
                </a:highlight>
                <a:latin typeface="Times New Roman" pitchFamily="18" charset="0"/>
                <a:cs typeface="Times New Roman" pitchFamily="18" charset="0"/>
              </a:rPr>
              <a:t>V</a:t>
            </a:r>
            <a:r>
              <a:rPr lang="en-US" baseline="-25000" dirty="0">
                <a:highlight>
                  <a:srgbClr val="FFFF00"/>
                </a:highlight>
                <a:latin typeface="Times New Roman" pitchFamily="18" charset="0"/>
                <a:cs typeface="Times New Roman" pitchFamily="18" charset="0"/>
              </a:rPr>
              <a:t>i</a:t>
            </a:r>
            <a:r>
              <a:rPr lang="en-US" dirty="0">
                <a:highlight>
                  <a:srgbClr val="FFFF00"/>
                </a:highlight>
                <a:latin typeface="Times New Roman" pitchFamily="18" charset="0"/>
                <a:cs typeface="Times New Roman" pitchFamily="18" charset="0"/>
              </a:rPr>
              <a:t> &lt; </a:t>
            </a:r>
            <a:r>
              <a:rPr lang="en-US" dirty="0" err="1">
                <a:highlight>
                  <a:srgbClr val="FFFF00"/>
                </a:highlight>
                <a:latin typeface="Times New Roman" pitchFamily="18" charset="0"/>
                <a:cs typeface="Times New Roman" pitchFamily="18" charset="0"/>
              </a:rPr>
              <a:t>V</a:t>
            </a:r>
            <a:r>
              <a:rPr lang="en-US" baseline="-25000" dirty="0" err="1">
                <a:highlight>
                  <a:srgbClr val="FFFF00"/>
                </a:highlight>
                <a:latin typeface="Times New Roman" pitchFamily="18" charset="0"/>
                <a:cs typeface="Times New Roman" pitchFamily="18" charset="0"/>
              </a:rPr>
              <a:t>d</a:t>
            </a:r>
            <a:r>
              <a:rPr lang="en-US" baseline="-25000" dirty="0">
                <a:latin typeface="Times New Roman" pitchFamily="18" charset="0"/>
                <a:cs typeface="Times New Roman" pitchFamily="18" charset="0"/>
              </a:rPr>
              <a:t>,</a:t>
            </a:r>
            <a:r>
              <a:rPr lang="en-US" dirty="0">
                <a:latin typeface="Times New Roman" pitchFamily="18" charset="0"/>
                <a:cs typeface="Times New Roman" pitchFamily="18" charset="0"/>
              </a:rPr>
              <a:t> for negative half cycle </a:t>
            </a:r>
          </a:p>
          <a:p>
            <a:r>
              <a:rPr lang="en-US" dirty="0">
                <a:latin typeface="Times New Roman" pitchFamily="18" charset="0"/>
                <a:cs typeface="Times New Roman" pitchFamily="18" charset="0"/>
              </a:rPr>
              <a:t>diode OFF  </a:t>
            </a:r>
            <a:r>
              <a:rPr lang="en-US" dirty="0">
                <a:highlight>
                  <a:srgbClr val="FFFF00"/>
                </a:highlight>
                <a:latin typeface="Times New Roman" pitchFamily="18" charset="0"/>
                <a:cs typeface="Times New Roman" pitchFamily="18" charset="0"/>
              </a:rPr>
              <a:t>V</a:t>
            </a:r>
            <a:r>
              <a:rPr lang="en-US" baseline="-25000" dirty="0">
                <a:highlight>
                  <a:srgbClr val="FFFF00"/>
                </a:highlight>
                <a:latin typeface="Times New Roman" pitchFamily="18" charset="0"/>
                <a:cs typeface="Times New Roman" pitchFamily="18" charset="0"/>
              </a:rPr>
              <a:t>0</a:t>
            </a:r>
            <a:r>
              <a:rPr lang="en-US" dirty="0">
                <a:highlight>
                  <a:srgbClr val="FFFF00"/>
                </a:highlight>
                <a:latin typeface="Times New Roman" pitchFamily="18" charset="0"/>
                <a:cs typeface="Times New Roman" pitchFamily="18" charset="0"/>
              </a:rPr>
              <a:t>= -V</a:t>
            </a:r>
            <a:r>
              <a:rPr lang="en-US" baseline="-25000" dirty="0">
                <a:highlight>
                  <a:srgbClr val="FFFF00"/>
                </a:highlight>
                <a:latin typeface="Times New Roman" pitchFamily="18" charset="0"/>
                <a:cs typeface="Times New Roman" pitchFamily="18" charset="0"/>
              </a:rPr>
              <a:t>i</a:t>
            </a:r>
          </a:p>
        </p:txBody>
      </p:sp>
      <p:grpSp>
        <p:nvGrpSpPr>
          <p:cNvPr id="39" name="Group 38"/>
          <p:cNvGrpSpPr/>
          <p:nvPr/>
        </p:nvGrpSpPr>
        <p:grpSpPr>
          <a:xfrm>
            <a:off x="3658218" y="4353924"/>
            <a:ext cx="4145276" cy="1998615"/>
            <a:chOff x="4705064" y="4414383"/>
            <a:chExt cx="3683360" cy="1606905"/>
          </a:xfrm>
        </p:grpSpPr>
        <p:pic>
          <p:nvPicPr>
            <p:cNvPr id="40"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05064" y="4414383"/>
              <a:ext cx="3683360" cy="1606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41" name="Straight Connector 40"/>
            <p:cNvCxnSpPr/>
            <p:nvPr/>
          </p:nvCxnSpPr>
          <p:spPr>
            <a:xfrm>
              <a:off x="7026404" y="5217835"/>
              <a:ext cx="44972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H="1">
              <a:off x="7469993" y="5217835"/>
              <a:ext cx="6132" cy="45827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7452320" y="5676106"/>
              <a:ext cx="50405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4" name="TextBox 43"/>
          <p:cNvSpPr txBox="1"/>
          <p:nvPr/>
        </p:nvSpPr>
        <p:spPr>
          <a:xfrm>
            <a:off x="2387672" y="3831656"/>
            <a:ext cx="2775568" cy="369332"/>
          </a:xfrm>
          <a:prstGeom prst="rect">
            <a:avLst/>
          </a:prstGeom>
          <a:noFill/>
        </p:spPr>
        <p:txBody>
          <a:bodyPr wrap="none" rtlCol="0">
            <a:spAutoFit/>
          </a:bodyPr>
          <a:lstStyle/>
          <a:p>
            <a:r>
              <a:rPr lang="en-US" dirty="0"/>
              <a:t>Input and output waveform</a:t>
            </a:r>
          </a:p>
        </p:txBody>
      </p:sp>
      <p:sp>
        <p:nvSpPr>
          <p:cNvPr id="46" name="Rectangle 45"/>
          <p:cNvSpPr/>
          <p:nvPr/>
        </p:nvSpPr>
        <p:spPr>
          <a:xfrm>
            <a:off x="7834532" y="5676396"/>
            <a:ext cx="2858921" cy="553998"/>
          </a:xfrm>
          <a:prstGeom prst="rect">
            <a:avLst/>
          </a:prstGeom>
        </p:spPr>
        <p:txBody>
          <a:bodyPr wrap="square">
            <a:spAutoFit/>
          </a:bodyPr>
          <a:lstStyle/>
          <a:p>
            <a:r>
              <a:rPr lang="en-US" sz="1500" dirty="0">
                <a:solidFill>
                  <a:srgbClr val="FF0000"/>
                </a:solidFill>
              </a:rPr>
              <a:t>Red line </a:t>
            </a:r>
            <a:r>
              <a:rPr lang="en-US" sz="1500" dirty="0"/>
              <a:t>represent Practical diode and  </a:t>
            </a:r>
            <a:r>
              <a:rPr lang="en-US" sz="1500" dirty="0">
                <a:solidFill>
                  <a:srgbClr val="00B0F0"/>
                </a:solidFill>
              </a:rPr>
              <a:t>Blue line </a:t>
            </a:r>
            <a:r>
              <a:rPr lang="en-US" sz="1500" dirty="0"/>
              <a:t>for Ideal diode</a:t>
            </a:r>
          </a:p>
        </p:txBody>
      </p:sp>
      <p:sp>
        <p:nvSpPr>
          <p:cNvPr id="45" name="TextBox 44"/>
          <p:cNvSpPr txBox="1"/>
          <p:nvPr/>
        </p:nvSpPr>
        <p:spPr>
          <a:xfrm>
            <a:off x="9942892" y="6444044"/>
            <a:ext cx="659476" cy="369332"/>
          </a:xfrm>
          <a:prstGeom prst="rect">
            <a:avLst/>
          </a:prstGeom>
          <a:noFill/>
        </p:spPr>
        <p:txBody>
          <a:bodyPr wrap="none" rtlCol="0">
            <a:spAutoFit/>
          </a:bodyPr>
          <a:lstStyle/>
          <a:p>
            <a:r>
              <a:rPr lang="en-IN" dirty="0"/>
              <a:t>Ref 1</a:t>
            </a:r>
            <a:endParaRPr lang="en-US" dirty="0"/>
          </a:p>
        </p:txBody>
      </p:sp>
      <p:sp>
        <p:nvSpPr>
          <p:cNvPr id="3" name="Slide Number Placeholder 2">
            <a:extLst>
              <a:ext uri="{FF2B5EF4-FFF2-40B4-BE49-F238E27FC236}">
                <a16:creationId xmlns:a16="http://schemas.microsoft.com/office/drawing/2014/main" id="{D05D1E90-6378-4E21-BAF1-26E0F0DACAB1}"/>
              </a:ext>
            </a:extLst>
          </p:cNvPr>
          <p:cNvSpPr>
            <a:spLocks noGrp="1"/>
          </p:cNvSpPr>
          <p:nvPr>
            <p:ph type="sldNum" sz="quarter" idx="12"/>
          </p:nvPr>
        </p:nvSpPr>
        <p:spPr/>
        <p:txBody>
          <a:bodyPr/>
          <a:lstStyle/>
          <a:p>
            <a:fld id="{AD1450A3-5863-4018-97AA-7A53D73041E9}" type="slidenum">
              <a:rPr lang="en-US" smtClean="0"/>
              <a:pPr/>
              <a:t>9</a:t>
            </a:fld>
            <a:endParaRPr lang="en-US"/>
          </a:p>
        </p:txBody>
      </p:sp>
    </p:spTree>
    <p:extLst>
      <p:ext uri="{BB962C8B-B14F-4D97-AF65-F5344CB8AC3E}">
        <p14:creationId xmlns:p14="http://schemas.microsoft.com/office/powerpoint/2010/main" val="262860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nvGrpSpPr>
        <p:grpSpPr>
          <a:xfrm>
            <a:off x="2783632" y="3789040"/>
            <a:ext cx="6535688" cy="2016224"/>
            <a:chOff x="971600" y="3714704"/>
            <a:chExt cx="6823720" cy="2162568"/>
          </a:xfrm>
          <a:solidFill>
            <a:srgbClr val="FFFF00"/>
          </a:solidFill>
        </p:grpSpPr>
        <p:pic>
          <p:nvPicPr>
            <p:cNvPr id="4099"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600" y="3714704"/>
              <a:ext cx="6823720" cy="2162568"/>
            </a:xfrm>
            <a:prstGeom prst="rect">
              <a:avLst/>
            </a:prstGeom>
            <a:gr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4"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03849" y="4215350"/>
              <a:ext cx="2448272" cy="1661922"/>
            </a:xfrm>
            <a:prstGeom prst="rect">
              <a:avLst/>
            </a:prstGeom>
            <a:gr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7" name="Rectangle 6">
            <a:extLst>
              <a:ext uri="{FF2B5EF4-FFF2-40B4-BE49-F238E27FC236}">
                <a16:creationId xmlns:a16="http://schemas.microsoft.com/office/drawing/2014/main" id="{B9947DBB-3B02-4FF8-A28E-06412E83BECA}"/>
              </a:ext>
            </a:extLst>
          </p:cNvPr>
          <p:cNvSpPr/>
          <p:nvPr/>
        </p:nvSpPr>
        <p:spPr>
          <a:xfrm>
            <a:off x="6051476" y="4749064"/>
            <a:ext cx="693420" cy="750984"/>
          </a:xfrm>
          <a:prstGeom prst="rect">
            <a:avLst/>
          </a:prstGeom>
          <a:solidFill>
            <a:srgbClr val="FFFF00">
              <a:alpha val="3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1981200" y="620688"/>
            <a:ext cx="8229600" cy="1066800"/>
          </a:xfrm>
        </p:spPr>
        <p:txBody>
          <a:bodyPr>
            <a:noAutofit/>
          </a:bodyPr>
          <a:lstStyle/>
          <a:p>
            <a:pPr lvl="1" algn="l" rtl="0">
              <a:spcBef>
                <a:spcPct val="0"/>
              </a:spcBef>
            </a:pPr>
            <a:r>
              <a:rPr lang="en-US" sz="4400" b="1" dirty="0">
                <a:latin typeface="Times New Roman" pitchFamily="18" charset="0"/>
                <a:cs typeface="Times New Roman" pitchFamily="18" charset="0"/>
              </a:rPr>
              <a:t>Biased positive clipper </a:t>
            </a:r>
            <a:br>
              <a:rPr lang="en-US" sz="4000" dirty="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4" name="TextBox 3"/>
          <p:cNvSpPr txBox="1"/>
          <p:nvPr/>
        </p:nvSpPr>
        <p:spPr>
          <a:xfrm>
            <a:off x="9912424" y="6444044"/>
            <a:ext cx="659476" cy="369332"/>
          </a:xfrm>
          <a:prstGeom prst="rect">
            <a:avLst/>
          </a:prstGeom>
          <a:noFill/>
        </p:spPr>
        <p:txBody>
          <a:bodyPr wrap="none" rtlCol="0">
            <a:spAutoFit/>
          </a:bodyPr>
          <a:lstStyle/>
          <a:p>
            <a:r>
              <a:rPr lang="en-IN" dirty="0"/>
              <a:t>Ref 1</a:t>
            </a:r>
            <a:endParaRPr lang="en-US" dirty="0"/>
          </a:p>
        </p:txBody>
      </p:sp>
      <p:sp>
        <p:nvSpPr>
          <p:cNvPr id="5" name="Content Placeholder 4"/>
          <p:cNvSpPr>
            <a:spLocks noGrp="1"/>
          </p:cNvSpPr>
          <p:nvPr>
            <p:ph idx="1"/>
          </p:nvPr>
        </p:nvSpPr>
        <p:spPr>
          <a:xfrm>
            <a:off x="2027630" y="1772816"/>
            <a:ext cx="8229600" cy="4325112"/>
          </a:xfrm>
        </p:spPr>
        <p:txBody>
          <a:bodyPr>
            <a:normAutofit/>
          </a:bodyPr>
          <a:lstStyle/>
          <a:p>
            <a:r>
              <a:rPr lang="en-US" sz="1800" dirty="0"/>
              <a:t>When the input signal voltage is </a:t>
            </a:r>
            <a:r>
              <a:rPr lang="en-US" sz="1800" dirty="0">
                <a:solidFill>
                  <a:srgbClr val="FF0000"/>
                </a:solidFill>
              </a:rPr>
              <a:t>positive</a:t>
            </a:r>
            <a:r>
              <a:rPr lang="en-US" sz="1800" dirty="0"/>
              <a:t>. </a:t>
            </a:r>
          </a:p>
          <a:p>
            <a:r>
              <a:rPr lang="en-US" sz="1800" dirty="0"/>
              <a:t>If </a:t>
            </a:r>
            <a:r>
              <a:rPr lang="en-US" sz="1800" dirty="0">
                <a:highlight>
                  <a:srgbClr val="FFFF00"/>
                </a:highlight>
              </a:rPr>
              <a:t>V</a:t>
            </a:r>
            <a:r>
              <a:rPr lang="en-US" sz="1800" baseline="-25000" dirty="0">
                <a:highlight>
                  <a:srgbClr val="FFFF00"/>
                </a:highlight>
              </a:rPr>
              <a:t>i</a:t>
            </a:r>
            <a:r>
              <a:rPr lang="en-US" sz="1800" dirty="0">
                <a:highlight>
                  <a:srgbClr val="FFFF00"/>
                </a:highlight>
              </a:rPr>
              <a:t> &lt; V</a:t>
            </a:r>
            <a:r>
              <a:rPr lang="en-US" sz="1800" baseline="-25000" dirty="0">
                <a:highlight>
                  <a:srgbClr val="FFFF00"/>
                </a:highlight>
              </a:rPr>
              <a:t>R</a:t>
            </a:r>
            <a:r>
              <a:rPr lang="en-US" sz="1800" dirty="0"/>
              <a:t>, diode  is reversed biased and does not conduct. Therefore</a:t>
            </a:r>
            <a:r>
              <a:rPr lang="en-US" sz="1800" dirty="0">
                <a:highlight>
                  <a:srgbClr val="FFFF00"/>
                </a:highlight>
              </a:rPr>
              <a:t>, V</a:t>
            </a:r>
            <a:r>
              <a:rPr lang="en-US" sz="1800" baseline="-25000" dirty="0">
                <a:highlight>
                  <a:srgbClr val="FFFF00"/>
                </a:highlight>
              </a:rPr>
              <a:t>o</a:t>
            </a:r>
            <a:r>
              <a:rPr lang="en-US" sz="1800" dirty="0">
                <a:highlight>
                  <a:srgbClr val="FFFF00"/>
                </a:highlight>
              </a:rPr>
              <a:t> = V</a:t>
            </a:r>
            <a:r>
              <a:rPr lang="en-US" sz="1800" baseline="-25000" dirty="0">
                <a:highlight>
                  <a:srgbClr val="FFFF00"/>
                </a:highlight>
              </a:rPr>
              <a:t>i</a:t>
            </a:r>
            <a:endParaRPr lang="en-US" sz="1800" dirty="0">
              <a:highlight>
                <a:srgbClr val="FFFF00"/>
              </a:highlight>
            </a:endParaRPr>
          </a:p>
          <a:p>
            <a:r>
              <a:rPr lang="en-US" sz="1800" dirty="0"/>
              <a:t>If V</a:t>
            </a:r>
            <a:r>
              <a:rPr lang="en-US" sz="1800" baseline="-25000" dirty="0"/>
              <a:t>i</a:t>
            </a:r>
            <a:r>
              <a:rPr lang="en-US" sz="1800" dirty="0"/>
              <a:t> &gt; V</a:t>
            </a:r>
            <a:r>
              <a:rPr lang="en-US" sz="1800" baseline="-25000" dirty="0"/>
              <a:t>R</a:t>
            </a:r>
            <a:r>
              <a:rPr lang="en-US" sz="1800" dirty="0"/>
              <a:t>, diode is forward biased and thus</a:t>
            </a:r>
            <a:r>
              <a:rPr lang="en-US" sz="1800" dirty="0">
                <a:highlight>
                  <a:srgbClr val="FFFF00"/>
                </a:highlight>
              </a:rPr>
              <a:t>, V</a:t>
            </a:r>
            <a:r>
              <a:rPr lang="en-US" sz="1800" baseline="-25000" dirty="0">
                <a:highlight>
                  <a:srgbClr val="FFFF00"/>
                </a:highlight>
              </a:rPr>
              <a:t>o</a:t>
            </a:r>
            <a:r>
              <a:rPr lang="en-US" sz="1800" dirty="0">
                <a:highlight>
                  <a:srgbClr val="FFFF00"/>
                </a:highlight>
              </a:rPr>
              <a:t>= </a:t>
            </a:r>
            <a:r>
              <a:rPr lang="en-US" sz="1800" dirty="0" err="1">
                <a:highlight>
                  <a:srgbClr val="FFFF00"/>
                </a:highlight>
              </a:rPr>
              <a:t>V</a:t>
            </a:r>
            <a:r>
              <a:rPr lang="en-US" sz="1800" baseline="-25000" dirty="0" err="1">
                <a:highlight>
                  <a:srgbClr val="FFFF00"/>
                </a:highlight>
              </a:rPr>
              <a:t>R</a:t>
            </a:r>
            <a:r>
              <a:rPr lang="en-US" sz="1800" dirty="0" err="1">
                <a:highlight>
                  <a:srgbClr val="FFFF00"/>
                </a:highlight>
              </a:rPr>
              <a:t>+V</a:t>
            </a:r>
            <a:r>
              <a:rPr lang="en-US" sz="1800" baseline="-25000" dirty="0" err="1">
                <a:highlight>
                  <a:srgbClr val="FFFF00"/>
                </a:highlight>
              </a:rPr>
              <a:t>d</a:t>
            </a:r>
            <a:endParaRPr lang="en-US" sz="1800" baseline="-25000" dirty="0">
              <a:highlight>
                <a:srgbClr val="FFFF00"/>
              </a:highlight>
            </a:endParaRPr>
          </a:p>
          <a:p>
            <a:endParaRPr lang="en-US" sz="1800" dirty="0"/>
          </a:p>
          <a:p>
            <a:endParaRPr lang="en-US" sz="1800" b="1" dirty="0">
              <a:latin typeface="Times New Roman" pitchFamily="18" charset="0"/>
            </a:endParaRPr>
          </a:p>
        </p:txBody>
      </p:sp>
      <p:sp>
        <p:nvSpPr>
          <p:cNvPr id="11" name="AutoShape 7" descr="https://nptel.ac.in/content/storage2/courses/117107095/lecturers/lecture_5/image/fig3.jpg"/>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Freeform 2"/>
          <p:cNvSpPr/>
          <p:nvPr/>
        </p:nvSpPr>
        <p:spPr>
          <a:xfrm>
            <a:off x="6575164" y="4749064"/>
            <a:ext cx="448884" cy="750984"/>
          </a:xfrm>
          <a:custGeom>
            <a:avLst/>
            <a:gdLst>
              <a:gd name="connsiteX0" fmla="*/ 448884 w 448884"/>
              <a:gd name="connsiteY0" fmla="*/ 177778 h 750984"/>
              <a:gd name="connsiteX1" fmla="*/ 257815 w 448884"/>
              <a:gd name="connsiteY1" fmla="*/ 357 h 750984"/>
              <a:gd name="connsiteX2" fmla="*/ 12155 w 448884"/>
              <a:gd name="connsiteY2" fmla="*/ 218721 h 750984"/>
              <a:gd name="connsiteX3" fmla="*/ 53099 w 448884"/>
              <a:gd name="connsiteY3" fmla="*/ 518972 h 750984"/>
              <a:gd name="connsiteX4" fmla="*/ 189576 w 448884"/>
              <a:gd name="connsiteY4" fmla="*/ 750984 h 7509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884" h="750984">
                <a:moveTo>
                  <a:pt x="448884" y="177778"/>
                </a:moveTo>
                <a:cubicBezTo>
                  <a:pt x="389743" y="85655"/>
                  <a:pt x="330603" y="-6467"/>
                  <a:pt x="257815" y="357"/>
                </a:cubicBezTo>
                <a:cubicBezTo>
                  <a:pt x="185027" y="7181"/>
                  <a:pt x="46274" y="132285"/>
                  <a:pt x="12155" y="218721"/>
                </a:cubicBezTo>
                <a:cubicBezTo>
                  <a:pt x="-21964" y="305157"/>
                  <a:pt x="23529" y="430261"/>
                  <a:pt x="53099" y="518972"/>
                </a:cubicBezTo>
                <a:cubicBezTo>
                  <a:pt x="82669" y="607683"/>
                  <a:pt x="136122" y="679333"/>
                  <a:pt x="189576" y="750984"/>
                </a:cubicBezTo>
              </a:path>
            </a:pathLst>
          </a:cu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456B9F16-4EBD-4895-B9D2-52F9FECE537B}"/>
              </a:ext>
            </a:extLst>
          </p:cNvPr>
          <p:cNvSpPr>
            <a:spLocks noGrp="1"/>
          </p:cNvSpPr>
          <p:nvPr>
            <p:ph type="sldNum" sz="quarter" idx="12"/>
          </p:nvPr>
        </p:nvSpPr>
        <p:spPr/>
        <p:txBody>
          <a:bodyPr/>
          <a:lstStyle/>
          <a:p>
            <a:fld id="{AD1450A3-5863-4018-97AA-7A53D73041E9}"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9536" y="620688"/>
            <a:ext cx="8229600" cy="1066800"/>
          </a:xfrm>
        </p:spPr>
        <p:txBody>
          <a:bodyPr/>
          <a:lstStyle/>
          <a:p>
            <a:r>
              <a:rPr lang="en-US" b="1" dirty="0">
                <a:solidFill>
                  <a:schemeClr val="tx1"/>
                </a:solidFill>
                <a:latin typeface="Times New Roman" pitchFamily="18" charset="0"/>
                <a:cs typeface="Times New Roman" pitchFamily="18" charset="0"/>
              </a:rPr>
              <a:t>Biased negative clipper</a:t>
            </a:r>
            <a:endParaRPr lang="en-US" b="1" dirty="0">
              <a:solidFill>
                <a:schemeClr val="tx1"/>
              </a:solidFill>
            </a:endParaRPr>
          </a:p>
        </p:txBody>
      </p:sp>
      <p:sp>
        <p:nvSpPr>
          <p:cNvPr id="3" name="Content Placeholder 2"/>
          <p:cNvSpPr>
            <a:spLocks noGrp="1"/>
          </p:cNvSpPr>
          <p:nvPr>
            <p:ph idx="1"/>
          </p:nvPr>
        </p:nvSpPr>
        <p:spPr>
          <a:xfrm>
            <a:off x="1995108" y="1916832"/>
            <a:ext cx="8229600" cy="4527212"/>
          </a:xfrm>
        </p:spPr>
        <p:txBody>
          <a:bodyPr>
            <a:normAutofit/>
          </a:bodyPr>
          <a:lstStyle/>
          <a:p>
            <a:r>
              <a:rPr lang="en-US" sz="2000" dirty="0"/>
              <a:t>When the input signal voltage is </a:t>
            </a:r>
            <a:r>
              <a:rPr lang="en-US" sz="2000" dirty="0">
                <a:solidFill>
                  <a:srgbClr val="FF0000"/>
                </a:solidFill>
              </a:rPr>
              <a:t>negative</a:t>
            </a:r>
            <a:r>
              <a:rPr lang="en-US" sz="2000" dirty="0"/>
              <a:t>. </a:t>
            </a:r>
          </a:p>
          <a:p>
            <a:r>
              <a:rPr lang="en-US" sz="2000" dirty="0"/>
              <a:t>If |</a:t>
            </a:r>
            <a:r>
              <a:rPr lang="en-US" sz="2000" dirty="0">
                <a:highlight>
                  <a:srgbClr val="FFFF00"/>
                </a:highlight>
              </a:rPr>
              <a:t>V</a:t>
            </a:r>
            <a:r>
              <a:rPr lang="en-US" sz="2000" baseline="-25000" dirty="0">
                <a:highlight>
                  <a:srgbClr val="FFFF00"/>
                </a:highlight>
              </a:rPr>
              <a:t>i</a:t>
            </a:r>
            <a:r>
              <a:rPr lang="en-US" sz="2000" dirty="0">
                <a:highlight>
                  <a:srgbClr val="FFFF00"/>
                </a:highlight>
              </a:rPr>
              <a:t> |&gt; |V</a:t>
            </a:r>
            <a:r>
              <a:rPr lang="en-US" sz="2000" baseline="-25000" dirty="0">
                <a:highlight>
                  <a:srgbClr val="FFFF00"/>
                </a:highlight>
              </a:rPr>
              <a:t>R</a:t>
            </a:r>
            <a:r>
              <a:rPr lang="en-US" sz="2000" dirty="0"/>
              <a:t>|   , diode  is </a:t>
            </a:r>
            <a:r>
              <a:rPr lang="en-US" sz="2000" dirty="0">
                <a:highlight>
                  <a:srgbClr val="FFFF00"/>
                </a:highlight>
              </a:rPr>
              <a:t>reversed biased </a:t>
            </a:r>
            <a:r>
              <a:rPr lang="en-US" sz="2000" dirty="0"/>
              <a:t>and </a:t>
            </a:r>
            <a:r>
              <a:rPr lang="en-US" sz="2000" dirty="0">
                <a:highlight>
                  <a:srgbClr val="FFFF00"/>
                </a:highlight>
              </a:rPr>
              <a:t>does not conduct</a:t>
            </a:r>
            <a:r>
              <a:rPr lang="en-US" sz="2000" dirty="0"/>
              <a:t>. Therefore, </a:t>
            </a:r>
            <a:r>
              <a:rPr lang="en-US" sz="2000" dirty="0">
                <a:highlight>
                  <a:srgbClr val="FFFF00"/>
                </a:highlight>
              </a:rPr>
              <a:t>V</a:t>
            </a:r>
            <a:r>
              <a:rPr lang="en-US" sz="2000" baseline="-25000" dirty="0">
                <a:highlight>
                  <a:srgbClr val="FFFF00"/>
                </a:highlight>
              </a:rPr>
              <a:t>o</a:t>
            </a:r>
            <a:r>
              <a:rPr lang="en-US" sz="2000" dirty="0">
                <a:highlight>
                  <a:srgbClr val="FFFF00"/>
                </a:highlight>
              </a:rPr>
              <a:t> = -V</a:t>
            </a:r>
            <a:r>
              <a:rPr lang="en-US" sz="2000" baseline="-25000" dirty="0">
                <a:highlight>
                  <a:srgbClr val="FFFF00"/>
                </a:highlight>
              </a:rPr>
              <a:t>i</a:t>
            </a:r>
            <a:endParaRPr lang="en-US" sz="2000" dirty="0">
              <a:highlight>
                <a:srgbClr val="FFFF00"/>
              </a:highlight>
            </a:endParaRPr>
          </a:p>
          <a:p>
            <a:r>
              <a:rPr lang="en-US" sz="2000" dirty="0"/>
              <a:t>If |V</a:t>
            </a:r>
            <a:r>
              <a:rPr lang="en-US" sz="2000" baseline="-25000" dirty="0"/>
              <a:t>i</a:t>
            </a:r>
            <a:r>
              <a:rPr lang="en-US" sz="2000" dirty="0"/>
              <a:t> |&lt; |V</a:t>
            </a:r>
            <a:r>
              <a:rPr lang="en-US" sz="2000" baseline="-25000" dirty="0"/>
              <a:t>R</a:t>
            </a:r>
            <a:r>
              <a:rPr lang="en-US" sz="2000" dirty="0"/>
              <a:t>| , diode is forward biased and thus, V</a:t>
            </a:r>
            <a:r>
              <a:rPr lang="en-US" sz="2000" baseline="-25000" dirty="0"/>
              <a:t>o</a:t>
            </a:r>
            <a:r>
              <a:rPr lang="en-US" sz="2000" dirty="0"/>
              <a:t>= - V</a:t>
            </a:r>
            <a:r>
              <a:rPr lang="en-US" sz="2000" baseline="-25000" dirty="0"/>
              <a:t>R</a:t>
            </a:r>
            <a:r>
              <a:rPr lang="en-US" sz="2000" dirty="0"/>
              <a:t>-</a:t>
            </a:r>
            <a:r>
              <a:rPr lang="en-US" sz="2000" dirty="0" err="1"/>
              <a:t>V</a:t>
            </a:r>
            <a:r>
              <a:rPr lang="en-US" sz="2000" baseline="-25000" dirty="0" err="1"/>
              <a:t>d</a:t>
            </a:r>
            <a:endParaRPr lang="en-US" sz="2000" baseline="-25000" dirty="0"/>
          </a:p>
          <a:p>
            <a:endParaRPr lang="en-US" sz="2000" dirty="0"/>
          </a:p>
        </p:txBody>
      </p:sp>
      <p:grpSp>
        <p:nvGrpSpPr>
          <p:cNvPr id="5" name="Group 4"/>
          <p:cNvGrpSpPr/>
          <p:nvPr/>
        </p:nvGrpSpPr>
        <p:grpSpPr>
          <a:xfrm>
            <a:off x="2292424" y="3690344"/>
            <a:ext cx="7272808" cy="2753700"/>
            <a:chOff x="768424" y="3690344"/>
            <a:chExt cx="7272808" cy="2753700"/>
          </a:xfrm>
        </p:grpSpPr>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8424" y="3690344"/>
              <a:ext cx="7272808" cy="275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931555" y="5013176"/>
              <a:ext cx="351378" cy="369332"/>
            </a:xfrm>
            <a:prstGeom prst="rect">
              <a:avLst/>
            </a:prstGeom>
            <a:noFill/>
          </p:spPr>
          <p:txBody>
            <a:bodyPr wrap="none" rtlCol="0">
              <a:spAutoFit/>
            </a:bodyPr>
            <a:lstStyle/>
            <a:p>
              <a:r>
                <a:rPr lang="en-US" dirty="0"/>
                <a:t>V</a:t>
              </a:r>
              <a:r>
                <a:rPr lang="en-US" baseline="-25000" dirty="0"/>
                <a:t>i</a:t>
              </a:r>
            </a:p>
          </p:txBody>
        </p:sp>
        <p:sp>
          <p:nvSpPr>
            <p:cNvPr id="6" name="TextBox 5"/>
            <p:cNvSpPr txBox="1"/>
            <p:nvPr/>
          </p:nvSpPr>
          <p:spPr>
            <a:xfrm>
              <a:off x="5436096" y="4933376"/>
              <a:ext cx="394660" cy="369332"/>
            </a:xfrm>
            <a:prstGeom prst="rect">
              <a:avLst/>
            </a:prstGeom>
            <a:noFill/>
          </p:spPr>
          <p:txBody>
            <a:bodyPr wrap="none" rtlCol="0">
              <a:spAutoFit/>
            </a:bodyPr>
            <a:lstStyle/>
            <a:p>
              <a:r>
                <a:rPr lang="en-US" dirty="0"/>
                <a:t>V</a:t>
              </a:r>
              <a:r>
                <a:rPr lang="en-US" baseline="-25000" dirty="0"/>
                <a:t>0</a:t>
              </a:r>
            </a:p>
          </p:txBody>
        </p:sp>
        <p:sp>
          <p:nvSpPr>
            <p:cNvPr id="7" name="TextBox 6"/>
            <p:cNvSpPr txBox="1"/>
            <p:nvPr/>
          </p:nvSpPr>
          <p:spPr>
            <a:xfrm>
              <a:off x="4292296" y="5302708"/>
              <a:ext cx="399468" cy="369332"/>
            </a:xfrm>
            <a:prstGeom prst="rect">
              <a:avLst/>
            </a:prstGeom>
            <a:noFill/>
          </p:spPr>
          <p:txBody>
            <a:bodyPr wrap="none" rtlCol="0">
              <a:spAutoFit/>
            </a:bodyPr>
            <a:lstStyle/>
            <a:p>
              <a:r>
                <a:rPr lang="en-US" dirty="0"/>
                <a:t>V</a:t>
              </a:r>
              <a:r>
                <a:rPr lang="en-US" baseline="-25000" dirty="0"/>
                <a:t>R</a:t>
              </a:r>
            </a:p>
          </p:txBody>
        </p:sp>
      </p:grpSp>
      <p:sp>
        <p:nvSpPr>
          <p:cNvPr id="9" name="TextBox 8"/>
          <p:cNvSpPr txBox="1"/>
          <p:nvPr/>
        </p:nvSpPr>
        <p:spPr>
          <a:xfrm>
            <a:off x="9942892" y="6444044"/>
            <a:ext cx="659476" cy="369332"/>
          </a:xfrm>
          <a:prstGeom prst="rect">
            <a:avLst/>
          </a:prstGeom>
          <a:noFill/>
        </p:spPr>
        <p:txBody>
          <a:bodyPr wrap="none" rtlCol="0">
            <a:spAutoFit/>
          </a:bodyPr>
          <a:lstStyle/>
          <a:p>
            <a:r>
              <a:rPr lang="en-IN" dirty="0"/>
              <a:t>Ref 1</a:t>
            </a:r>
            <a:endParaRPr lang="en-US" dirty="0"/>
          </a:p>
        </p:txBody>
      </p:sp>
      <p:sp>
        <p:nvSpPr>
          <p:cNvPr id="8" name="Slide Number Placeholder 7">
            <a:extLst>
              <a:ext uri="{FF2B5EF4-FFF2-40B4-BE49-F238E27FC236}">
                <a16:creationId xmlns:a16="http://schemas.microsoft.com/office/drawing/2014/main" id="{1BB95B59-585D-43D4-AA99-290AA9B76D56}"/>
              </a:ext>
            </a:extLst>
          </p:cNvPr>
          <p:cNvSpPr>
            <a:spLocks noGrp="1"/>
          </p:cNvSpPr>
          <p:nvPr>
            <p:ph type="sldNum" sz="quarter" idx="12"/>
          </p:nvPr>
        </p:nvSpPr>
        <p:spPr/>
        <p:txBody>
          <a:bodyPr/>
          <a:lstStyle/>
          <a:p>
            <a:fld id="{AD1450A3-5863-4018-97AA-7A53D73041E9}" type="slidenum">
              <a:rPr lang="en-US" smtClean="0"/>
              <a:pPr/>
              <a:t>11</a:t>
            </a:fld>
            <a:endParaRPr lang="en-US"/>
          </a:p>
        </p:txBody>
      </p:sp>
    </p:spTree>
    <p:extLst>
      <p:ext uri="{BB962C8B-B14F-4D97-AF65-F5344CB8AC3E}">
        <p14:creationId xmlns:p14="http://schemas.microsoft.com/office/powerpoint/2010/main" val="2457730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1544" y="836712"/>
            <a:ext cx="8229600" cy="1066800"/>
          </a:xfrm>
        </p:spPr>
        <p:txBody>
          <a:bodyPr/>
          <a:lstStyle/>
          <a:p>
            <a:r>
              <a:rPr lang="en-US" dirty="0"/>
              <a:t>Biased series clippers</a:t>
            </a:r>
          </a:p>
        </p:txBody>
      </p:sp>
      <p:grpSp>
        <p:nvGrpSpPr>
          <p:cNvPr id="4" name="Group 3"/>
          <p:cNvGrpSpPr/>
          <p:nvPr/>
        </p:nvGrpSpPr>
        <p:grpSpPr>
          <a:xfrm>
            <a:off x="1833997" y="2372978"/>
            <a:ext cx="3624165" cy="1905021"/>
            <a:chOff x="1619662" y="674861"/>
            <a:chExt cx="4955920" cy="2304256"/>
          </a:xfrm>
        </p:grpSpPr>
        <p:grpSp>
          <p:nvGrpSpPr>
            <p:cNvPr id="5" name="Group 4"/>
            <p:cNvGrpSpPr/>
            <p:nvPr/>
          </p:nvGrpSpPr>
          <p:grpSpPr>
            <a:xfrm>
              <a:off x="1619662" y="674861"/>
              <a:ext cx="4955920" cy="2304256"/>
              <a:chOff x="1619662" y="674861"/>
              <a:chExt cx="4955920" cy="2304256"/>
            </a:xfrm>
          </p:grpSpPr>
          <p:sp>
            <p:nvSpPr>
              <p:cNvPr id="7" name="Isosceles Triangle 6"/>
              <p:cNvSpPr/>
              <p:nvPr/>
            </p:nvSpPr>
            <p:spPr>
              <a:xfrm>
                <a:off x="3362003" y="674861"/>
                <a:ext cx="1060704" cy="914400"/>
              </a:xfrm>
              <a:prstGeom prst="triangle">
                <a:avLst/>
              </a:prstGeom>
              <a:solidFill>
                <a:schemeClr val="tx1"/>
              </a:solidFill>
              <a:ln w="19050"/>
              <a:scene3d>
                <a:camera prst="orthographicFront">
                  <a:rot lat="54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p:cNvGrpSpPr/>
              <p:nvPr/>
            </p:nvGrpSpPr>
            <p:grpSpPr>
              <a:xfrm>
                <a:off x="3896427" y="1058526"/>
                <a:ext cx="402187" cy="360040"/>
                <a:chOff x="4166248" y="3212976"/>
                <a:chExt cx="507058" cy="530352"/>
              </a:xfrm>
              <a:solidFill>
                <a:schemeClr val="tx1"/>
              </a:solidFill>
            </p:grpSpPr>
            <p:sp>
              <p:nvSpPr>
                <p:cNvPr id="44" name="Isosceles Triangle 43"/>
                <p:cNvSpPr/>
                <p:nvPr/>
              </p:nvSpPr>
              <p:spPr>
                <a:xfrm rot="5400000">
                  <a:off x="4129672" y="3249552"/>
                  <a:ext cx="530352" cy="457200"/>
                </a:xfrm>
                <a:prstGeom prst="triangle">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p:cNvSpPr/>
                <p:nvPr/>
              </p:nvSpPr>
              <p:spPr>
                <a:xfrm>
                  <a:off x="4581883" y="3212976"/>
                  <a:ext cx="91423" cy="530352"/>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9" name="Straight Connector 8"/>
              <p:cNvCxnSpPr/>
              <p:nvPr/>
            </p:nvCxnSpPr>
            <p:spPr>
              <a:xfrm>
                <a:off x="1706051" y="1268760"/>
                <a:ext cx="1254504" cy="1"/>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4331501" y="1225382"/>
                <a:ext cx="1010722" cy="13165"/>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342223" y="1225382"/>
                <a:ext cx="0" cy="516433"/>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grpSp>
            <p:nvGrpSpPr>
              <p:cNvPr id="12" name="Group 11"/>
              <p:cNvGrpSpPr/>
              <p:nvPr/>
            </p:nvGrpSpPr>
            <p:grpSpPr>
              <a:xfrm>
                <a:off x="5266023" y="1610965"/>
                <a:ext cx="184212" cy="931671"/>
                <a:chOff x="6588224" y="2636912"/>
                <a:chExt cx="296416" cy="1140827"/>
              </a:xfrm>
              <a:solidFill>
                <a:schemeClr val="tx1"/>
              </a:solidFill>
            </p:grpSpPr>
            <p:cxnSp>
              <p:nvCxnSpPr>
                <p:cNvPr id="35" name="Straight Connector 34"/>
                <p:cNvCxnSpPr/>
                <p:nvPr/>
              </p:nvCxnSpPr>
              <p:spPr>
                <a:xfrm>
                  <a:off x="6700428" y="2816932"/>
                  <a:ext cx="175828" cy="108012"/>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6588224" y="2969332"/>
                  <a:ext cx="288032" cy="216024"/>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6596608" y="3254539"/>
                  <a:ext cx="288032" cy="216024"/>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6596608" y="3514577"/>
                  <a:ext cx="207640" cy="108012"/>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a:off x="6596608" y="2924944"/>
                  <a:ext cx="279648" cy="44388"/>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a:off x="6600800" y="3185356"/>
                  <a:ext cx="279648" cy="44388"/>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H="1">
                  <a:off x="6600800" y="3470563"/>
                  <a:ext cx="279648" cy="44388"/>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6700428" y="2636912"/>
                  <a:ext cx="0" cy="18002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V="1">
                  <a:off x="6801458" y="3597719"/>
                  <a:ext cx="0" cy="18002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 name="Straight Connector 12"/>
              <p:cNvCxnSpPr/>
              <p:nvPr/>
            </p:nvCxnSpPr>
            <p:spPr>
              <a:xfrm>
                <a:off x="1736095" y="2979117"/>
                <a:ext cx="3654294" cy="0"/>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5378227" y="2469128"/>
                <a:ext cx="5210" cy="509989"/>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355524" y="1225382"/>
                <a:ext cx="598767" cy="0"/>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400274" y="2979117"/>
                <a:ext cx="698033" cy="0"/>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grpSp>
            <p:nvGrpSpPr>
              <p:cNvPr id="17" name="Group 16"/>
              <p:cNvGrpSpPr/>
              <p:nvPr/>
            </p:nvGrpSpPr>
            <p:grpSpPr>
              <a:xfrm>
                <a:off x="6127305" y="1238547"/>
                <a:ext cx="187513" cy="1578382"/>
                <a:chOff x="6487218" y="3146762"/>
                <a:chExt cx="187513" cy="1578382"/>
              </a:xfrm>
            </p:grpSpPr>
            <p:grpSp>
              <p:nvGrpSpPr>
                <p:cNvPr id="31" name="Group 30"/>
                <p:cNvGrpSpPr/>
                <p:nvPr/>
              </p:nvGrpSpPr>
              <p:grpSpPr>
                <a:xfrm>
                  <a:off x="6487218" y="3146762"/>
                  <a:ext cx="158515" cy="160270"/>
                  <a:chOff x="6487218" y="2966741"/>
                  <a:chExt cx="317030" cy="360040"/>
                </a:xfrm>
              </p:grpSpPr>
              <p:cxnSp>
                <p:nvCxnSpPr>
                  <p:cNvPr id="33" name="Straight Connector 32"/>
                  <p:cNvCxnSpPr/>
                  <p:nvPr/>
                </p:nvCxnSpPr>
                <p:spPr>
                  <a:xfrm>
                    <a:off x="6660232" y="2966741"/>
                    <a:ext cx="0"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6487218" y="3140179"/>
                    <a:ext cx="317030" cy="6583"/>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32" name="Straight Connector 31"/>
                <p:cNvCxnSpPr/>
                <p:nvPr/>
              </p:nvCxnSpPr>
              <p:spPr>
                <a:xfrm>
                  <a:off x="6516216" y="4725144"/>
                  <a:ext cx="158515"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8" name="TextBox 17"/>
              <p:cNvSpPr txBox="1"/>
              <p:nvPr/>
            </p:nvSpPr>
            <p:spPr>
              <a:xfrm>
                <a:off x="4880838" y="1954013"/>
                <a:ext cx="423504" cy="446733"/>
              </a:xfrm>
              <a:prstGeom prst="rect">
                <a:avLst/>
              </a:prstGeom>
              <a:noFill/>
            </p:spPr>
            <p:txBody>
              <a:bodyPr wrap="none" rtlCol="0">
                <a:spAutoFit/>
              </a:bodyPr>
              <a:lstStyle/>
              <a:p>
                <a:r>
                  <a:rPr lang="en-US" dirty="0"/>
                  <a:t>R</a:t>
                </a:r>
              </a:p>
            </p:txBody>
          </p:sp>
          <p:sp>
            <p:nvSpPr>
              <p:cNvPr id="19" name="TextBox 18"/>
              <p:cNvSpPr txBox="1"/>
              <p:nvPr/>
            </p:nvSpPr>
            <p:spPr>
              <a:xfrm>
                <a:off x="3967065" y="728697"/>
                <a:ext cx="447618" cy="446733"/>
              </a:xfrm>
              <a:prstGeom prst="rect">
                <a:avLst/>
              </a:prstGeom>
              <a:noFill/>
            </p:spPr>
            <p:txBody>
              <a:bodyPr wrap="none" rtlCol="0">
                <a:spAutoFit/>
              </a:bodyPr>
              <a:lstStyle/>
              <a:p>
                <a:r>
                  <a:rPr lang="en-US" dirty="0"/>
                  <a:t>D</a:t>
                </a:r>
              </a:p>
            </p:txBody>
          </p:sp>
          <p:sp>
            <p:nvSpPr>
              <p:cNvPr id="20" name="TextBox 19"/>
              <p:cNvSpPr txBox="1"/>
              <p:nvPr/>
            </p:nvSpPr>
            <p:spPr>
              <a:xfrm>
                <a:off x="5983289" y="1882440"/>
                <a:ext cx="592293" cy="446733"/>
              </a:xfrm>
              <a:prstGeom prst="rect">
                <a:avLst/>
              </a:prstGeom>
              <a:noFill/>
            </p:spPr>
            <p:txBody>
              <a:bodyPr wrap="none" rtlCol="0">
                <a:spAutoFit/>
              </a:bodyPr>
              <a:lstStyle/>
              <a:p>
                <a:r>
                  <a:rPr lang="en-US" dirty="0"/>
                  <a:t>V0</a:t>
                </a:r>
              </a:p>
            </p:txBody>
          </p:sp>
          <p:sp>
            <p:nvSpPr>
              <p:cNvPr id="21" name="TextBox 20"/>
              <p:cNvSpPr txBox="1"/>
              <p:nvPr/>
            </p:nvSpPr>
            <p:spPr>
              <a:xfrm>
                <a:off x="1619662" y="2002493"/>
                <a:ext cx="480497" cy="446733"/>
              </a:xfrm>
              <a:prstGeom prst="rect">
                <a:avLst/>
              </a:prstGeom>
              <a:noFill/>
            </p:spPr>
            <p:txBody>
              <a:bodyPr wrap="none" rtlCol="0">
                <a:spAutoFit/>
              </a:bodyPr>
              <a:lstStyle/>
              <a:p>
                <a:r>
                  <a:rPr lang="en-US" dirty="0"/>
                  <a:t>V</a:t>
                </a:r>
                <a:r>
                  <a:rPr lang="en-US" baseline="-25000" dirty="0"/>
                  <a:t>i</a:t>
                </a:r>
              </a:p>
            </p:txBody>
          </p:sp>
          <p:grpSp>
            <p:nvGrpSpPr>
              <p:cNvPr id="22" name="Group 21"/>
              <p:cNvGrpSpPr/>
              <p:nvPr/>
            </p:nvGrpSpPr>
            <p:grpSpPr>
              <a:xfrm>
                <a:off x="1736095" y="1318682"/>
                <a:ext cx="187513" cy="1578382"/>
                <a:chOff x="6487218" y="3146762"/>
                <a:chExt cx="187513" cy="1578382"/>
              </a:xfrm>
            </p:grpSpPr>
            <p:grpSp>
              <p:nvGrpSpPr>
                <p:cNvPr id="27" name="Group 26"/>
                <p:cNvGrpSpPr/>
                <p:nvPr/>
              </p:nvGrpSpPr>
              <p:grpSpPr>
                <a:xfrm>
                  <a:off x="6487218" y="3146762"/>
                  <a:ext cx="158515" cy="160270"/>
                  <a:chOff x="6487218" y="2966741"/>
                  <a:chExt cx="317030" cy="360040"/>
                </a:xfrm>
              </p:grpSpPr>
              <p:cxnSp>
                <p:nvCxnSpPr>
                  <p:cNvPr id="29" name="Straight Connector 28"/>
                  <p:cNvCxnSpPr/>
                  <p:nvPr/>
                </p:nvCxnSpPr>
                <p:spPr>
                  <a:xfrm>
                    <a:off x="6660232" y="2966741"/>
                    <a:ext cx="0"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6487218" y="3140179"/>
                    <a:ext cx="317030" cy="6583"/>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8" name="Straight Connector 27"/>
                <p:cNvCxnSpPr/>
                <p:nvPr/>
              </p:nvCxnSpPr>
              <p:spPr>
                <a:xfrm>
                  <a:off x="6516216" y="4725144"/>
                  <a:ext cx="158515"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3" name="Straight Connector 22"/>
              <p:cNvCxnSpPr/>
              <p:nvPr/>
            </p:nvCxnSpPr>
            <p:spPr>
              <a:xfrm>
                <a:off x="2958519" y="974582"/>
                <a:ext cx="4072" cy="682339"/>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3155919" y="1124744"/>
                <a:ext cx="0" cy="285957"/>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2627783" y="1418567"/>
                <a:ext cx="1013166" cy="446733"/>
              </a:xfrm>
              <a:prstGeom prst="rect">
                <a:avLst/>
              </a:prstGeom>
              <a:noFill/>
            </p:spPr>
            <p:txBody>
              <a:bodyPr wrap="none" rtlCol="0">
                <a:spAutoFit/>
              </a:bodyPr>
              <a:lstStyle/>
              <a:p>
                <a:r>
                  <a:rPr lang="en-US" dirty="0"/>
                  <a:t>+       -</a:t>
                </a:r>
              </a:p>
            </p:txBody>
          </p:sp>
          <p:sp>
            <p:nvSpPr>
              <p:cNvPr id="26" name="TextBox 25"/>
              <p:cNvSpPr txBox="1"/>
              <p:nvPr/>
            </p:nvSpPr>
            <p:spPr>
              <a:xfrm>
                <a:off x="2864557" y="1556030"/>
                <a:ext cx="546259" cy="446733"/>
              </a:xfrm>
              <a:prstGeom prst="rect">
                <a:avLst/>
              </a:prstGeom>
              <a:noFill/>
            </p:spPr>
            <p:txBody>
              <a:bodyPr wrap="none" rtlCol="0">
                <a:spAutoFit/>
              </a:bodyPr>
              <a:lstStyle/>
              <a:p>
                <a:r>
                  <a:rPr lang="en-US" dirty="0"/>
                  <a:t>V</a:t>
                </a:r>
                <a:r>
                  <a:rPr lang="en-US" baseline="-25000" dirty="0"/>
                  <a:t>R</a:t>
                </a:r>
              </a:p>
            </p:txBody>
          </p:sp>
        </p:grpSp>
        <p:cxnSp>
          <p:nvCxnSpPr>
            <p:cNvPr id="6" name="Straight Connector 5"/>
            <p:cNvCxnSpPr>
              <a:endCxn id="44" idx="3"/>
            </p:cNvCxnSpPr>
            <p:nvPr/>
          </p:nvCxnSpPr>
          <p:spPr>
            <a:xfrm flipV="1">
              <a:off x="3174430" y="1238547"/>
              <a:ext cx="721997" cy="15107"/>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6400044" y="2384490"/>
            <a:ext cx="3518711" cy="1817967"/>
            <a:chOff x="283101" y="3767674"/>
            <a:chExt cx="4899887" cy="2304256"/>
          </a:xfrm>
        </p:grpSpPr>
        <p:grpSp>
          <p:nvGrpSpPr>
            <p:cNvPr id="47" name="Group 46"/>
            <p:cNvGrpSpPr/>
            <p:nvPr/>
          </p:nvGrpSpPr>
          <p:grpSpPr>
            <a:xfrm>
              <a:off x="283101" y="3767674"/>
              <a:ext cx="4899887" cy="2304256"/>
              <a:chOff x="1706051" y="674861"/>
              <a:chExt cx="4899887" cy="2304256"/>
            </a:xfrm>
          </p:grpSpPr>
          <p:grpSp>
            <p:nvGrpSpPr>
              <p:cNvPr id="49" name="Group 48"/>
              <p:cNvGrpSpPr/>
              <p:nvPr/>
            </p:nvGrpSpPr>
            <p:grpSpPr>
              <a:xfrm>
                <a:off x="1706051" y="674861"/>
                <a:ext cx="4899887" cy="2304256"/>
                <a:chOff x="1706051" y="674861"/>
                <a:chExt cx="4899887" cy="2304256"/>
              </a:xfrm>
            </p:grpSpPr>
            <p:sp>
              <p:nvSpPr>
                <p:cNvPr id="51" name="Isosceles Triangle 50"/>
                <p:cNvSpPr/>
                <p:nvPr/>
              </p:nvSpPr>
              <p:spPr>
                <a:xfrm>
                  <a:off x="3362003" y="674861"/>
                  <a:ext cx="1060704" cy="914400"/>
                </a:xfrm>
                <a:prstGeom prst="triangle">
                  <a:avLst/>
                </a:prstGeom>
                <a:solidFill>
                  <a:schemeClr val="tx1"/>
                </a:solidFill>
                <a:ln w="19050"/>
                <a:scene3d>
                  <a:camera prst="orthographicFront">
                    <a:rot lat="54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Connector 51"/>
                <p:cNvCxnSpPr/>
                <p:nvPr/>
              </p:nvCxnSpPr>
              <p:spPr>
                <a:xfrm>
                  <a:off x="1706051" y="1268760"/>
                  <a:ext cx="1254504" cy="1"/>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V="1">
                  <a:off x="4331501" y="1225382"/>
                  <a:ext cx="1010722" cy="13165"/>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5342223" y="1225382"/>
                  <a:ext cx="0" cy="516433"/>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grpSp>
              <p:nvGrpSpPr>
                <p:cNvPr id="55" name="Group 54"/>
                <p:cNvGrpSpPr/>
                <p:nvPr/>
              </p:nvGrpSpPr>
              <p:grpSpPr>
                <a:xfrm>
                  <a:off x="5266023" y="1610965"/>
                  <a:ext cx="184212" cy="931671"/>
                  <a:chOff x="6588224" y="2636912"/>
                  <a:chExt cx="296416" cy="1140827"/>
                </a:xfrm>
                <a:solidFill>
                  <a:schemeClr val="tx1"/>
                </a:solidFill>
              </p:grpSpPr>
              <p:cxnSp>
                <p:nvCxnSpPr>
                  <p:cNvPr id="78" name="Straight Connector 77"/>
                  <p:cNvCxnSpPr/>
                  <p:nvPr/>
                </p:nvCxnSpPr>
                <p:spPr>
                  <a:xfrm>
                    <a:off x="6700428" y="2816932"/>
                    <a:ext cx="175828" cy="108012"/>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6588224" y="2969332"/>
                    <a:ext cx="288032" cy="216024"/>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6596608" y="3254539"/>
                    <a:ext cx="288032" cy="216024"/>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6596608" y="3514577"/>
                    <a:ext cx="207640" cy="108012"/>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flipH="1">
                    <a:off x="6596608" y="2924944"/>
                    <a:ext cx="279648" cy="44388"/>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flipH="1">
                    <a:off x="6600800" y="3185356"/>
                    <a:ext cx="279648" cy="44388"/>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flipH="1">
                    <a:off x="6600800" y="3470563"/>
                    <a:ext cx="279648" cy="44388"/>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flipV="1">
                    <a:off x="6700428" y="2636912"/>
                    <a:ext cx="0" cy="18002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flipV="1">
                    <a:off x="6801458" y="3597719"/>
                    <a:ext cx="0" cy="18002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6" name="Straight Connector 55"/>
                <p:cNvCxnSpPr/>
                <p:nvPr/>
              </p:nvCxnSpPr>
              <p:spPr>
                <a:xfrm>
                  <a:off x="1736095" y="2979117"/>
                  <a:ext cx="3654294" cy="0"/>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flipV="1">
                  <a:off x="5378227" y="2469128"/>
                  <a:ext cx="5210" cy="509989"/>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5355524" y="1225382"/>
                  <a:ext cx="598767" cy="0"/>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5400274" y="2979117"/>
                  <a:ext cx="698033" cy="0"/>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grpSp>
              <p:nvGrpSpPr>
                <p:cNvPr id="60" name="Group 59"/>
                <p:cNvGrpSpPr/>
                <p:nvPr/>
              </p:nvGrpSpPr>
              <p:grpSpPr>
                <a:xfrm>
                  <a:off x="6127305" y="1238547"/>
                  <a:ext cx="187513" cy="1578382"/>
                  <a:chOff x="6487218" y="3146762"/>
                  <a:chExt cx="187513" cy="1578382"/>
                </a:xfrm>
              </p:grpSpPr>
              <p:grpSp>
                <p:nvGrpSpPr>
                  <p:cNvPr id="74" name="Group 73"/>
                  <p:cNvGrpSpPr/>
                  <p:nvPr/>
                </p:nvGrpSpPr>
                <p:grpSpPr>
                  <a:xfrm>
                    <a:off x="6487218" y="3146762"/>
                    <a:ext cx="158515" cy="160270"/>
                    <a:chOff x="6487218" y="2966741"/>
                    <a:chExt cx="317030" cy="360040"/>
                  </a:xfrm>
                </p:grpSpPr>
                <p:cxnSp>
                  <p:nvCxnSpPr>
                    <p:cNvPr id="76" name="Straight Connector 75"/>
                    <p:cNvCxnSpPr/>
                    <p:nvPr/>
                  </p:nvCxnSpPr>
                  <p:spPr>
                    <a:xfrm>
                      <a:off x="6660232" y="2966741"/>
                      <a:ext cx="0"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6487218" y="3140179"/>
                      <a:ext cx="317030" cy="6583"/>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75" name="Straight Connector 74"/>
                  <p:cNvCxnSpPr/>
                  <p:nvPr/>
                </p:nvCxnSpPr>
                <p:spPr>
                  <a:xfrm>
                    <a:off x="6516216" y="4725144"/>
                    <a:ext cx="158515"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61" name="TextBox 60"/>
                <p:cNvSpPr txBox="1"/>
                <p:nvPr/>
              </p:nvSpPr>
              <p:spPr>
                <a:xfrm>
                  <a:off x="4880838" y="1954012"/>
                  <a:ext cx="431264" cy="468125"/>
                </a:xfrm>
                <a:prstGeom prst="rect">
                  <a:avLst/>
                </a:prstGeom>
                <a:noFill/>
              </p:spPr>
              <p:txBody>
                <a:bodyPr wrap="none" rtlCol="0">
                  <a:spAutoFit/>
                </a:bodyPr>
                <a:lstStyle/>
                <a:p>
                  <a:r>
                    <a:rPr lang="en-US" dirty="0"/>
                    <a:t>R</a:t>
                  </a:r>
                </a:p>
              </p:txBody>
            </p:sp>
            <p:sp>
              <p:nvSpPr>
                <p:cNvPr id="62" name="TextBox 61"/>
                <p:cNvSpPr txBox="1"/>
                <p:nvPr/>
              </p:nvSpPr>
              <p:spPr>
                <a:xfrm>
                  <a:off x="3967065" y="728696"/>
                  <a:ext cx="455820" cy="468125"/>
                </a:xfrm>
                <a:prstGeom prst="rect">
                  <a:avLst/>
                </a:prstGeom>
                <a:noFill/>
              </p:spPr>
              <p:txBody>
                <a:bodyPr wrap="none" rtlCol="0">
                  <a:spAutoFit/>
                </a:bodyPr>
                <a:lstStyle/>
                <a:p>
                  <a:r>
                    <a:rPr lang="en-US" dirty="0"/>
                    <a:t>D</a:t>
                  </a:r>
                </a:p>
              </p:txBody>
            </p:sp>
            <p:sp>
              <p:nvSpPr>
                <p:cNvPr id="63" name="TextBox 62"/>
                <p:cNvSpPr txBox="1"/>
                <p:nvPr/>
              </p:nvSpPr>
              <p:spPr>
                <a:xfrm>
                  <a:off x="5725997" y="1882440"/>
                  <a:ext cx="879941" cy="468125"/>
                </a:xfrm>
                <a:prstGeom prst="rect">
                  <a:avLst/>
                </a:prstGeom>
                <a:noFill/>
              </p:spPr>
              <p:txBody>
                <a:bodyPr wrap="none" rtlCol="0">
                  <a:spAutoFit/>
                </a:bodyPr>
                <a:lstStyle/>
                <a:p>
                  <a:r>
                    <a:rPr lang="en-US" dirty="0"/>
                    <a:t>V</a:t>
                  </a:r>
                  <a:r>
                    <a:rPr lang="en-US" baseline="-25000" dirty="0"/>
                    <a:t>0</a:t>
                  </a:r>
                  <a:r>
                    <a:rPr lang="en-US" dirty="0"/>
                    <a:t>=o</a:t>
                  </a:r>
                </a:p>
              </p:txBody>
            </p:sp>
            <p:grpSp>
              <p:nvGrpSpPr>
                <p:cNvPr id="65" name="Group 64"/>
                <p:cNvGrpSpPr/>
                <p:nvPr/>
              </p:nvGrpSpPr>
              <p:grpSpPr>
                <a:xfrm>
                  <a:off x="1736095" y="1318682"/>
                  <a:ext cx="187513" cy="1578382"/>
                  <a:chOff x="6487218" y="3146762"/>
                  <a:chExt cx="187513" cy="1578382"/>
                </a:xfrm>
              </p:grpSpPr>
              <p:grpSp>
                <p:nvGrpSpPr>
                  <p:cNvPr id="70" name="Group 69"/>
                  <p:cNvGrpSpPr/>
                  <p:nvPr/>
                </p:nvGrpSpPr>
                <p:grpSpPr>
                  <a:xfrm>
                    <a:off x="6487218" y="3146762"/>
                    <a:ext cx="158515" cy="160270"/>
                    <a:chOff x="6487218" y="2966741"/>
                    <a:chExt cx="317030" cy="360040"/>
                  </a:xfrm>
                </p:grpSpPr>
                <p:cxnSp>
                  <p:nvCxnSpPr>
                    <p:cNvPr id="72" name="Straight Connector 71"/>
                    <p:cNvCxnSpPr/>
                    <p:nvPr/>
                  </p:nvCxnSpPr>
                  <p:spPr>
                    <a:xfrm>
                      <a:off x="6660232" y="2966741"/>
                      <a:ext cx="0"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6487218" y="3140179"/>
                      <a:ext cx="317030" cy="6583"/>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71" name="Straight Connector 70"/>
                  <p:cNvCxnSpPr/>
                  <p:nvPr/>
                </p:nvCxnSpPr>
                <p:spPr>
                  <a:xfrm>
                    <a:off x="6516216" y="4725144"/>
                    <a:ext cx="158515"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66" name="Straight Connector 65"/>
                <p:cNvCxnSpPr/>
                <p:nvPr/>
              </p:nvCxnSpPr>
              <p:spPr>
                <a:xfrm>
                  <a:off x="2958519" y="974582"/>
                  <a:ext cx="4072" cy="682339"/>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3155919" y="1124744"/>
                  <a:ext cx="0" cy="285957"/>
                </a:xfrm>
                <a:prstGeom prst="line">
                  <a:avLst/>
                </a:prstGeom>
              </p:spPr>
              <p:style>
                <a:lnRef idx="1">
                  <a:schemeClr val="accent1"/>
                </a:lnRef>
                <a:fillRef idx="0">
                  <a:schemeClr val="accent1"/>
                </a:fillRef>
                <a:effectRef idx="0">
                  <a:schemeClr val="accent1"/>
                </a:effectRef>
                <a:fontRef idx="minor">
                  <a:schemeClr val="tx1"/>
                </a:fontRef>
              </p:style>
            </p:cxnSp>
            <p:sp>
              <p:nvSpPr>
                <p:cNvPr id="68" name="TextBox 67"/>
                <p:cNvSpPr txBox="1"/>
                <p:nvPr/>
              </p:nvSpPr>
              <p:spPr>
                <a:xfrm>
                  <a:off x="2627784" y="1418567"/>
                  <a:ext cx="1031732" cy="468125"/>
                </a:xfrm>
                <a:prstGeom prst="rect">
                  <a:avLst/>
                </a:prstGeom>
                <a:noFill/>
              </p:spPr>
              <p:txBody>
                <a:bodyPr wrap="none" rtlCol="0">
                  <a:spAutoFit/>
                </a:bodyPr>
                <a:lstStyle/>
                <a:p>
                  <a:r>
                    <a:rPr lang="en-US" dirty="0"/>
                    <a:t>+       -</a:t>
                  </a:r>
                </a:p>
              </p:txBody>
            </p:sp>
            <p:sp>
              <p:nvSpPr>
                <p:cNvPr id="69" name="TextBox 68"/>
                <p:cNvSpPr txBox="1"/>
                <p:nvPr/>
              </p:nvSpPr>
              <p:spPr>
                <a:xfrm>
                  <a:off x="2864557" y="1556031"/>
                  <a:ext cx="556268" cy="468125"/>
                </a:xfrm>
                <a:prstGeom prst="rect">
                  <a:avLst/>
                </a:prstGeom>
                <a:noFill/>
              </p:spPr>
              <p:txBody>
                <a:bodyPr wrap="none" rtlCol="0">
                  <a:spAutoFit/>
                </a:bodyPr>
                <a:lstStyle/>
                <a:p>
                  <a:r>
                    <a:rPr lang="en-US" dirty="0"/>
                    <a:t>V</a:t>
                  </a:r>
                  <a:r>
                    <a:rPr lang="en-US" baseline="-25000" dirty="0"/>
                    <a:t>R</a:t>
                  </a:r>
                </a:p>
              </p:txBody>
            </p:sp>
          </p:grpSp>
          <p:cxnSp>
            <p:nvCxnSpPr>
              <p:cNvPr id="50" name="Straight Connector 49"/>
              <p:cNvCxnSpPr/>
              <p:nvPr/>
            </p:nvCxnSpPr>
            <p:spPr>
              <a:xfrm flipV="1">
                <a:off x="3174430" y="1238547"/>
                <a:ext cx="721997" cy="15107"/>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grpSp>
        <p:sp>
          <p:nvSpPr>
            <p:cNvPr id="48" name="TextBox 47"/>
            <p:cNvSpPr txBox="1"/>
            <p:nvPr/>
          </p:nvSpPr>
          <p:spPr>
            <a:xfrm>
              <a:off x="2443125" y="4472764"/>
              <a:ext cx="687345" cy="468125"/>
            </a:xfrm>
            <a:prstGeom prst="rect">
              <a:avLst/>
            </a:prstGeom>
            <a:noFill/>
          </p:spPr>
          <p:txBody>
            <a:bodyPr wrap="none" rtlCol="0">
              <a:spAutoFit/>
            </a:bodyPr>
            <a:lstStyle/>
            <a:p>
              <a:r>
                <a:rPr lang="en-US" dirty="0"/>
                <a:t>R.B</a:t>
              </a:r>
            </a:p>
          </p:txBody>
        </p:sp>
      </p:grpSp>
      <p:sp>
        <p:nvSpPr>
          <p:cNvPr id="87" name="TextBox 86"/>
          <p:cNvSpPr txBox="1"/>
          <p:nvPr/>
        </p:nvSpPr>
        <p:spPr>
          <a:xfrm>
            <a:off x="2764933" y="4531416"/>
            <a:ext cx="686406" cy="369332"/>
          </a:xfrm>
          <a:prstGeom prst="rect">
            <a:avLst/>
          </a:prstGeom>
          <a:noFill/>
        </p:spPr>
        <p:txBody>
          <a:bodyPr wrap="none" rtlCol="0">
            <a:spAutoFit/>
          </a:bodyPr>
          <a:lstStyle/>
          <a:p>
            <a:r>
              <a:rPr lang="en-US" b="1" dirty="0"/>
              <a:t>Fig. 1</a:t>
            </a:r>
          </a:p>
        </p:txBody>
      </p:sp>
      <p:sp>
        <p:nvSpPr>
          <p:cNvPr id="88" name="TextBox 87"/>
          <p:cNvSpPr txBox="1"/>
          <p:nvPr/>
        </p:nvSpPr>
        <p:spPr>
          <a:xfrm>
            <a:off x="6262088" y="3378712"/>
            <a:ext cx="1243429" cy="369332"/>
          </a:xfrm>
          <a:prstGeom prst="rect">
            <a:avLst/>
          </a:prstGeom>
          <a:noFill/>
        </p:spPr>
        <p:txBody>
          <a:bodyPr wrap="square" rtlCol="0">
            <a:spAutoFit/>
          </a:bodyPr>
          <a:lstStyle/>
          <a:p>
            <a:r>
              <a:rPr lang="en-US" dirty="0"/>
              <a:t>V</a:t>
            </a:r>
            <a:r>
              <a:rPr lang="en-US" baseline="-25000" dirty="0"/>
              <a:t>i</a:t>
            </a:r>
            <a:r>
              <a:rPr lang="en-US" dirty="0"/>
              <a:t>&lt;V</a:t>
            </a:r>
            <a:r>
              <a:rPr lang="en-US" baseline="-25000" dirty="0"/>
              <a:t>R </a:t>
            </a:r>
            <a:r>
              <a:rPr lang="en-US" dirty="0"/>
              <a:t>+ </a:t>
            </a:r>
            <a:r>
              <a:rPr lang="en-US" dirty="0" err="1"/>
              <a:t>V</a:t>
            </a:r>
            <a:r>
              <a:rPr lang="en-US" baseline="-25000" dirty="0" err="1"/>
              <a:t>d</a:t>
            </a:r>
            <a:r>
              <a:rPr lang="en-US" dirty="0"/>
              <a:t> </a:t>
            </a:r>
            <a:r>
              <a:rPr lang="en-US" baseline="-25000" dirty="0"/>
              <a:t>  </a:t>
            </a:r>
          </a:p>
        </p:txBody>
      </p:sp>
      <p:sp>
        <p:nvSpPr>
          <p:cNvPr id="89" name="TextBox 88"/>
          <p:cNvSpPr txBox="1"/>
          <p:nvPr/>
        </p:nvSpPr>
        <p:spPr>
          <a:xfrm>
            <a:off x="7452636" y="4452749"/>
            <a:ext cx="686406" cy="369332"/>
          </a:xfrm>
          <a:prstGeom prst="rect">
            <a:avLst/>
          </a:prstGeom>
          <a:noFill/>
        </p:spPr>
        <p:txBody>
          <a:bodyPr wrap="none" rtlCol="0">
            <a:spAutoFit/>
          </a:bodyPr>
          <a:lstStyle/>
          <a:p>
            <a:r>
              <a:rPr lang="en-US" b="1" dirty="0"/>
              <a:t>Fig. 2</a:t>
            </a:r>
          </a:p>
        </p:txBody>
      </p:sp>
      <p:grpSp>
        <p:nvGrpSpPr>
          <p:cNvPr id="90" name="Group 89"/>
          <p:cNvGrpSpPr/>
          <p:nvPr/>
        </p:nvGrpSpPr>
        <p:grpSpPr>
          <a:xfrm>
            <a:off x="7507422" y="3304900"/>
            <a:ext cx="1067719" cy="668862"/>
            <a:chOff x="5513696" y="4189769"/>
            <a:chExt cx="1067719" cy="668862"/>
          </a:xfrm>
        </p:grpSpPr>
        <p:sp>
          <p:nvSpPr>
            <p:cNvPr id="91" name="Freeform 90"/>
            <p:cNvSpPr/>
            <p:nvPr/>
          </p:nvSpPr>
          <p:spPr>
            <a:xfrm>
              <a:off x="5513696" y="4189769"/>
              <a:ext cx="1067719" cy="668862"/>
            </a:xfrm>
            <a:custGeom>
              <a:avLst/>
              <a:gdLst>
                <a:gd name="connsiteX0" fmla="*/ 0 w 1067719"/>
                <a:gd name="connsiteY0" fmla="*/ 368612 h 668862"/>
                <a:gd name="connsiteX1" fmla="*/ 136477 w 1067719"/>
                <a:gd name="connsiteY1" fmla="*/ 82009 h 668862"/>
                <a:gd name="connsiteX2" fmla="*/ 559558 w 1067719"/>
                <a:gd name="connsiteY2" fmla="*/ 122 h 668862"/>
                <a:gd name="connsiteX3" fmla="*/ 846161 w 1067719"/>
                <a:gd name="connsiteY3" fmla="*/ 68361 h 668862"/>
                <a:gd name="connsiteX4" fmla="*/ 1037229 w 1067719"/>
                <a:gd name="connsiteY4" fmla="*/ 245782 h 668862"/>
                <a:gd name="connsiteX5" fmla="*/ 1050877 w 1067719"/>
                <a:gd name="connsiteY5" fmla="*/ 491441 h 668862"/>
                <a:gd name="connsiteX6" fmla="*/ 873456 w 1067719"/>
                <a:gd name="connsiteY6" fmla="*/ 668862 h 668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67719" h="668862">
                  <a:moveTo>
                    <a:pt x="0" y="368612"/>
                  </a:moveTo>
                  <a:cubicBezTo>
                    <a:pt x="21608" y="256018"/>
                    <a:pt x="43217" y="143424"/>
                    <a:pt x="136477" y="82009"/>
                  </a:cubicBezTo>
                  <a:cubicBezTo>
                    <a:pt x="229737" y="20594"/>
                    <a:pt x="441277" y="2397"/>
                    <a:pt x="559558" y="122"/>
                  </a:cubicBezTo>
                  <a:cubicBezTo>
                    <a:pt x="677839" y="-2153"/>
                    <a:pt x="766549" y="27418"/>
                    <a:pt x="846161" y="68361"/>
                  </a:cubicBezTo>
                  <a:cubicBezTo>
                    <a:pt x="925773" y="109304"/>
                    <a:pt x="1003110" y="175269"/>
                    <a:pt x="1037229" y="245782"/>
                  </a:cubicBezTo>
                  <a:cubicBezTo>
                    <a:pt x="1071348" y="316295"/>
                    <a:pt x="1078172" y="420928"/>
                    <a:pt x="1050877" y="491441"/>
                  </a:cubicBezTo>
                  <a:cubicBezTo>
                    <a:pt x="1023582" y="561954"/>
                    <a:pt x="948519" y="615408"/>
                    <a:pt x="873456" y="668862"/>
                  </a:cubicBezTo>
                </a:path>
              </a:pathLst>
            </a:cu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2" name="TextBox 91"/>
            <p:cNvSpPr txBox="1"/>
            <p:nvPr/>
          </p:nvSpPr>
          <p:spPr>
            <a:xfrm>
              <a:off x="5907750" y="4399525"/>
              <a:ext cx="237566" cy="369332"/>
            </a:xfrm>
            <a:prstGeom prst="rect">
              <a:avLst/>
            </a:prstGeom>
            <a:noFill/>
          </p:spPr>
          <p:txBody>
            <a:bodyPr wrap="none" rtlCol="0">
              <a:spAutoFit/>
            </a:bodyPr>
            <a:lstStyle/>
            <a:p>
              <a:r>
                <a:rPr lang="en-US" dirty="0"/>
                <a:t>i</a:t>
              </a:r>
            </a:p>
          </p:txBody>
        </p:sp>
      </p:grpSp>
      <p:sp>
        <p:nvSpPr>
          <p:cNvPr id="93" name="TextBox 92"/>
          <p:cNvSpPr txBox="1"/>
          <p:nvPr/>
        </p:nvSpPr>
        <p:spPr>
          <a:xfrm>
            <a:off x="9942892" y="6453336"/>
            <a:ext cx="659476" cy="369332"/>
          </a:xfrm>
          <a:prstGeom prst="rect">
            <a:avLst/>
          </a:prstGeom>
          <a:noFill/>
        </p:spPr>
        <p:txBody>
          <a:bodyPr wrap="none" rtlCol="0">
            <a:spAutoFit/>
          </a:bodyPr>
          <a:lstStyle/>
          <a:p>
            <a:r>
              <a:rPr lang="en-IN" dirty="0"/>
              <a:t>Ref 1</a:t>
            </a:r>
            <a:endParaRPr lang="en-US" dirty="0"/>
          </a:p>
        </p:txBody>
      </p:sp>
      <p:sp>
        <p:nvSpPr>
          <p:cNvPr id="64" name="Slide Number Placeholder 63">
            <a:extLst>
              <a:ext uri="{FF2B5EF4-FFF2-40B4-BE49-F238E27FC236}">
                <a16:creationId xmlns:a16="http://schemas.microsoft.com/office/drawing/2014/main" id="{BAF52528-9E31-4167-B67C-C98D67AAAEB2}"/>
              </a:ext>
            </a:extLst>
          </p:cNvPr>
          <p:cNvSpPr>
            <a:spLocks noGrp="1"/>
          </p:cNvSpPr>
          <p:nvPr>
            <p:ph type="sldNum" sz="quarter" idx="12"/>
          </p:nvPr>
        </p:nvSpPr>
        <p:spPr/>
        <p:txBody>
          <a:bodyPr/>
          <a:lstStyle/>
          <a:p>
            <a:fld id="{AD1450A3-5863-4018-97AA-7A53D73041E9}" type="slidenum">
              <a:rPr lang="en-US" smtClean="0"/>
              <a:pPr/>
              <a:t>12</a:t>
            </a:fld>
            <a:endParaRPr lang="en-US"/>
          </a:p>
        </p:txBody>
      </p:sp>
    </p:spTree>
    <p:extLst>
      <p:ext uri="{BB962C8B-B14F-4D97-AF65-F5344CB8AC3E}">
        <p14:creationId xmlns:p14="http://schemas.microsoft.com/office/powerpoint/2010/main" val="19092599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96137" y="834396"/>
            <a:ext cx="8229600" cy="3773136"/>
          </a:xfrm>
        </p:spPr>
        <p:txBody>
          <a:bodyPr>
            <a:normAutofit/>
          </a:bodyPr>
          <a:lstStyle/>
          <a:p>
            <a:endParaRPr lang="en-US" sz="1800" b="1" baseline="-25000" dirty="0">
              <a:latin typeface="Times New Roman" pitchFamily="18" charset="0"/>
              <a:cs typeface="Times New Roman" pitchFamily="18" charset="0"/>
            </a:endParaRPr>
          </a:p>
          <a:p>
            <a:endParaRPr lang="en-US" sz="1800" b="1" baseline="-25000" dirty="0">
              <a:latin typeface="Times New Roman" pitchFamily="18" charset="0"/>
              <a:cs typeface="Times New Roman" pitchFamily="18" charset="0"/>
            </a:endParaRPr>
          </a:p>
          <a:p>
            <a:endParaRPr lang="en-US" sz="1800" b="1" baseline="-25000" dirty="0">
              <a:latin typeface="Times New Roman" pitchFamily="18" charset="0"/>
              <a:cs typeface="Times New Roman" pitchFamily="18" charset="0"/>
            </a:endParaRPr>
          </a:p>
          <a:p>
            <a:endParaRPr lang="en-US" sz="1800" b="1" baseline="-25000" dirty="0">
              <a:latin typeface="Times New Roman" pitchFamily="18" charset="0"/>
              <a:cs typeface="Times New Roman" pitchFamily="18" charset="0"/>
            </a:endParaRPr>
          </a:p>
          <a:p>
            <a:endParaRPr lang="en-US" sz="1800" b="1" baseline="-25000" dirty="0">
              <a:latin typeface="Times New Roman" pitchFamily="18" charset="0"/>
              <a:cs typeface="Times New Roman" pitchFamily="18" charset="0"/>
            </a:endParaRPr>
          </a:p>
          <a:p>
            <a:endParaRPr lang="en-US" sz="1800" b="1" baseline="-25000" dirty="0">
              <a:latin typeface="Times New Roman" pitchFamily="18" charset="0"/>
              <a:cs typeface="Times New Roman" pitchFamily="18" charset="0"/>
            </a:endParaRPr>
          </a:p>
          <a:p>
            <a:endParaRPr lang="en-US" sz="1800" b="1" baseline="-25000" dirty="0">
              <a:latin typeface="Times New Roman" pitchFamily="18" charset="0"/>
              <a:cs typeface="Times New Roman" pitchFamily="18" charset="0"/>
            </a:endParaRPr>
          </a:p>
          <a:p>
            <a:endParaRPr lang="en-US" sz="1800" b="1" baseline="-25000" dirty="0">
              <a:latin typeface="Times New Roman" pitchFamily="18" charset="0"/>
              <a:cs typeface="Times New Roman" pitchFamily="18" charset="0"/>
            </a:endParaRPr>
          </a:p>
          <a:p>
            <a:endParaRPr lang="en-US" sz="1800" b="1" baseline="-25000" dirty="0">
              <a:latin typeface="Times New Roman" pitchFamily="18" charset="0"/>
              <a:cs typeface="Times New Roman" pitchFamily="18" charset="0"/>
            </a:endParaRPr>
          </a:p>
          <a:p>
            <a:endParaRPr lang="en-US" sz="1800" b="1" baseline="-25000" dirty="0">
              <a:latin typeface="Times New Roman" pitchFamily="18" charset="0"/>
              <a:cs typeface="Times New Roman" pitchFamily="18" charset="0"/>
            </a:endParaRPr>
          </a:p>
          <a:p>
            <a:endParaRPr lang="en-US" sz="1800" b="1" dirty="0">
              <a:latin typeface="Times New Roman" pitchFamily="18" charset="0"/>
              <a:cs typeface="Times New Roman" pitchFamily="18" charset="0"/>
            </a:endParaRPr>
          </a:p>
          <a:p>
            <a:pPr marL="109728" indent="0">
              <a:buNone/>
            </a:pPr>
            <a:endParaRPr lang="en-US" sz="1800" b="1" dirty="0">
              <a:latin typeface="Times New Roman" pitchFamily="18" charset="0"/>
              <a:cs typeface="Times New Roman" pitchFamily="18" charset="0"/>
            </a:endParaRPr>
          </a:p>
          <a:p>
            <a:endParaRPr lang="en-US" sz="1800" b="1" dirty="0">
              <a:latin typeface="Times New Roman" pitchFamily="18" charset="0"/>
              <a:cs typeface="Times New Roman" pitchFamily="18" charset="0"/>
            </a:endParaRPr>
          </a:p>
        </p:txBody>
      </p:sp>
      <p:grpSp>
        <p:nvGrpSpPr>
          <p:cNvPr id="4" name="Group 3"/>
          <p:cNvGrpSpPr/>
          <p:nvPr/>
        </p:nvGrpSpPr>
        <p:grpSpPr>
          <a:xfrm>
            <a:off x="6058816" y="1628801"/>
            <a:ext cx="4249263" cy="1879371"/>
            <a:chOff x="5555961" y="3583008"/>
            <a:chExt cx="5074090" cy="2382875"/>
          </a:xfrm>
        </p:grpSpPr>
        <p:grpSp>
          <p:nvGrpSpPr>
            <p:cNvPr id="5" name="Group 4"/>
            <p:cNvGrpSpPr/>
            <p:nvPr/>
          </p:nvGrpSpPr>
          <p:grpSpPr>
            <a:xfrm>
              <a:off x="5555961" y="3583008"/>
              <a:ext cx="5074090" cy="2382875"/>
              <a:chOff x="1272574" y="596242"/>
              <a:chExt cx="5074090" cy="2382875"/>
            </a:xfrm>
          </p:grpSpPr>
          <p:grpSp>
            <p:nvGrpSpPr>
              <p:cNvPr id="9" name="Group 8"/>
              <p:cNvGrpSpPr/>
              <p:nvPr/>
            </p:nvGrpSpPr>
            <p:grpSpPr>
              <a:xfrm>
                <a:off x="1272574" y="596242"/>
                <a:ext cx="5074090" cy="2382875"/>
                <a:chOff x="1272574" y="596242"/>
                <a:chExt cx="5074090" cy="2382875"/>
              </a:xfrm>
            </p:grpSpPr>
            <p:sp>
              <p:nvSpPr>
                <p:cNvPr id="11" name="Isosceles Triangle 10"/>
                <p:cNvSpPr/>
                <p:nvPr/>
              </p:nvSpPr>
              <p:spPr>
                <a:xfrm>
                  <a:off x="3362003" y="674861"/>
                  <a:ext cx="1060704" cy="914400"/>
                </a:xfrm>
                <a:prstGeom prst="triangle">
                  <a:avLst/>
                </a:prstGeom>
                <a:solidFill>
                  <a:schemeClr val="tx1"/>
                </a:solidFill>
                <a:ln w="19050"/>
                <a:scene3d>
                  <a:camera prst="orthographicFront">
                    <a:rot lat="54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Times New Roman" pitchFamily="18" charset="0"/>
                    <a:cs typeface="Times New Roman" pitchFamily="18" charset="0"/>
                  </a:endParaRPr>
                </a:p>
              </p:txBody>
            </p:sp>
            <p:cxnSp>
              <p:nvCxnSpPr>
                <p:cNvPr id="12" name="Straight Connector 11"/>
                <p:cNvCxnSpPr/>
                <p:nvPr/>
              </p:nvCxnSpPr>
              <p:spPr>
                <a:xfrm>
                  <a:off x="1706051" y="1268760"/>
                  <a:ext cx="1254504" cy="1"/>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4033029" y="1225384"/>
                  <a:ext cx="1309194" cy="20716"/>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5342223" y="1225382"/>
                  <a:ext cx="0" cy="516433"/>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grpSp>
              <p:nvGrpSpPr>
                <p:cNvPr id="15" name="Group 14"/>
                <p:cNvGrpSpPr/>
                <p:nvPr/>
              </p:nvGrpSpPr>
              <p:grpSpPr>
                <a:xfrm>
                  <a:off x="5266023" y="1610965"/>
                  <a:ext cx="184212" cy="931671"/>
                  <a:chOff x="6588224" y="2636912"/>
                  <a:chExt cx="296416" cy="1140827"/>
                </a:xfrm>
                <a:solidFill>
                  <a:schemeClr val="tx1"/>
                </a:solidFill>
              </p:grpSpPr>
              <p:cxnSp>
                <p:nvCxnSpPr>
                  <p:cNvPr id="38" name="Straight Connector 37"/>
                  <p:cNvCxnSpPr/>
                  <p:nvPr/>
                </p:nvCxnSpPr>
                <p:spPr>
                  <a:xfrm>
                    <a:off x="6700428" y="2816932"/>
                    <a:ext cx="175828" cy="108012"/>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6588224" y="2969332"/>
                    <a:ext cx="288032" cy="216024"/>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6596608" y="3254539"/>
                    <a:ext cx="288032" cy="216024"/>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6596608" y="3514577"/>
                    <a:ext cx="207640" cy="108012"/>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H="1">
                    <a:off x="6596608" y="2924944"/>
                    <a:ext cx="279648" cy="44388"/>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H="1">
                    <a:off x="6600800" y="3185356"/>
                    <a:ext cx="279648" cy="44388"/>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H="1">
                    <a:off x="6600800" y="3470563"/>
                    <a:ext cx="279648" cy="44388"/>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6700428" y="2636912"/>
                    <a:ext cx="0" cy="18002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6801458" y="3597719"/>
                    <a:ext cx="0" cy="18002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6" name="Straight Connector 15"/>
                <p:cNvCxnSpPr/>
                <p:nvPr/>
              </p:nvCxnSpPr>
              <p:spPr>
                <a:xfrm>
                  <a:off x="1736095" y="2979117"/>
                  <a:ext cx="3654294" cy="0"/>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5378227" y="2469128"/>
                  <a:ext cx="5210" cy="509989"/>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355524" y="1225382"/>
                  <a:ext cx="598767" cy="0"/>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400274" y="2979117"/>
                  <a:ext cx="698033" cy="0"/>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grpSp>
              <p:nvGrpSpPr>
                <p:cNvPr id="20" name="Group 19"/>
                <p:cNvGrpSpPr/>
                <p:nvPr/>
              </p:nvGrpSpPr>
              <p:grpSpPr>
                <a:xfrm>
                  <a:off x="6127305" y="1238547"/>
                  <a:ext cx="187513" cy="1578382"/>
                  <a:chOff x="6487218" y="3146762"/>
                  <a:chExt cx="187513" cy="1578382"/>
                </a:xfrm>
              </p:grpSpPr>
              <p:grpSp>
                <p:nvGrpSpPr>
                  <p:cNvPr id="34" name="Group 33"/>
                  <p:cNvGrpSpPr/>
                  <p:nvPr/>
                </p:nvGrpSpPr>
                <p:grpSpPr>
                  <a:xfrm>
                    <a:off x="6487218" y="3146762"/>
                    <a:ext cx="158515" cy="160270"/>
                    <a:chOff x="6487218" y="2966741"/>
                    <a:chExt cx="317030" cy="360040"/>
                  </a:xfrm>
                </p:grpSpPr>
                <p:cxnSp>
                  <p:nvCxnSpPr>
                    <p:cNvPr id="36" name="Straight Connector 35"/>
                    <p:cNvCxnSpPr/>
                    <p:nvPr/>
                  </p:nvCxnSpPr>
                  <p:spPr>
                    <a:xfrm>
                      <a:off x="6660232" y="2966741"/>
                      <a:ext cx="0"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6487218" y="3140179"/>
                      <a:ext cx="317030" cy="6583"/>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35" name="Straight Connector 34"/>
                  <p:cNvCxnSpPr/>
                  <p:nvPr/>
                </p:nvCxnSpPr>
                <p:spPr>
                  <a:xfrm>
                    <a:off x="6516216" y="4725144"/>
                    <a:ext cx="158515"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21" name="TextBox 20"/>
                <p:cNvSpPr txBox="1"/>
                <p:nvPr/>
              </p:nvSpPr>
              <p:spPr>
                <a:xfrm>
                  <a:off x="4880838" y="1954014"/>
                  <a:ext cx="419584" cy="468280"/>
                </a:xfrm>
                <a:prstGeom prst="rect">
                  <a:avLst/>
                </a:prstGeom>
                <a:noFill/>
              </p:spPr>
              <p:txBody>
                <a:bodyPr wrap="none" rtlCol="0">
                  <a:spAutoFit/>
                </a:bodyPr>
                <a:lstStyle/>
                <a:p>
                  <a:r>
                    <a:rPr lang="en-US" b="1" dirty="0">
                      <a:latin typeface="Times New Roman" pitchFamily="18" charset="0"/>
                      <a:cs typeface="Times New Roman" pitchFamily="18" charset="0"/>
                    </a:rPr>
                    <a:t>R</a:t>
                  </a:r>
                </a:p>
              </p:txBody>
            </p:sp>
            <p:sp>
              <p:nvSpPr>
                <p:cNvPr id="22" name="TextBox 21"/>
                <p:cNvSpPr txBox="1"/>
                <p:nvPr/>
              </p:nvSpPr>
              <p:spPr>
                <a:xfrm>
                  <a:off x="3860206" y="596242"/>
                  <a:ext cx="616360" cy="468280"/>
                </a:xfrm>
                <a:prstGeom prst="rect">
                  <a:avLst/>
                </a:prstGeom>
                <a:noFill/>
              </p:spPr>
              <p:txBody>
                <a:bodyPr wrap="none" rtlCol="0">
                  <a:spAutoFit/>
                </a:bodyPr>
                <a:lstStyle/>
                <a:p>
                  <a:r>
                    <a:rPr lang="en-US" b="1" dirty="0">
                      <a:latin typeface="Times New Roman" pitchFamily="18" charset="0"/>
                      <a:cs typeface="Times New Roman" pitchFamily="18" charset="0"/>
                    </a:rPr>
                    <a:t>F.B</a:t>
                  </a:r>
                </a:p>
              </p:txBody>
            </p:sp>
            <p:sp>
              <p:nvSpPr>
                <p:cNvPr id="23" name="TextBox 22"/>
                <p:cNvSpPr txBox="1"/>
                <p:nvPr/>
              </p:nvSpPr>
              <p:spPr>
                <a:xfrm>
                  <a:off x="5835200" y="1882440"/>
                  <a:ext cx="511464" cy="468280"/>
                </a:xfrm>
                <a:prstGeom prst="rect">
                  <a:avLst/>
                </a:prstGeom>
                <a:noFill/>
              </p:spPr>
              <p:txBody>
                <a:bodyPr wrap="none" rtlCol="0">
                  <a:spAutoFit/>
                </a:bodyPr>
                <a:lstStyle/>
                <a:p>
                  <a:r>
                    <a:rPr lang="en-US" b="1" dirty="0">
                      <a:latin typeface="Times New Roman" pitchFamily="18" charset="0"/>
                      <a:cs typeface="Times New Roman" pitchFamily="18" charset="0"/>
                    </a:rPr>
                    <a:t>V</a:t>
                  </a:r>
                  <a:r>
                    <a:rPr lang="en-US" b="1" baseline="-25000" dirty="0">
                      <a:latin typeface="Times New Roman" pitchFamily="18" charset="0"/>
                      <a:cs typeface="Times New Roman" pitchFamily="18" charset="0"/>
                    </a:rPr>
                    <a:t>0</a:t>
                  </a:r>
                </a:p>
              </p:txBody>
            </p:sp>
            <p:sp>
              <p:nvSpPr>
                <p:cNvPr id="24" name="TextBox 23"/>
                <p:cNvSpPr txBox="1"/>
                <p:nvPr/>
              </p:nvSpPr>
              <p:spPr>
                <a:xfrm>
                  <a:off x="1272574" y="2002493"/>
                  <a:ext cx="1591130" cy="468280"/>
                </a:xfrm>
                <a:prstGeom prst="rect">
                  <a:avLst/>
                </a:prstGeom>
                <a:noFill/>
              </p:spPr>
              <p:txBody>
                <a:bodyPr wrap="none" rtlCol="0">
                  <a:spAutoFit/>
                </a:bodyPr>
                <a:lstStyle/>
                <a:p>
                  <a:r>
                    <a:rPr lang="en-US" b="1" dirty="0">
                      <a:latin typeface="Times New Roman" pitchFamily="18" charset="0"/>
                      <a:cs typeface="Times New Roman" pitchFamily="18" charset="0"/>
                    </a:rPr>
                    <a:t>V</a:t>
                  </a:r>
                  <a:r>
                    <a:rPr lang="en-US" b="1" baseline="-25000" dirty="0">
                      <a:latin typeface="Times New Roman" pitchFamily="18" charset="0"/>
                      <a:cs typeface="Times New Roman" pitchFamily="18" charset="0"/>
                    </a:rPr>
                    <a:t>i</a:t>
                  </a:r>
                  <a:r>
                    <a:rPr lang="en-US" b="1" dirty="0">
                      <a:latin typeface="Times New Roman" pitchFamily="18" charset="0"/>
                      <a:cs typeface="Times New Roman" pitchFamily="18" charset="0"/>
                    </a:rPr>
                    <a:t>&gt;V</a:t>
                  </a:r>
                  <a:r>
                    <a:rPr lang="en-US" b="1" baseline="-25000" dirty="0">
                      <a:latin typeface="Times New Roman" pitchFamily="18" charset="0"/>
                      <a:cs typeface="Times New Roman" pitchFamily="18" charset="0"/>
                    </a:rPr>
                    <a:t>R</a:t>
                  </a:r>
                  <a:r>
                    <a:rPr lang="en-US" b="1" dirty="0">
                      <a:latin typeface="Times New Roman" pitchFamily="18" charset="0"/>
                      <a:cs typeface="Times New Roman" pitchFamily="18" charset="0"/>
                    </a:rPr>
                    <a:t> + </a:t>
                  </a:r>
                  <a:r>
                    <a:rPr lang="en-US" b="1" dirty="0" err="1">
                      <a:latin typeface="Times New Roman" pitchFamily="18" charset="0"/>
                      <a:cs typeface="Times New Roman" pitchFamily="18" charset="0"/>
                    </a:rPr>
                    <a:t>V</a:t>
                  </a:r>
                  <a:r>
                    <a:rPr lang="en-US" b="1" baseline="-25000" dirty="0" err="1">
                      <a:latin typeface="Times New Roman" pitchFamily="18" charset="0"/>
                      <a:cs typeface="Times New Roman" pitchFamily="18" charset="0"/>
                    </a:rPr>
                    <a:t>d</a:t>
                  </a:r>
                  <a:endParaRPr lang="en-US" b="1" baseline="-25000" dirty="0">
                    <a:latin typeface="Times New Roman" pitchFamily="18" charset="0"/>
                    <a:cs typeface="Times New Roman" pitchFamily="18" charset="0"/>
                  </a:endParaRPr>
                </a:p>
              </p:txBody>
            </p:sp>
            <p:grpSp>
              <p:nvGrpSpPr>
                <p:cNvPr id="25" name="Group 24"/>
                <p:cNvGrpSpPr/>
                <p:nvPr/>
              </p:nvGrpSpPr>
              <p:grpSpPr>
                <a:xfrm>
                  <a:off x="1736095" y="1318682"/>
                  <a:ext cx="187513" cy="1578382"/>
                  <a:chOff x="6487218" y="3146762"/>
                  <a:chExt cx="187513" cy="1578382"/>
                </a:xfrm>
              </p:grpSpPr>
              <p:grpSp>
                <p:nvGrpSpPr>
                  <p:cNvPr id="30" name="Group 29"/>
                  <p:cNvGrpSpPr/>
                  <p:nvPr/>
                </p:nvGrpSpPr>
                <p:grpSpPr>
                  <a:xfrm>
                    <a:off x="6487218" y="3146762"/>
                    <a:ext cx="158515" cy="160270"/>
                    <a:chOff x="6487218" y="2966741"/>
                    <a:chExt cx="317030" cy="360040"/>
                  </a:xfrm>
                </p:grpSpPr>
                <p:cxnSp>
                  <p:nvCxnSpPr>
                    <p:cNvPr id="32" name="Straight Connector 31"/>
                    <p:cNvCxnSpPr/>
                    <p:nvPr/>
                  </p:nvCxnSpPr>
                  <p:spPr>
                    <a:xfrm>
                      <a:off x="6660232" y="2966741"/>
                      <a:ext cx="0"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487218" y="3140179"/>
                      <a:ext cx="317030" cy="6583"/>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31" name="Straight Connector 30"/>
                  <p:cNvCxnSpPr/>
                  <p:nvPr/>
                </p:nvCxnSpPr>
                <p:spPr>
                  <a:xfrm>
                    <a:off x="6516216" y="4725144"/>
                    <a:ext cx="158515"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6" name="Straight Connector 25"/>
                <p:cNvCxnSpPr/>
                <p:nvPr/>
              </p:nvCxnSpPr>
              <p:spPr>
                <a:xfrm>
                  <a:off x="2958519" y="974582"/>
                  <a:ext cx="4072" cy="682339"/>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3155919" y="1124744"/>
                  <a:ext cx="0" cy="285957"/>
                </a:xfrm>
                <a:prstGeom prst="line">
                  <a:avLst/>
                </a:prstGeom>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2627784" y="1418567"/>
                  <a:ext cx="951722" cy="468280"/>
                </a:xfrm>
                <a:prstGeom prst="rect">
                  <a:avLst/>
                </a:prstGeom>
                <a:noFill/>
              </p:spPr>
              <p:txBody>
                <a:bodyPr wrap="none" rtlCol="0">
                  <a:spAutoFit/>
                </a:bodyPr>
                <a:lstStyle/>
                <a:p>
                  <a:r>
                    <a:rPr lang="en-US" b="1" dirty="0">
                      <a:latin typeface="Times New Roman" pitchFamily="18" charset="0"/>
                      <a:cs typeface="Times New Roman" pitchFamily="18" charset="0"/>
                    </a:rPr>
                    <a:t>+       -</a:t>
                  </a:r>
                </a:p>
              </p:txBody>
            </p:sp>
            <p:sp>
              <p:nvSpPr>
                <p:cNvPr id="29" name="TextBox 28"/>
                <p:cNvSpPr txBox="1"/>
                <p:nvPr/>
              </p:nvSpPr>
              <p:spPr>
                <a:xfrm>
                  <a:off x="2864557" y="1556030"/>
                  <a:ext cx="551662" cy="468280"/>
                </a:xfrm>
                <a:prstGeom prst="rect">
                  <a:avLst/>
                </a:prstGeom>
                <a:noFill/>
              </p:spPr>
              <p:txBody>
                <a:bodyPr wrap="none" rtlCol="0">
                  <a:spAutoFit/>
                </a:bodyPr>
                <a:lstStyle/>
                <a:p>
                  <a:r>
                    <a:rPr lang="en-US" b="1" dirty="0">
                      <a:latin typeface="Times New Roman" pitchFamily="18" charset="0"/>
                      <a:cs typeface="Times New Roman" pitchFamily="18" charset="0"/>
                    </a:rPr>
                    <a:t>V</a:t>
                  </a:r>
                  <a:r>
                    <a:rPr lang="en-US" b="1" baseline="-25000" dirty="0">
                      <a:latin typeface="Times New Roman" pitchFamily="18" charset="0"/>
                      <a:cs typeface="Times New Roman" pitchFamily="18" charset="0"/>
                    </a:rPr>
                    <a:t>R</a:t>
                  </a:r>
                </a:p>
              </p:txBody>
            </p:sp>
          </p:grpSp>
          <p:cxnSp>
            <p:nvCxnSpPr>
              <p:cNvPr id="10" name="Straight Connector 9"/>
              <p:cNvCxnSpPr/>
              <p:nvPr/>
            </p:nvCxnSpPr>
            <p:spPr>
              <a:xfrm flipV="1">
                <a:off x="3174430" y="1238547"/>
                <a:ext cx="721997" cy="15107"/>
              </a:xfrm>
              <a:prstGeom prst="line">
                <a:avLst/>
              </a:prstGeom>
              <a:solidFill>
                <a:schemeClr val="tx1"/>
              </a:solidFill>
              <a:ln w="19050"/>
            </p:spPr>
            <p:style>
              <a:lnRef idx="1">
                <a:schemeClr val="accent1"/>
              </a:lnRef>
              <a:fillRef idx="0">
                <a:schemeClr val="accent1"/>
              </a:fillRef>
              <a:effectRef idx="0">
                <a:schemeClr val="accent1"/>
              </a:effectRef>
              <a:fontRef idx="minor">
                <a:schemeClr val="tx1"/>
              </a:fontRef>
            </p:style>
          </p:cxnSp>
        </p:grpSp>
        <p:cxnSp>
          <p:nvCxnSpPr>
            <p:cNvPr id="6" name="Straight Connector 5"/>
            <p:cNvCxnSpPr/>
            <p:nvPr/>
          </p:nvCxnSpPr>
          <p:spPr>
            <a:xfrm>
              <a:off x="8159314" y="3915444"/>
              <a:ext cx="4072" cy="682339"/>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8316416" y="4099626"/>
              <a:ext cx="0" cy="285957"/>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8103826" y="4509121"/>
              <a:ext cx="521036" cy="468280"/>
            </a:xfrm>
            <a:prstGeom prst="rect">
              <a:avLst/>
            </a:prstGeom>
            <a:noFill/>
          </p:spPr>
          <p:txBody>
            <a:bodyPr wrap="none" rtlCol="0">
              <a:spAutoFit/>
            </a:bodyPr>
            <a:lstStyle/>
            <a:p>
              <a:r>
                <a:rPr lang="en-US" b="1" dirty="0" err="1">
                  <a:latin typeface="Times New Roman" pitchFamily="18" charset="0"/>
                  <a:cs typeface="Times New Roman" pitchFamily="18" charset="0"/>
                </a:rPr>
                <a:t>V</a:t>
              </a:r>
              <a:r>
                <a:rPr lang="en-US" b="1" baseline="-25000" dirty="0" err="1">
                  <a:latin typeface="Times New Roman" pitchFamily="18" charset="0"/>
                  <a:cs typeface="Times New Roman" pitchFamily="18" charset="0"/>
                </a:rPr>
                <a:t>d</a:t>
              </a:r>
              <a:endParaRPr lang="en-US" b="1" baseline="-25000" dirty="0">
                <a:latin typeface="Times New Roman" pitchFamily="18" charset="0"/>
                <a:cs typeface="Times New Roman" pitchFamily="18" charset="0"/>
              </a:endParaRPr>
            </a:p>
          </p:txBody>
        </p:sp>
      </p:grpSp>
      <p:sp>
        <p:nvSpPr>
          <p:cNvPr id="49" name="TextBox 48"/>
          <p:cNvSpPr txBox="1"/>
          <p:nvPr/>
        </p:nvSpPr>
        <p:spPr>
          <a:xfrm>
            <a:off x="1020057" y="1633382"/>
            <a:ext cx="3922933" cy="646331"/>
          </a:xfrm>
          <a:prstGeom prst="rect">
            <a:avLst/>
          </a:prstGeom>
          <a:noFill/>
        </p:spPr>
        <p:txBody>
          <a:bodyPr wrap="none" rtlCol="0">
            <a:spAutoFit/>
          </a:bodyPr>
          <a:lstStyle/>
          <a:p>
            <a:r>
              <a:rPr lang="en-US" b="1" dirty="0">
                <a:latin typeface="Times New Roman" pitchFamily="18" charset="0"/>
                <a:cs typeface="Times New Roman" pitchFamily="18" charset="0"/>
              </a:rPr>
              <a:t>The  output voltage by applying KVL </a:t>
            </a:r>
          </a:p>
          <a:p>
            <a:r>
              <a:rPr lang="en-US" b="1" dirty="0">
                <a:latin typeface="Times New Roman" pitchFamily="18" charset="0"/>
                <a:cs typeface="Times New Roman" pitchFamily="18" charset="0"/>
              </a:rPr>
              <a:t>V</a:t>
            </a:r>
            <a:r>
              <a:rPr lang="en-US" b="1" baseline="-25000" dirty="0">
                <a:latin typeface="Times New Roman" pitchFamily="18" charset="0"/>
                <a:cs typeface="Times New Roman" pitchFamily="18" charset="0"/>
              </a:rPr>
              <a:t>0</a:t>
            </a:r>
            <a:r>
              <a:rPr lang="en-US" b="1" dirty="0">
                <a:latin typeface="Times New Roman" pitchFamily="18" charset="0"/>
                <a:cs typeface="Times New Roman" pitchFamily="18" charset="0"/>
              </a:rPr>
              <a:t>=V</a:t>
            </a:r>
            <a:r>
              <a:rPr lang="en-US" b="1" baseline="-25000" dirty="0">
                <a:latin typeface="Times New Roman" pitchFamily="18" charset="0"/>
                <a:cs typeface="Times New Roman" pitchFamily="18" charset="0"/>
              </a:rPr>
              <a:t>i</a:t>
            </a:r>
            <a:r>
              <a:rPr lang="en-US" b="1" dirty="0">
                <a:latin typeface="Times New Roman" pitchFamily="18" charset="0"/>
                <a:cs typeface="Times New Roman" pitchFamily="18" charset="0"/>
              </a:rPr>
              <a:t>-V</a:t>
            </a:r>
            <a:r>
              <a:rPr lang="en-US" b="1" baseline="-25000" dirty="0">
                <a:latin typeface="Times New Roman" pitchFamily="18" charset="0"/>
                <a:cs typeface="Times New Roman" pitchFamily="18" charset="0"/>
              </a:rPr>
              <a:t>R</a:t>
            </a:r>
            <a:r>
              <a:rPr lang="en-US" b="1" dirty="0">
                <a:latin typeface="Times New Roman" pitchFamily="18" charset="0"/>
                <a:cs typeface="Times New Roman" pitchFamily="18" charset="0"/>
              </a:rPr>
              <a:t>-</a:t>
            </a:r>
            <a:r>
              <a:rPr lang="en-US" b="1" dirty="0" err="1">
                <a:latin typeface="Times New Roman" pitchFamily="18" charset="0"/>
                <a:cs typeface="Times New Roman" pitchFamily="18" charset="0"/>
              </a:rPr>
              <a:t>V</a:t>
            </a:r>
            <a:r>
              <a:rPr lang="en-US" b="1" baseline="-25000" dirty="0" err="1">
                <a:latin typeface="Times New Roman" pitchFamily="18" charset="0"/>
                <a:cs typeface="Times New Roman" pitchFamily="18" charset="0"/>
              </a:rPr>
              <a:t>d</a:t>
            </a:r>
            <a:endParaRPr lang="en-US" b="1" baseline="-25000" dirty="0">
              <a:latin typeface="Times New Roman" pitchFamily="18" charset="0"/>
              <a:cs typeface="Times New Roman" pitchFamily="18" charset="0"/>
            </a:endParaRPr>
          </a:p>
        </p:txBody>
      </p:sp>
      <p:sp>
        <p:nvSpPr>
          <p:cNvPr id="1033" name="Right Arrow 1032"/>
          <p:cNvSpPr/>
          <p:nvPr/>
        </p:nvSpPr>
        <p:spPr>
          <a:xfrm>
            <a:off x="5751140" y="5439594"/>
            <a:ext cx="576064" cy="1017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Times New Roman" pitchFamily="18" charset="0"/>
              <a:cs typeface="Times New Roman" pitchFamily="18" charset="0"/>
            </a:endParaRPr>
          </a:p>
        </p:txBody>
      </p:sp>
      <p:grpSp>
        <p:nvGrpSpPr>
          <p:cNvPr id="1046" name="Group 1045"/>
          <p:cNvGrpSpPr/>
          <p:nvPr/>
        </p:nvGrpSpPr>
        <p:grpSpPr>
          <a:xfrm>
            <a:off x="1988206" y="4716097"/>
            <a:ext cx="2945598" cy="1654799"/>
            <a:chOff x="352485" y="4132833"/>
            <a:chExt cx="2945598" cy="1654799"/>
          </a:xfrm>
        </p:grpSpPr>
        <p:grpSp>
          <p:nvGrpSpPr>
            <p:cNvPr id="1032" name="Group 1031"/>
            <p:cNvGrpSpPr/>
            <p:nvPr/>
          </p:nvGrpSpPr>
          <p:grpSpPr>
            <a:xfrm>
              <a:off x="352485" y="4132833"/>
              <a:ext cx="2945598" cy="1654799"/>
              <a:chOff x="321056" y="3825812"/>
              <a:chExt cx="2945598" cy="1654799"/>
            </a:xfrm>
          </p:grpSpPr>
          <p:grpSp>
            <p:nvGrpSpPr>
              <p:cNvPr id="1031" name="Group 1030"/>
              <p:cNvGrpSpPr/>
              <p:nvPr/>
            </p:nvGrpSpPr>
            <p:grpSpPr>
              <a:xfrm>
                <a:off x="321056" y="3878869"/>
                <a:ext cx="2945598" cy="1601742"/>
                <a:chOff x="574515" y="4365104"/>
                <a:chExt cx="2945598" cy="1601742"/>
              </a:xfrm>
            </p:grpSpPr>
            <p:cxnSp>
              <p:nvCxnSpPr>
                <p:cNvPr id="52" name="Straight Arrow Connector 51"/>
                <p:cNvCxnSpPr/>
                <p:nvPr/>
              </p:nvCxnSpPr>
              <p:spPr>
                <a:xfrm flipV="1">
                  <a:off x="1403648" y="4365104"/>
                  <a:ext cx="0" cy="10801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1403648" y="5445224"/>
                  <a:ext cx="1656184"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6" name="Isosceles Triangle 55"/>
                <p:cNvSpPr/>
                <p:nvPr/>
              </p:nvSpPr>
              <p:spPr>
                <a:xfrm>
                  <a:off x="1403648" y="4931263"/>
                  <a:ext cx="592652" cy="513961"/>
                </a:xfrm>
                <a:prstGeom prst="triangl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Times New Roman" pitchFamily="18" charset="0"/>
                    <a:cs typeface="Times New Roman" pitchFamily="18" charset="0"/>
                  </a:endParaRPr>
                </a:p>
              </p:txBody>
            </p:sp>
            <p:sp>
              <p:nvSpPr>
                <p:cNvPr id="59" name="Isosceles Triangle 58"/>
                <p:cNvSpPr/>
                <p:nvPr/>
              </p:nvSpPr>
              <p:spPr>
                <a:xfrm rot="10800000">
                  <a:off x="1996300" y="5445224"/>
                  <a:ext cx="592652" cy="513961"/>
                </a:xfrm>
                <a:prstGeom prst="triangl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Times New Roman" pitchFamily="18" charset="0"/>
                    <a:cs typeface="Times New Roman" pitchFamily="18" charset="0"/>
                  </a:endParaRPr>
                </a:p>
              </p:txBody>
            </p:sp>
            <p:cxnSp>
              <p:nvCxnSpPr>
                <p:cNvPr id="58" name="Straight Connector 57"/>
                <p:cNvCxnSpPr/>
                <p:nvPr/>
              </p:nvCxnSpPr>
              <p:spPr>
                <a:xfrm>
                  <a:off x="1555526" y="4931263"/>
                  <a:ext cx="592651"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1723061" y="4514328"/>
                  <a:ext cx="431528" cy="323165"/>
                </a:xfrm>
                <a:prstGeom prst="rect">
                  <a:avLst/>
                </a:prstGeom>
                <a:noFill/>
              </p:spPr>
              <p:txBody>
                <a:bodyPr wrap="none" rtlCol="0">
                  <a:spAutoFit/>
                </a:bodyPr>
                <a:lstStyle/>
                <a:p>
                  <a:r>
                    <a:rPr lang="en-US" sz="1500" b="1" dirty="0" err="1">
                      <a:latin typeface="Times New Roman" pitchFamily="18" charset="0"/>
                      <a:cs typeface="Times New Roman" pitchFamily="18" charset="0"/>
                    </a:rPr>
                    <a:t>V</a:t>
                  </a:r>
                  <a:r>
                    <a:rPr lang="en-US" sz="1500" b="1" baseline="-25000" dirty="0" err="1">
                      <a:latin typeface="Times New Roman" pitchFamily="18" charset="0"/>
                      <a:cs typeface="Times New Roman" pitchFamily="18" charset="0"/>
                    </a:rPr>
                    <a:t>m</a:t>
                  </a:r>
                  <a:endParaRPr lang="en-US" sz="1500" b="1" baseline="-25000" dirty="0">
                    <a:latin typeface="Times New Roman" pitchFamily="18" charset="0"/>
                    <a:cs typeface="Times New Roman" pitchFamily="18" charset="0"/>
                  </a:endParaRPr>
                </a:p>
              </p:txBody>
            </p:sp>
            <p:cxnSp>
              <p:nvCxnSpPr>
                <p:cNvPr id="1024" name="Straight Connector 1023"/>
                <p:cNvCxnSpPr/>
                <p:nvPr/>
              </p:nvCxnSpPr>
              <p:spPr>
                <a:xfrm>
                  <a:off x="1331640" y="5262219"/>
                  <a:ext cx="136815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574515" y="4990821"/>
                  <a:ext cx="911748" cy="323165"/>
                </a:xfrm>
                <a:prstGeom prst="rect">
                  <a:avLst/>
                </a:prstGeom>
                <a:noFill/>
              </p:spPr>
              <p:txBody>
                <a:bodyPr wrap="square" rtlCol="0">
                  <a:spAutoFit/>
                </a:bodyPr>
                <a:lstStyle/>
                <a:p>
                  <a:r>
                    <a:rPr lang="en-US" sz="1500" b="1" dirty="0">
                      <a:latin typeface="Times New Roman" pitchFamily="18" charset="0"/>
                      <a:cs typeface="Times New Roman" pitchFamily="18" charset="0"/>
                    </a:rPr>
                    <a:t>V</a:t>
                  </a:r>
                  <a:r>
                    <a:rPr lang="en-US" sz="1500" b="1" baseline="-25000" dirty="0">
                      <a:latin typeface="Times New Roman" pitchFamily="18" charset="0"/>
                      <a:cs typeface="Times New Roman" pitchFamily="18" charset="0"/>
                    </a:rPr>
                    <a:t>R</a:t>
                  </a:r>
                  <a:r>
                    <a:rPr lang="en-US" sz="1500" b="1" dirty="0">
                      <a:latin typeface="Times New Roman" pitchFamily="18" charset="0"/>
                      <a:cs typeface="Times New Roman" pitchFamily="18" charset="0"/>
                    </a:rPr>
                    <a:t> + </a:t>
                  </a:r>
                  <a:r>
                    <a:rPr lang="en-US" sz="1500" b="1" dirty="0" err="1">
                      <a:latin typeface="Times New Roman" pitchFamily="18" charset="0"/>
                      <a:cs typeface="Times New Roman" pitchFamily="18" charset="0"/>
                    </a:rPr>
                    <a:t>V</a:t>
                  </a:r>
                  <a:r>
                    <a:rPr lang="en-US" sz="1500" b="1" baseline="-25000" dirty="0" err="1">
                      <a:latin typeface="Times New Roman" pitchFamily="18" charset="0"/>
                      <a:cs typeface="Times New Roman" pitchFamily="18" charset="0"/>
                    </a:rPr>
                    <a:t>d</a:t>
                  </a:r>
                  <a:endParaRPr lang="en-US" sz="1500" b="1" baseline="-25000" dirty="0">
                    <a:latin typeface="Times New Roman" pitchFamily="18" charset="0"/>
                    <a:cs typeface="Times New Roman" pitchFamily="18" charset="0"/>
                  </a:endParaRPr>
                </a:p>
              </p:txBody>
            </p:sp>
            <p:cxnSp>
              <p:nvCxnSpPr>
                <p:cNvPr id="1028" name="Straight Arrow Connector 1027"/>
                <p:cNvCxnSpPr/>
                <p:nvPr/>
              </p:nvCxnSpPr>
              <p:spPr>
                <a:xfrm flipV="1">
                  <a:off x="2339752" y="4725144"/>
                  <a:ext cx="0" cy="44195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30" name="Straight Arrow Connector 1029"/>
                <p:cNvCxnSpPr/>
                <p:nvPr/>
              </p:nvCxnSpPr>
              <p:spPr>
                <a:xfrm>
                  <a:off x="2339752" y="5327049"/>
                  <a:ext cx="0" cy="4782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2" name="TextBox 71"/>
                <p:cNvSpPr txBox="1"/>
                <p:nvPr/>
              </p:nvSpPr>
              <p:spPr>
                <a:xfrm>
                  <a:off x="2483768" y="4784537"/>
                  <a:ext cx="917239" cy="323165"/>
                </a:xfrm>
                <a:prstGeom prst="rect">
                  <a:avLst/>
                </a:prstGeom>
                <a:noFill/>
              </p:spPr>
              <p:txBody>
                <a:bodyPr wrap="none" rtlCol="0">
                  <a:spAutoFit/>
                </a:bodyPr>
                <a:lstStyle/>
                <a:p>
                  <a:r>
                    <a:rPr lang="en-US" sz="1500" b="1" dirty="0">
                      <a:latin typeface="Times New Roman" pitchFamily="18" charset="0"/>
                      <a:cs typeface="Times New Roman" pitchFamily="18" charset="0"/>
                    </a:rPr>
                    <a:t>Diode on</a:t>
                  </a:r>
                  <a:endParaRPr lang="en-US" sz="1500" b="1" baseline="-25000" dirty="0">
                    <a:latin typeface="Times New Roman" pitchFamily="18" charset="0"/>
                    <a:cs typeface="Times New Roman" pitchFamily="18" charset="0"/>
                  </a:endParaRPr>
                </a:p>
              </p:txBody>
            </p:sp>
            <p:sp>
              <p:nvSpPr>
                <p:cNvPr id="73" name="TextBox 72"/>
                <p:cNvSpPr txBox="1"/>
                <p:nvPr/>
              </p:nvSpPr>
              <p:spPr>
                <a:xfrm>
                  <a:off x="2582036" y="5643681"/>
                  <a:ext cx="938077" cy="323165"/>
                </a:xfrm>
                <a:prstGeom prst="rect">
                  <a:avLst/>
                </a:prstGeom>
                <a:noFill/>
              </p:spPr>
              <p:txBody>
                <a:bodyPr wrap="none" rtlCol="0">
                  <a:spAutoFit/>
                </a:bodyPr>
                <a:lstStyle/>
                <a:p>
                  <a:r>
                    <a:rPr lang="en-US" sz="1500" b="1" dirty="0">
                      <a:latin typeface="Times New Roman" pitchFamily="18" charset="0"/>
                      <a:cs typeface="Times New Roman" pitchFamily="18" charset="0"/>
                    </a:rPr>
                    <a:t>Diode off</a:t>
                  </a:r>
                  <a:endParaRPr lang="en-US" sz="1500" b="1" baseline="-25000" dirty="0">
                    <a:latin typeface="Times New Roman" pitchFamily="18" charset="0"/>
                    <a:cs typeface="Times New Roman" pitchFamily="18" charset="0"/>
                  </a:endParaRPr>
                </a:p>
              </p:txBody>
            </p:sp>
          </p:grpSp>
          <p:sp>
            <p:nvSpPr>
              <p:cNvPr id="75" name="TextBox 74"/>
              <p:cNvSpPr txBox="1"/>
              <p:nvPr/>
            </p:nvSpPr>
            <p:spPr>
              <a:xfrm>
                <a:off x="725073" y="3825812"/>
                <a:ext cx="352276" cy="323165"/>
              </a:xfrm>
              <a:prstGeom prst="rect">
                <a:avLst/>
              </a:prstGeom>
              <a:noFill/>
            </p:spPr>
            <p:txBody>
              <a:bodyPr wrap="none" rtlCol="0">
                <a:spAutoFit/>
              </a:bodyPr>
              <a:lstStyle/>
              <a:p>
                <a:r>
                  <a:rPr lang="en-US" sz="1500" b="1" dirty="0">
                    <a:latin typeface="Times New Roman" pitchFamily="18" charset="0"/>
                    <a:cs typeface="Times New Roman" pitchFamily="18" charset="0"/>
                  </a:rPr>
                  <a:t>V</a:t>
                </a:r>
                <a:r>
                  <a:rPr lang="en-US" sz="1500" b="1" baseline="-25000" dirty="0">
                    <a:latin typeface="Times New Roman" pitchFamily="18" charset="0"/>
                    <a:cs typeface="Times New Roman" pitchFamily="18" charset="0"/>
                  </a:rPr>
                  <a:t>i</a:t>
                </a:r>
              </a:p>
            </p:txBody>
          </p:sp>
        </p:grpSp>
        <p:sp>
          <p:nvSpPr>
            <p:cNvPr id="1039" name="TextBox 1038"/>
            <p:cNvSpPr txBox="1"/>
            <p:nvPr/>
          </p:nvSpPr>
          <p:spPr>
            <a:xfrm>
              <a:off x="1431300" y="5229200"/>
              <a:ext cx="407484" cy="276999"/>
            </a:xfrm>
            <a:prstGeom prst="rect">
              <a:avLst/>
            </a:prstGeom>
            <a:noFill/>
          </p:spPr>
          <p:txBody>
            <a:bodyPr wrap="none" rtlCol="0">
              <a:spAutoFit/>
            </a:bodyPr>
            <a:lstStyle/>
            <a:p>
              <a:r>
                <a:rPr lang="en-US" sz="1200" b="1" dirty="0">
                  <a:latin typeface="Times New Roman" pitchFamily="18" charset="0"/>
                  <a:cs typeface="Times New Roman" pitchFamily="18" charset="0"/>
                </a:rPr>
                <a:t>T/2</a:t>
              </a:r>
            </a:p>
          </p:txBody>
        </p:sp>
        <p:sp>
          <p:nvSpPr>
            <p:cNvPr id="99" name="TextBox 98"/>
            <p:cNvSpPr txBox="1"/>
            <p:nvPr/>
          </p:nvSpPr>
          <p:spPr>
            <a:xfrm>
              <a:off x="2366922" y="5239495"/>
              <a:ext cx="290464" cy="276999"/>
            </a:xfrm>
            <a:prstGeom prst="rect">
              <a:avLst/>
            </a:prstGeom>
            <a:noFill/>
          </p:spPr>
          <p:txBody>
            <a:bodyPr wrap="none" rtlCol="0">
              <a:spAutoFit/>
            </a:bodyPr>
            <a:lstStyle/>
            <a:p>
              <a:r>
                <a:rPr lang="en-US" sz="1200" b="1" dirty="0">
                  <a:latin typeface="Times New Roman" pitchFamily="18" charset="0"/>
                  <a:cs typeface="Times New Roman" pitchFamily="18" charset="0"/>
                </a:rPr>
                <a:t>T</a:t>
              </a:r>
            </a:p>
          </p:txBody>
        </p:sp>
      </p:grpSp>
      <p:grpSp>
        <p:nvGrpSpPr>
          <p:cNvPr id="1045" name="Group 1044"/>
          <p:cNvGrpSpPr/>
          <p:nvPr/>
        </p:nvGrpSpPr>
        <p:grpSpPr>
          <a:xfrm>
            <a:off x="6875064" y="4607532"/>
            <a:ext cx="2081300" cy="1446860"/>
            <a:chOff x="4897827" y="4135042"/>
            <a:chExt cx="2081300" cy="1446860"/>
          </a:xfrm>
        </p:grpSpPr>
        <p:grpSp>
          <p:nvGrpSpPr>
            <p:cNvPr id="1038" name="Group 1037"/>
            <p:cNvGrpSpPr/>
            <p:nvPr/>
          </p:nvGrpSpPr>
          <p:grpSpPr>
            <a:xfrm>
              <a:off x="4897827" y="4135042"/>
              <a:ext cx="2081300" cy="1133177"/>
              <a:chOff x="4847558" y="4014110"/>
              <a:chExt cx="2081300" cy="1133177"/>
            </a:xfrm>
          </p:grpSpPr>
          <p:grpSp>
            <p:nvGrpSpPr>
              <p:cNvPr id="77" name="Group 76"/>
              <p:cNvGrpSpPr/>
              <p:nvPr/>
            </p:nvGrpSpPr>
            <p:grpSpPr>
              <a:xfrm>
                <a:off x="4847558" y="4014110"/>
                <a:ext cx="2081300" cy="1133177"/>
                <a:chOff x="725073" y="3825812"/>
                <a:chExt cx="2081300" cy="1133177"/>
              </a:xfrm>
            </p:grpSpPr>
            <p:grpSp>
              <p:nvGrpSpPr>
                <p:cNvPr id="78" name="Group 77"/>
                <p:cNvGrpSpPr/>
                <p:nvPr/>
              </p:nvGrpSpPr>
              <p:grpSpPr>
                <a:xfrm>
                  <a:off x="1150189" y="3878869"/>
                  <a:ext cx="1656184" cy="1080120"/>
                  <a:chOff x="1403648" y="4365104"/>
                  <a:chExt cx="1656184" cy="1080120"/>
                </a:xfrm>
              </p:grpSpPr>
              <p:cxnSp>
                <p:nvCxnSpPr>
                  <p:cNvPr id="80" name="Straight Arrow Connector 79"/>
                  <p:cNvCxnSpPr/>
                  <p:nvPr/>
                </p:nvCxnSpPr>
                <p:spPr>
                  <a:xfrm flipV="1">
                    <a:off x="1403648" y="4365104"/>
                    <a:ext cx="0" cy="10801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1403648" y="5445224"/>
                    <a:ext cx="1656184"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2" name="Isosceles Triangle 81"/>
                  <p:cNvSpPr/>
                  <p:nvPr/>
                </p:nvSpPr>
                <p:spPr>
                  <a:xfrm>
                    <a:off x="1572221" y="5050799"/>
                    <a:ext cx="592652" cy="394425"/>
                  </a:xfrm>
                  <a:prstGeom prst="triangle">
                    <a:avLst>
                      <a:gd name="adj" fmla="val 52303"/>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Times New Roman" pitchFamily="18" charset="0"/>
                      <a:cs typeface="Times New Roman" pitchFamily="18" charset="0"/>
                    </a:endParaRPr>
                  </a:p>
                </p:txBody>
              </p:sp>
              <p:cxnSp>
                <p:nvCxnSpPr>
                  <p:cNvPr id="84" name="Straight Connector 83"/>
                  <p:cNvCxnSpPr/>
                  <p:nvPr/>
                </p:nvCxnSpPr>
                <p:spPr>
                  <a:xfrm>
                    <a:off x="1579610" y="5050799"/>
                    <a:ext cx="592651" cy="0"/>
                  </a:xfrm>
                  <a:prstGeom prst="line">
                    <a:avLst/>
                  </a:prstGeom>
                </p:spPr>
                <p:style>
                  <a:lnRef idx="1">
                    <a:schemeClr val="accent1"/>
                  </a:lnRef>
                  <a:fillRef idx="0">
                    <a:schemeClr val="accent1"/>
                  </a:fillRef>
                  <a:effectRef idx="0">
                    <a:schemeClr val="accent1"/>
                  </a:effectRef>
                  <a:fontRef idx="minor">
                    <a:schemeClr val="tx1"/>
                  </a:fontRef>
                </p:style>
              </p:cxnSp>
              <p:sp>
                <p:nvSpPr>
                  <p:cNvPr id="85" name="TextBox 84"/>
                  <p:cNvSpPr txBox="1"/>
                  <p:nvPr/>
                </p:nvSpPr>
                <p:spPr>
                  <a:xfrm>
                    <a:off x="1751924" y="4622955"/>
                    <a:ext cx="1130438" cy="323165"/>
                  </a:xfrm>
                  <a:prstGeom prst="rect">
                    <a:avLst/>
                  </a:prstGeom>
                  <a:noFill/>
                </p:spPr>
                <p:txBody>
                  <a:bodyPr wrap="none" rtlCol="0">
                    <a:spAutoFit/>
                  </a:bodyPr>
                  <a:lstStyle/>
                  <a:p>
                    <a:r>
                      <a:rPr lang="en-US" sz="1500" b="1" dirty="0" err="1">
                        <a:latin typeface="Times New Roman" pitchFamily="18" charset="0"/>
                        <a:cs typeface="Times New Roman" pitchFamily="18" charset="0"/>
                      </a:rPr>
                      <a:t>V</a:t>
                    </a:r>
                    <a:r>
                      <a:rPr lang="en-US" sz="1500" b="1" baseline="-25000" dirty="0" err="1">
                        <a:latin typeface="Times New Roman" pitchFamily="18" charset="0"/>
                        <a:cs typeface="Times New Roman" pitchFamily="18" charset="0"/>
                      </a:rPr>
                      <a:t>m</a:t>
                    </a:r>
                    <a:r>
                      <a:rPr lang="en-US" sz="1500" b="1" baseline="-25000" dirty="0">
                        <a:latin typeface="Times New Roman" pitchFamily="18" charset="0"/>
                        <a:cs typeface="Times New Roman" pitchFamily="18" charset="0"/>
                      </a:rPr>
                      <a:t> </a:t>
                    </a:r>
                    <a:r>
                      <a:rPr lang="en-US" sz="1500" b="1" dirty="0">
                        <a:latin typeface="Times New Roman" pitchFamily="18" charset="0"/>
                        <a:cs typeface="Times New Roman" pitchFamily="18" charset="0"/>
                      </a:rPr>
                      <a:t>–V</a:t>
                    </a:r>
                    <a:r>
                      <a:rPr lang="en-US" sz="1500" b="1" baseline="-25000" dirty="0">
                        <a:latin typeface="Times New Roman" pitchFamily="18" charset="0"/>
                        <a:cs typeface="Times New Roman" pitchFamily="18" charset="0"/>
                      </a:rPr>
                      <a:t>R  </a:t>
                    </a:r>
                    <a:r>
                      <a:rPr lang="en-US" sz="1500" b="1" dirty="0">
                        <a:latin typeface="Times New Roman" pitchFamily="18" charset="0"/>
                        <a:cs typeface="Times New Roman" pitchFamily="18" charset="0"/>
                      </a:rPr>
                      <a:t>-</a:t>
                    </a:r>
                    <a:r>
                      <a:rPr lang="en-US" sz="1500" b="1" dirty="0" err="1">
                        <a:latin typeface="Times New Roman" pitchFamily="18" charset="0"/>
                        <a:cs typeface="Times New Roman" pitchFamily="18" charset="0"/>
                      </a:rPr>
                      <a:t>V</a:t>
                    </a:r>
                    <a:r>
                      <a:rPr lang="en-US" sz="1500" b="1" baseline="-25000" dirty="0" err="1">
                        <a:latin typeface="Times New Roman" pitchFamily="18" charset="0"/>
                        <a:cs typeface="Times New Roman" pitchFamily="18" charset="0"/>
                      </a:rPr>
                      <a:t>d</a:t>
                    </a:r>
                    <a:endParaRPr lang="en-US" sz="1500" b="1" baseline="-25000" dirty="0">
                      <a:latin typeface="Times New Roman" pitchFamily="18" charset="0"/>
                      <a:cs typeface="Times New Roman" pitchFamily="18" charset="0"/>
                    </a:endParaRPr>
                  </a:p>
                </p:txBody>
              </p:sp>
            </p:grpSp>
            <p:sp>
              <p:nvSpPr>
                <p:cNvPr id="79" name="TextBox 78"/>
                <p:cNvSpPr txBox="1"/>
                <p:nvPr/>
              </p:nvSpPr>
              <p:spPr>
                <a:xfrm>
                  <a:off x="725073" y="3825812"/>
                  <a:ext cx="370614" cy="323165"/>
                </a:xfrm>
                <a:prstGeom prst="rect">
                  <a:avLst/>
                </a:prstGeom>
                <a:noFill/>
              </p:spPr>
              <p:txBody>
                <a:bodyPr wrap="none" rtlCol="0">
                  <a:spAutoFit/>
                </a:bodyPr>
                <a:lstStyle/>
                <a:p>
                  <a:r>
                    <a:rPr lang="en-US" sz="1500" b="1" dirty="0">
                      <a:latin typeface="Times New Roman" pitchFamily="18" charset="0"/>
                      <a:cs typeface="Times New Roman" pitchFamily="18" charset="0"/>
                    </a:rPr>
                    <a:t>V</a:t>
                  </a:r>
                  <a:r>
                    <a:rPr lang="en-US" sz="1500" b="1" baseline="-25000" dirty="0">
                      <a:latin typeface="Times New Roman" pitchFamily="18" charset="0"/>
                      <a:cs typeface="Times New Roman" pitchFamily="18" charset="0"/>
                    </a:rPr>
                    <a:t>o</a:t>
                  </a:r>
                </a:p>
              </p:txBody>
            </p:sp>
          </p:grpSp>
          <p:cxnSp>
            <p:nvCxnSpPr>
              <p:cNvPr id="1035" name="Straight Connector 1034"/>
              <p:cNvCxnSpPr>
                <a:stCxn id="82" idx="4"/>
              </p:cNvCxnSpPr>
              <p:nvPr/>
            </p:nvCxnSpPr>
            <p:spPr>
              <a:xfrm>
                <a:off x="6033899" y="5147287"/>
                <a:ext cx="719092"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00" name="TextBox 99"/>
            <p:cNvSpPr txBox="1"/>
            <p:nvPr/>
          </p:nvSpPr>
          <p:spPr>
            <a:xfrm>
              <a:off x="6083835" y="5304903"/>
              <a:ext cx="407484" cy="276999"/>
            </a:xfrm>
            <a:prstGeom prst="rect">
              <a:avLst/>
            </a:prstGeom>
            <a:noFill/>
          </p:spPr>
          <p:txBody>
            <a:bodyPr wrap="none" rtlCol="0">
              <a:spAutoFit/>
            </a:bodyPr>
            <a:lstStyle/>
            <a:p>
              <a:r>
                <a:rPr lang="en-US" sz="1200" b="1" dirty="0">
                  <a:latin typeface="Times New Roman" pitchFamily="18" charset="0"/>
                  <a:cs typeface="Times New Roman" pitchFamily="18" charset="0"/>
                </a:rPr>
                <a:t>T/2</a:t>
              </a:r>
            </a:p>
          </p:txBody>
        </p:sp>
        <p:sp>
          <p:nvSpPr>
            <p:cNvPr id="104" name="TextBox 103"/>
            <p:cNvSpPr txBox="1"/>
            <p:nvPr/>
          </p:nvSpPr>
          <p:spPr>
            <a:xfrm>
              <a:off x="6645010" y="5304903"/>
              <a:ext cx="290464" cy="276999"/>
            </a:xfrm>
            <a:prstGeom prst="rect">
              <a:avLst/>
            </a:prstGeom>
            <a:noFill/>
          </p:spPr>
          <p:txBody>
            <a:bodyPr wrap="none" rtlCol="0">
              <a:spAutoFit/>
            </a:bodyPr>
            <a:lstStyle/>
            <a:p>
              <a:r>
                <a:rPr lang="en-US" sz="1200" b="1" dirty="0">
                  <a:latin typeface="Times New Roman" pitchFamily="18" charset="0"/>
                  <a:cs typeface="Times New Roman" pitchFamily="18" charset="0"/>
                </a:rPr>
                <a:t>T</a:t>
              </a:r>
            </a:p>
          </p:txBody>
        </p:sp>
        <p:cxnSp>
          <p:nvCxnSpPr>
            <p:cNvPr id="1044" name="Straight Connector 1043"/>
            <p:cNvCxnSpPr/>
            <p:nvPr/>
          </p:nvCxnSpPr>
          <p:spPr>
            <a:xfrm>
              <a:off x="6228184" y="5229200"/>
              <a:ext cx="18211" cy="75703"/>
            </a:xfrm>
            <a:prstGeom prst="line">
              <a:avLst/>
            </a:prstGeom>
          </p:spPr>
          <p:style>
            <a:lnRef idx="1">
              <a:schemeClr val="accent1"/>
            </a:lnRef>
            <a:fillRef idx="0">
              <a:schemeClr val="accent1"/>
            </a:fillRef>
            <a:effectRef idx="0">
              <a:schemeClr val="accent1"/>
            </a:effectRef>
            <a:fontRef idx="minor">
              <a:schemeClr val="tx1"/>
            </a:fontRef>
          </p:style>
        </p:cxnSp>
      </p:grpSp>
      <p:sp>
        <p:nvSpPr>
          <p:cNvPr id="1047" name="Freeform 1046"/>
          <p:cNvSpPr/>
          <p:nvPr/>
        </p:nvSpPr>
        <p:spPr>
          <a:xfrm>
            <a:off x="7275380" y="2525633"/>
            <a:ext cx="1192221" cy="780823"/>
          </a:xfrm>
          <a:custGeom>
            <a:avLst/>
            <a:gdLst>
              <a:gd name="connsiteX0" fmla="*/ 0 w 1192221"/>
              <a:gd name="connsiteY0" fmla="*/ 576107 h 780823"/>
              <a:gd name="connsiteX1" fmla="*/ 177421 w 1192221"/>
              <a:gd name="connsiteY1" fmla="*/ 71140 h 780823"/>
              <a:gd name="connsiteX2" fmla="*/ 1009935 w 1192221"/>
              <a:gd name="connsiteY2" fmla="*/ 57492 h 780823"/>
              <a:gd name="connsiteX3" fmla="*/ 1187355 w 1192221"/>
              <a:gd name="connsiteY3" fmla="*/ 576107 h 780823"/>
              <a:gd name="connsiteX4" fmla="*/ 900752 w 1192221"/>
              <a:gd name="connsiteY4" fmla="*/ 780823 h 780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2221" h="780823">
                <a:moveTo>
                  <a:pt x="0" y="576107"/>
                </a:moveTo>
                <a:cubicBezTo>
                  <a:pt x="4549" y="366841"/>
                  <a:pt x="9099" y="157576"/>
                  <a:pt x="177421" y="71140"/>
                </a:cubicBezTo>
                <a:cubicBezTo>
                  <a:pt x="345743" y="-15296"/>
                  <a:pt x="841613" y="-26669"/>
                  <a:pt x="1009935" y="57492"/>
                </a:cubicBezTo>
                <a:cubicBezTo>
                  <a:pt x="1178257" y="141653"/>
                  <a:pt x="1205552" y="455552"/>
                  <a:pt x="1187355" y="576107"/>
                </a:cubicBezTo>
                <a:cubicBezTo>
                  <a:pt x="1169158" y="696662"/>
                  <a:pt x="1034955" y="738742"/>
                  <a:pt x="900752" y="780823"/>
                </a:cubicBezTo>
              </a:path>
            </a:pathLst>
          </a:cu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b="1">
              <a:latin typeface="Times New Roman" pitchFamily="18" charset="0"/>
              <a:cs typeface="Times New Roman" pitchFamily="18" charset="0"/>
            </a:endParaRPr>
          </a:p>
        </p:txBody>
      </p:sp>
      <p:sp>
        <p:nvSpPr>
          <p:cNvPr id="1048" name="TextBox 1047"/>
          <p:cNvSpPr txBox="1"/>
          <p:nvPr/>
        </p:nvSpPr>
        <p:spPr>
          <a:xfrm>
            <a:off x="7489436" y="2863302"/>
            <a:ext cx="708848" cy="369332"/>
          </a:xfrm>
          <a:prstGeom prst="rect">
            <a:avLst/>
          </a:prstGeom>
          <a:noFill/>
        </p:spPr>
        <p:txBody>
          <a:bodyPr wrap="none" rtlCol="0">
            <a:spAutoFit/>
          </a:bodyPr>
          <a:lstStyle/>
          <a:p>
            <a:r>
              <a:rPr lang="en-US" b="1" dirty="0">
                <a:latin typeface="Times New Roman" pitchFamily="18" charset="0"/>
                <a:cs typeface="Times New Roman" pitchFamily="18" charset="0"/>
              </a:rPr>
              <a:t>KVL</a:t>
            </a:r>
          </a:p>
        </p:txBody>
      </p:sp>
      <p:cxnSp>
        <p:nvCxnSpPr>
          <p:cNvPr id="1052" name="Straight Arrow Connector 1051"/>
          <p:cNvCxnSpPr/>
          <p:nvPr/>
        </p:nvCxnSpPr>
        <p:spPr>
          <a:xfrm flipV="1">
            <a:off x="7065983" y="5777394"/>
            <a:ext cx="326029" cy="4319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54" name="Straight Arrow Connector 1053"/>
          <p:cNvCxnSpPr/>
          <p:nvPr/>
        </p:nvCxnSpPr>
        <p:spPr>
          <a:xfrm flipV="1">
            <a:off x="7065983" y="5812463"/>
            <a:ext cx="1002811" cy="3968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55" name="TextBox 1054"/>
          <p:cNvSpPr txBox="1"/>
          <p:nvPr/>
        </p:nvSpPr>
        <p:spPr>
          <a:xfrm>
            <a:off x="6604021" y="6209313"/>
            <a:ext cx="2416046" cy="646331"/>
          </a:xfrm>
          <a:prstGeom prst="rect">
            <a:avLst/>
          </a:prstGeom>
          <a:noFill/>
        </p:spPr>
        <p:txBody>
          <a:bodyPr wrap="none" rtlCol="0">
            <a:spAutoFit/>
          </a:bodyPr>
          <a:lstStyle/>
          <a:p>
            <a:r>
              <a:rPr lang="en-US" b="1" dirty="0">
                <a:latin typeface="Times New Roman" pitchFamily="18" charset="0"/>
                <a:cs typeface="Times New Roman" pitchFamily="18" charset="0"/>
              </a:rPr>
              <a:t>V</a:t>
            </a:r>
            <a:r>
              <a:rPr lang="en-US" b="1" baseline="-25000" dirty="0">
                <a:latin typeface="Times New Roman" pitchFamily="18" charset="0"/>
                <a:cs typeface="Times New Roman" pitchFamily="18" charset="0"/>
              </a:rPr>
              <a:t>R</a:t>
            </a:r>
            <a:r>
              <a:rPr lang="en-US" b="1" dirty="0">
                <a:latin typeface="Times New Roman" pitchFamily="18" charset="0"/>
                <a:cs typeface="Times New Roman" pitchFamily="18" charset="0"/>
              </a:rPr>
              <a:t> + </a:t>
            </a:r>
            <a:r>
              <a:rPr lang="en-US" b="1" dirty="0" err="1">
                <a:latin typeface="Times New Roman" pitchFamily="18" charset="0"/>
                <a:cs typeface="Times New Roman" pitchFamily="18" charset="0"/>
              </a:rPr>
              <a:t>V</a:t>
            </a:r>
            <a:r>
              <a:rPr lang="en-US" b="1" baseline="-25000" dirty="0" err="1">
                <a:latin typeface="Times New Roman" pitchFamily="18" charset="0"/>
                <a:cs typeface="Times New Roman" pitchFamily="18" charset="0"/>
              </a:rPr>
              <a:t>d</a:t>
            </a:r>
            <a:endParaRPr lang="en-US" b="1" baseline="-25000" dirty="0">
              <a:latin typeface="Times New Roman" pitchFamily="18" charset="0"/>
              <a:cs typeface="Times New Roman" pitchFamily="18" charset="0"/>
            </a:endParaRPr>
          </a:p>
          <a:p>
            <a:r>
              <a:rPr lang="en-US" b="1" dirty="0">
                <a:latin typeface="Times New Roman" pitchFamily="18" charset="0"/>
                <a:cs typeface="Times New Roman" pitchFamily="18" charset="0"/>
              </a:rPr>
              <a:t> diode change the state</a:t>
            </a:r>
          </a:p>
        </p:txBody>
      </p:sp>
      <p:sp>
        <p:nvSpPr>
          <p:cNvPr id="2" name="Slide Number Placeholder 1">
            <a:extLst>
              <a:ext uri="{FF2B5EF4-FFF2-40B4-BE49-F238E27FC236}">
                <a16:creationId xmlns:a16="http://schemas.microsoft.com/office/drawing/2014/main" id="{615A4B3E-B0A0-426F-A40E-62B3AC1D93DF}"/>
              </a:ext>
            </a:extLst>
          </p:cNvPr>
          <p:cNvSpPr>
            <a:spLocks noGrp="1"/>
          </p:cNvSpPr>
          <p:nvPr>
            <p:ph type="sldNum" sz="quarter" idx="12"/>
          </p:nvPr>
        </p:nvSpPr>
        <p:spPr/>
        <p:txBody>
          <a:bodyPr/>
          <a:lstStyle/>
          <a:p>
            <a:fld id="{AD1450A3-5863-4018-97AA-7A53D73041E9}" type="slidenum">
              <a:rPr lang="en-US" smtClean="0"/>
              <a:pPr/>
              <a:t>13</a:t>
            </a:fld>
            <a:endParaRPr lang="en-US" dirty="0"/>
          </a:p>
        </p:txBody>
      </p:sp>
    </p:spTree>
    <p:extLst>
      <p:ext uri="{BB962C8B-B14F-4D97-AF65-F5344CB8AC3E}">
        <p14:creationId xmlns:p14="http://schemas.microsoft.com/office/powerpoint/2010/main" val="2510165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9536" y="764704"/>
            <a:ext cx="8229600" cy="1066800"/>
          </a:xfrm>
        </p:spPr>
        <p:txBody>
          <a:bodyPr>
            <a:normAutofit/>
          </a:bodyPr>
          <a:lstStyle/>
          <a:p>
            <a:r>
              <a:rPr lang="en-US" sz="2800" b="1" dirty="0"/>
              <a:t>Combination (positive and negative) clipper </a:t>
            </a:r>
          </a:p>
        </p:txBody>
      </p:sp>
      <p:sp>
        <p:nvSpPr>
          <p:cNvPr id="3" name="Content Placeholder 2"/>
          <p:cNvSpPr>
            <a:spLocks noGrp="1"/>
          </p:cNvSpPr>
          <p:nvPr>
            <p:ph idx="1"/>
          </p:nvPr>
        </p:nvSpPr>
        <p:spPr>
          <a:xfrm>
            <a:off x="1959598" y="1553497"/>
            <a:ext cx="8229600" cy="5043855"/>
          </a:xfrm>
        </p:spPr>
        <p:txBody>
          <a:bodyPr>
            <a:normAutofit/>
          </a:bodyPr>
          <a:lstStyle/>
          <a:p>
            <a:r>
              <a:rPr lang="en-US" sz="2400" b="1" dirty="0">
                <a:latin typeface="Times New Roman" panose="02020603050405020304" pitchFamily="18" charset="0"/>
                <a:cs typeface="Times New Roman" panose="02020603050405020304" pitchFamily="18" charset="0"/>
              </a:rPr>
              <a:t>When a portion of both positive and negative of each half cycle of the input voltage is to be clipped (or removed), combination clipper is employed. </a:t>
            </a:r>
          </a:p>
          <a:p>
            <a:r>
              <a:rPr lang="en-US" sz="2400" dirty="0">
                <a:latin typeface="Times New Roman" panose="02020603050405020304" pitchFamily="18" charset="0"/>
                <a:cs typeface="Times New Roman" panose="02020603050405020304" pitchFamily="18" charset="0"/>
              </a:rPr>
              <a:t>The circuit for such a clipper is shown in below fig.</a:t>
            </a:r>
          </a:p>
          <a:p>
            <a:pPr lvl="1"/>
            <a:endParaRPr lang="en-US" sz="1800" dirty="0"/>
          </a:p>
        </p:txBody>
      </p:sp>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4568" y="3466167"/>
            <a:ext cx="10943303" cy="3131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9942892" y="6444044"/>
            <a:ext cx="659476" cy="369332"/>
          </a:xfrm>
          <a:prstGeom prst="rect">
            <a:avLst/>
          </a:prstGeom>
          <a:noFill/>
        </p:spPr>
        <p:txBody>
          <a:bodyPr wrap="none" rtlCol="0">
            <a:spAutoFit/>
          </a:bodyPr>
          <a:lstStyle/>
          <a:p>
            <a:r>
              <a:rPr lang="en-IN" dirty="0"/>
              <a:t>Ref 1</a:t>
            </a:r>
            <a:endParaRPr lang="en-US" dirty="0"/>
          </a:p>
        </p:txBody>
      </p:sp>
      <p:sp>
        <p:nvSpPr>
          <p:cNvPr id="4" name="Slide Number Placeholder 3">
            <a:extLst>
              <a:ext uri="{FF2B5EF4-FFF2-40B4-BE49-F238E27FC236}">
                <a16:creationId xmlns:a16="http://schemas.microsoft.com/office/drawing/2014/main" id="{F2538F45-42CD-47AD-9178-40E27F5BE083}"/>
              </a:ext>
            </a:extLst>
          </p:cNvPr>
          <p:cNvSpPr>
            <a:spLocks noGrp="1"/>
          </p:cNvSpPr>
          <p:nvPr>
            <p:ph type="sldNum" sz="quarter" idx="12"/>
          </p:nvPr>
        </p:nvSpPr>
        <p:spPr/>
        <p:txBody>
          <a:bodyPr/>
          <a:lstStyle/>
          <a:p>
            <a:fld id="{AD1450A3-5863-4018-97AA-7A53D73041E9}" type="slidenum">
              <a:rPr lang="en-US" smtClean="0"/>
              <a:pPr/>
              <a:t>14</a:t>
            </a:fld>
            <a:endParaRPr lang="en-US"/>
          </a:p>
        </p:txBody>
      </p:sp>
    </p:spTree>
    <p:extLst>
      <p:ext uri="{BB962C8B-B14F-4D97-AF65-F5344CB8AC3E}">
        <p14:creationId xmlns:p14="http://schemas.microsoft.com/office/powerpoint/2010/main" val="15972013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836712"/>
            <a:ext cx="8229600" cy="1066800"/>
          </a:xfrm>
        </p:spPr>
        <p:txBody>
          <a:bodyPr/>
          <a:lstStyle/>
          <a:p>
            <a:r>
              <a:rPr lang="en-US" dirty="0"/>
              <a:t>Combination clipper…</a:t>
            </a:r>
          </a:p>
        </p:txBody>
      </p:sp>
      <p:sp>
        <p:nvSpPr>
          <p:cNvPr id="3" name="Content Placeholder 2"/>
          <p:cNvSpPr>
            <a:spLocks noGrp="1"/>
          </p:cNvSpPr>
          <p:nvPr>
            <p:ph idx="1"/>
          </p:nvPr>
        </p:nvSpPr>
        <p:spPr/>
        <p:txBody>
          <a:bodyPr>
            <a:noAutofit/>
          </a:bodyPr>
          <a:lstStyle/>
          <a:p>
            <a:r>
              <a:rPr lang="en-US" sz="2400" b="1" dirty="0">
                <a:latin typeface="Times New Roman" panose="02020603050405020304" pitchFamily="18" charset="0"/>
                <a:cs typeface="Times New Roman" panose="02020603050405020304" pitchFamily="18" charset="0"/>
              </a:rPr>
              <a:t>During the positive half cycle</a:t>
            </a:r>
            <a:r>
              <a:rPr lang="en-US" sz="2400" dirty="0">
                <a:latin typeface="Times New Roman" panose="02020603050405020304" pitchFamily="18" charset="0"/>
                <a:cs typeface="Times New Roman" panose="02020603050405020304" pitchFamily="18" charset="0"/>
              </a:rPr>
              <a:t>, the diode D</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is forward biased by the input supply voltage V</a:t>
            </a:r>
            <a:r>
              <a:rPr lang="en-US" sz="2400"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and reverse biased by the reference voltage V</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On the other hand, the diode D</a:t>
            </a:r>
            <a:r>
              <a:rPr lang="en-US" sz="2400" baseline="-25000" dirty="0">
                <a:latin typeface="Times New Roman" panose="02020603050405020304" pitchFamily="18" charset="0"/>
                <a:cs typeface="Times New Roman" panose="02020603050405020304" pitchFamily="18" charset="0"/>
              </a:rPr>
              <a:t>2 </a:t>
            </a:r>
            <a:r>
              <a:rPr lang="en-US" sz="2400" dirty="0">
                <a:latin typeface="Times New Roman" panose="02020603050405020304" pitchFamily="18" charset="0"/>
                <a:cs typeface="Times New Roman" panose="02020603050405020304" pitchFamily="18" charset="0"/>
              </a:rPr>
              <a:t>is reverse biased by both input supply voltage V</a:t>
            </a:r>
            <a:r>
              <a:rPr lang="en-US" sz="2400"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and reference voltage V</a:t>
            </a:r>
            <a:r>
              <a:rPr lang="en-US" sz="2400" baseline="-25000" dirty="0">
                <a:latin typeface="Times New Roman" panose="02020603050405020304" pitchFamily="18" charset="0"/>
                <a:cs typeface="Times New Roman" panose="02020603050405020304" pitchFamily="18" charset="0"/>
              </a:rPr>
              <a:t>2</a:t>
            </a:r>
            <a:endParaRPr lang="en-US" sz="24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if  Vi&lt;V1, V0=Vi , D1 and D2 off</a:t>
            </a:r>
          </a:p>
          <a:p>
            <a:pPr lvl="1"/>
            <a:r>
              <a:rPr lang="en-US" dirty="0">
                <a:latin typeface="Times New Roman" panose="02020603050405020304" pitchFamily="18" charset="0"/>
                <a:cs typeface="Times New Roman" panose="02020603050405020304" pitchFamily="18" charset="0"/>
              </a:rPr>
              <a:t>If Vi&gt;V1, Vo=V1, D1 on and D2 off </a:t>
            </a:r>
          </a:p>
          <a:p>
            <a:r>
              <a:rPr lang="en-US" sz="2400" b="1" dirty="0">
                <a:latin typeface="Times New Roman" panose="02020603050405020304" pitchFamily="18" charset="0"/>
                <a:cs typeface="Times New Roman" panose="02020603050405020304" pitchFamily="18" charset="0"/>
              </a:rPr>
              <a:t>During the negative half cycle</a:t>
            </a:r>
            <a:r>
              <a:rPr lang="en-US" sz="2400" dirty="0">
                <a:latin typeface="Times New Roman" panose="02020603050405020304" pitchFamily="18" charset="0"/>
                <a:cs typeface="Times New Roman" panose="02020603050405020304" pitchFamily="18" charset="0"/>
              </a:rPr>
              <a:t>, the diode D1 is reverse biased by both input supply voltage Vi and reference  voltage V1. On the other hand, the diode D2 is forward biased by the input supply voltage Vi and reverse biased by the reference voltage V2.</a:t>
            </a:r>
          </a:p>
          <a:p>
            <a:pPr lvl="1"/>
            <a:r>
              <a:rPr lang="en-US" dirty="0">
                <a:latin typeface="Times New Roman" panose="02020603050405020304" pitchFamily="18" charset="0"/>
                <a:cs typeface="Times New Roman" panose="02020603050405020304" pitchFamily="18" charset="0"/>
              </a:rPr>
              <a:t>if  Vi&lt;V2, V0= -Vi , D1 and D2 off</a:t>
            </a:r>
          </a:p>
          <a:p>
            <a:pPr lvl="1"/>
            <a:r>
              <a:rPr lang="en-US" dirty="0">
                <a:latin typeface="Times New Roman" panose="02020603050405020304" pitchFamily="18" charset="0"/>
                <a:cs typeface="Times New Roman" panose="02020603050405020304" pitchFamily="18" charset="0"/>
              </a:rPr>
              <a:t>If Vi&gt;V2, Vo=V1, D1 off and D2 on </a:t>
            </a:r>
          </a:p>
          <a:p>
            <a:endParaRPr lang="en-US" sz="24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9942892" y="6444044"/>
            <a:ext cx="659476" cy="369332"/>
          </a:xfrm>
          <a:prstGeom prst="rect">
            <a:avLst/>
          </a:prstGeom>
          <a:noFill/>
        </p:spPr>
        <p:txBody>
          <a:bodyPr wrap="none" rtlCol="0">
            <a:spAutoFit/>
          </a:bodyPr>
          <a:lstStyle/>
          <a:p>
            <a:r>
              <a:rPr lang="en-IN" dirty="0"/>
              <a:t>Ref 1</a:t>
            </a:r>
            <a:endParaRPr lang="en-US" dirty="0"/>
          </a:p>
        </p:txBody>
      </p:sp>
      <p:sp>
        <p:nvSpPr>
          <p:cNvPr id="5" name="Slide Number Placeholder 4">
            <a:extLst>
              <a:ext uri="{FF2B5EF4-FFF2-40B4-BE49-F238E27FC236}">
                <a16:creationId xmlns:a16="http://schemas.microsoft.com/office/drawing/2014/main" id="{10406CF9-83B3-48E5-9440-EBC8B4101C81}"/>
              </a:ext>
            </a:extLst>
          </p:cNvPr>
          <p:cNvSpPr>
            <a:spLocks noGrp="1"/>
          </p:cNvSpPr>
          <p:nvPr>
            <p:ph type="sldNum" sz="quarter" idx="12"/>
          </p:nvPr>
        </p:nvSpPr>
        <p:spPr/>
        <p:txBody>
          <a:bodyPr/>
          <a:lstStyle/>
          <a:p>
            <a:fld id="{AD1450A3-5863-4018-97AA-7A53D73041E9}" type="slidenum">
              <a:rPr lang="en-US" smtClean="0"/>
              <a:pPr/>
              <a:t>15</a:t>
            </a:fld>
            <a:endParaRPr lang="en-US"/>
          </a:p>
        </p:txBody>
      </p:sp>
    </p:spTree>
    <p:extLst>
      <p:ext uri="{BB962C8B-B14F-4D97-AF65-F5344CB8AC3E}">
        <p14:creationId xmlns:p14="http://schemas.microsoft.com/office/powerpoint/2010/main" val="19958117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7528" y="620688"/>
            <a:ext cx="8229600" cy="1066800"/>
          </a:xfrm>
        </p:spPr>
        <p:txBody>
          <a:bodyPr/>
          <a:lstStyle/>
          <a:p>
            <a:r>
              <a:rPr lang="en-US" dirty="0"/>
              <a:t>Summary of clippers</a:t>
            </a:r>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94503" y="1425676"/>
            <a:ext cx="8667581" cy="5018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9942892" y="6444044"/>
            <a:ext cx="659476" cy="369332"/>
          </a:xfrm>
          <a:prstGeom prst="rect">
            <a:avLst/>
          </a:prstGeom>
          <a:noFill/>
        </p:spPr>
        <p:txBody>
          <a:bodyPr wrap="none" rtlCol="0">
            <a:spAutoFit/>
          </a:bodyPr>
          <a:lstStyle/>
          <a:p>
            <a:r>
              <a:rPr lang="en-IN" dirty="0"/>
              <a:t>Ref 1</a:t>
            </a:r>
            <a:endParaRPr lang="en-US" dirty="0"/>
          </a:p>
        </p:txBody>
      </p:sp>
      <p:sp>
        <p:nvSpPr>
          <p:cNvPr id="3" name="Slide Number Placeholder 2">
            <a:extLst>
              <a:ext uri="{FF2B5EF4-FFF2-40B4-BE49-F238E27FC236}">
                <a16:creationId xmlns:a16="http://schemas.microsoft.com/office/drawing/2014/main" id="{5A3BDB7F-E2FA-4A94-BBE4-31F4A62435CC}"/>
              </a:ext>
            </a:extLst>
          </p:cNvPr>
          <p:cNvSpPr>
            <a:spLocks noGrp="1"/>
          </p:cNvSpPr>
          <p:nvPr>
            <p:ph type="sldNum" sz="quarter" idx="12"/>
          </p:nvPr>
        </p:nvSpPr>
        <p:spPr/>
        <p:txBody>
          <a:bodyPr/>
          <a:lstStyle/>
          <a:p>
            <a:fld id="{AD1450A3-5863-4018-97AA-7A53D73041E9}" type="slidenum">
              <a:rPr lang="en-US" smtClean="0"/>
              <a:pPr/>
              <a:t>16</a:t>
            </a:fld>
            <a:endParaRPr lang="en-US"/>
          </a:p>
        </p:txBody>
      </p:sp>
    </p:spTree>
    <p:extLst>
      <p:ext uri="{BB962C8B-B14F-4D97-AF65-F5344CB8AC3E}">
        <p14:creationId xmlns:p14="http://schemas.microsoft.com/office/powerpoint/2010/main" val="2497836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55019" y="933450"/>
            <a:ext cx="7680687" cy="5159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a:extLst>
              <a:ext uri="{FF2B5EF4-FFF2-40B4-BE49-F238E27FC236}">
                <a16:creationId xmlns:a16="http://schemas.microsoft.com/office/drawing/2014/main" id="{0574C3CA-9C53-47BE-9303-A3F24B3B5988}"/>
              </a:ext>
            </a:extLst>
          </p:cNvPr>
          <p:cNvSpPr>
            <a:spLocks noGrp="1"/>
          </p:cNvSpPr>
          <p:nvPr>
            <p:ph type="sldNum" sz="quarter" idx="12"/>
          </p:nvPr>
        </p:nvSpPr>
        <p:spPr/>
        <p:txBody>
          <a:bodyPr/>
          <a:lstStyle/>
          <a:p>
            <a:fld id="{AD1450A3-5863-4018-97AA-7A53D73041E9}" type="slidenum">
              <a:rPr lang="en-US" smtClean="0"/>
              <a:pPr/>
              <a:t>17</a:t>
            </a:fld>
            <a:endParaRPr lang="en-US"/>
          </a:p>
        </p:txBody>
      </p:sp>
    </p:spTree>
    <p:extLst>
      <p:ext uri="{BB962C8B-B14F-4D97-AF65-F5344CB8AC3E}">
        <p14:creationId xmlns:p14="http://schemas.microsoft.com/office/powerpoint/2010/main" val="42223318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IN" sz="3200" dirty="0">
                <a:latin typeface="Times New Roman" pitchFamily="18" charset="0"/>
                <a:cs typeface="Times New Roman" pitchFamily="18" charset="0"/>
              </a:rPr>
              <a:t>References</a:t>
            </a:r>
            <a:endParaRPr lang="en-US" sz="3200" dirty="0">
              <a:latin typeface="Times New Roman" pitchFamily="18" charset="0"/>
              <a:cs typeface="Times New Roman" pitchFamily="18" charset="0"/>
            </a:endParaRPr>
          </a:p>
        </p:txBody>
      </p:sp>
      <p:sp>
        <p:nvSpPr>
          <p:cNvPr id="4" name="Content Placeholder 3"/>
          <p:cNvSpPr>
            <a:spLocks noGrp="1"/>
          </p:cNvSpPr>
          <p:nvPr>
            <p:ph idx="1"/>
          </p:nvPr>
        </p:nvSpPr>
        <p:spPr/>
        <p:txBody>
          <a:bodyPr/>
          <a:lstStyle/>
          <a:p>
            <a:r>
              <a:rPr lang="en-US" dirty="0">
                <a:latin typeface="Times New Roman" pitchFamily="18" charset="0"/>
                <a:cs typeface="Times New Roman" pitchFamily="18" charset="0"/>
              </a:rPr>
              <a:t>[1] R. </a:t>
            </a:r>
            <a:r>
              <a:rPr lang="en-US" dirty="0" err="1">
                <a:latin typeface="Times New Roman" pitchFamily="18" charset="0"/>
                <a:cs typeface="Times New Roman" pitchFamily="18" charset="0"/>
              </a:rPr>
              <a:t>Boylestad</a:t>
            </a:r>
            <a:r>
              <a:rPr lang="en-US" dirty="0">
                <a:latin typeface="Times New Roman" pitchFamily="18" charset="0"/>
                <a:cs typeface="Times New Roman" pitchFamily="18" charset="0"/>
              </a:rPr>
              <a:t> and L. </a:t>
            </a:r>
            <a:r>
              <a:rPr lang="en-US" dirty="0" err="1">
                <a:latin typeface="Times New Roman" pitchFamily="18" charset="0"/>
                <a:cs typeface="Times New Roman" pitchFamily="18" charset="0"/>
              </a:rPr>
              <a:t>Nashelsky</a:t>
            </a:r>
            <a:r>
              <a:rPr lang="en-US" dirty="0">
                <a:latin typeface="Times New Roman" pitchFamily="18" charset="0"/>
                <a:cs typeface="Times New Roman" pitchFamily="18" charset="0"/>
              </a:rPr>
              <a:t>, ‘Electronic Devices and Circuit Theory’, PHI, 7e, 2001. </a:t>
            </a:r>
          </a:p>
          <a:p>
            <a:endParaRPr lang="en-US" dirty="0"/>
          </a:p>
        </p:txBody>
      </p:sp>
      <p:sp>
        <p:nvSpPr>
          <p:cNvPr id="3" name="Slide Number Placeholder 2">
            <a:extLst>
              <a:ext uri="{FF2B5EF4-FFF2-40B4-BE49-F238E27FC236}">
                <a16:creationId xmlns:a16="http://schemas.microsoft.com/office/drawing/2014/main" id="{C1A51AE1-DF2E-4974-964B-96CFD6A8A346}"/>
              </a:ext>
            </a:extLst>
          </p:cNvPr>
          <p:cNvSpPr>
            <a:spLocks noGrp="1"/>
          </p:cNvSpPr>
          <p:nvPr>
            <p:ph type="sldNum" sz="quarter" idx="12"/>
          </p:nvPr>
        </p:nvSpPr>
        <p:spPr/>
        <p:txBody>
          <a:bodyPr/>
          <a:lstStyle/>
          <a:p>
            <a:fld id="{AD1450A3-5863-4018-97AA-7A53D73041E9}" type="slidenum">
              <a:rPr lang="en-US" smtClean="0"/>
              <a:pPr/>
              <a:t>18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TotalTime>
  <Words>815</Words>
  <Application>Microsoft Office PowerPoint</Application>
  <PresentationFormat>Widescreen</PresentationFormat>
  <Paragraphs>191</Paragraphs>
  <Slides>18</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Light</vt:lpstr>
      <vt:lpstr>DQLMEJ+FranklinGothic-Book</vt:lpstr>
      <vt:lpstr>Times New Roman</vt:lpstr>
      <vt:lpstr>Wingdings</vt:lpstr>
      <vt:lpstr>Office Theme</vt:lpstr>
      <vt:lpstr>BASIC ELECTRONICS (24B11EC111) UNIT-2 Lecture-7 (Clipper Circuits)</vt:lpstr>
      <vt:lpstr>Outline</vt:lpstr>
      <vt:lpstr>Introduction of clipper</vt:lpstr>
      <vt:lpstr>Why clipper used?</vt:lpstr>
      <vt:lpstr>Classification of clippers</vt:lpstr>
      <vt:lpstr>Series and Parallel clippers</vt:lpstr>
      <vt:lpstr>Series…</vt:lpstr>
      <vt:lpstr>Parallel </vt:lpstr>
      <vt:lpstr>Parallel...</vt:lpstr>
      <vt:lpstr>Biased positive clipper  </vt:lpstr>
      <vt:lpstr>Biased negative clipper</vt:lpstr>
      <vt:lpstr>Biased series clippers</vt:lpstr>
      <vt:lpstr>PowerPoint Presentation</vt:lpstr>
      <vt:lpstr>Combination (positive and negative) clipper </vt:lpstr>
      <vt:lpstr>Combination clipper…</vt:lpstr>
      <vt:lpstr>Summary of clippers</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ELECTRONICS (24B11EC111) UNIT-2 Lecture-7 (Clipper Circuits)</dc:title>
  <dc:creator>Rippon Jalali</dc:creator>
  <cp:lastModifiedBy>20402011</cp:lastModifiedBy>
  <cp:revision>8</cp:revision>
  <dcterms:created xsi:type="dcterms:W3CDTF">2025-08-31T17:11:45Z</dcterms:created>
  <dcterms:modified xsi:type="dcterms:W3CDTF">2025-09-01T07:48:36Z</dcterms:modified>
</cp:coreProperties>
</file>