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69"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97" r:id="rId18"/>
    <p:sldId id="285" r:id="rId19"/>
    <p:sldId id="296" r:id="rId20"/>
    <p:sldId id="286" r:id="rId21"/>
    <p:sldId id="288" r:id="rId22"/>
    <p:sldId id="289" r:id="rId23"/>
    <p:sldId id="295" r:id="rId24"/>
    <p:sldId id="290" r:id="rId25"/>
    <p:sldId id="292" r:id="rId26"/>
    <p:sldId id="293" r:id="rId27"/>
    <p:sldId id="298" r:id="rId28"/>
    <p:sldId id="29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8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97B20B-E539-478E-AF6A-9AEB98B7DA9B}" type="datetimeFigureOut">
              <a:rPr lang="en-IN" smtClean="0"/>
              <a:t>18-07-2025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0FBAE-ED9E-472B-803F-CCB8A81C81A5}" type="slidenum">
              <a:rPr lang="en-IN" smtClean="0"/>
              <a:t>‹#›</a:t>
            </a:fld>
            <a:endParaRPr lang="en-IN"/>
          </a:p>
        </p:txBody>
      </p:sp>
    </p:spTree>
    <p:extLst>
      <p:ext uri="{BB962C8B-B14F-4D97-AF65-F5344CB8AC3E}">
        <p14:creationId xmlns:p14="http://schemas.microsoft.com/office/powerpoint/2010/main" val="2516391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4: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5:notes"/>
          <p:cNvSpPr txBox="1">
            <a:spLocks noGrp="1"/>
          </p:cNvSpPr>
          <p:nvPr>
            <p:ph type="body" idx="1"/>
          </p:nvPr>
        </p:nvSpPr>
        <p:spPr>
          <a:xfrm>
            <a:off x="679768" y="4715907"/>
            <a:ext cx="5438140" cy="446770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76" name="Google Shape;176;p15:notes"/>
          <p:cNvSpPr txBox="1">
            <a:spLocks noGrp="1"/>
          </p:cNvSpPr>
          <p:nvPr>
            <p:ph type="sldNum" idx="12"/>
          </p:nvPr>
        </p:nvSpPr>
        <p:spPr>
          <a:xfrm>
            <a:off x="3850443" y="9430091"/>
            <a:ext cx="2945659" cy="49641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6: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7: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8: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9: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0: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1: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2: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3: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4: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5: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6: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2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7: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8: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2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9: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2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6CA8466B-2C8A-401E-4658-98BD05C55FCD}"/>
            </a:ext>
          </a:extLst>
        </p:cNvPr>
        <p:cNvGrpSpPr/>
        <p:nvPr/>
      </p:nvGrpSpPr>
      <p:grpSpPr>
        <a:xfrm>
          <a:off x="0" y="0"/>
          <a:ext cx="0" cy="0"/>
          <a:chOff x="0" y="0"/>
          <a:chExt cx="0" cy="0"/>
        </a:xfrm>
      </p:grpSpPr>
      <p:sp>
        <p:nvSpPr>
          <p:cNvPr id="302" name="Google Shape;302;p30:notes">
            <a:extLst>
              <a:ext uri="{FF2B5EF4-FFF2-40B4-BE49-F238E27FC236}">
                <a16:creationId xmlns:a16="http://schemas.microsoft.com/office/drawing/2014/main" id="{96FD22C5-C599-CB19-643E-0B2664F91514}"/>
              </a:ext>
            </a:extLst>
          </p:cNvPr>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30:notes">
            <a:extLst>
              <a:ext uri="{FF2B5EF4-FFF2-40B4-BE49-F238E27FC236}">
                <a16:creationId xmlns:a16="http://schemas.microsoft.com/office/drawing/2014/main" id="{8D4A2ED9-DFF2-114C-96C9-06A88E2BCA9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02827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0: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3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35164669-7575-99BB-A118-7DD62D5C0F78}"/>
            </a:ext>
          </a:extLst>
        </p:cNvPr>
        <p:cNvGrpSpPr/>
        <p:nvPr/>
      </p:nvGrpSpPr>
      <p:grpSpPr>
        <a:xfrm>
          <a:off x="0" y="0"/>
          <a:ext cx="0" cy="0"/>
          <a:chOff x="0" y="0"/>
          <a:chExt cx="0" cy="0"/>
        </a:xfrm>
      </p:grpSpPr>
      <p:sp>
        <p:nvSpPr>
          <p:cNvPr id="311" name="Google Shape;311;p31:notes">
            <a:extLst>
              <a:ext uri="{FF2B5EF4-FFF2-40B4-BE49-F238E27FC236}">
                <a16:creationId xmlns:a16="http://schemas.microsoft.com/office/drawing/2014/main" id="{5E791927-B2A8-58B2-FBAD-B5F0298F09AE}"/>
              </a:ext>
            </a:extLst>
          </p:cNvPr>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1:notes">
            <a:extLst>
              <a:ext uri="{FF2B5EF4-FFF2-40B4-BE49-F238E27FC236}">
                <a16:creationId xmlns:a16="http://schemas.microsoft.com/office/drawing/2014/main" id="{DA91DB57-2ED1-04C9-12BC-5512372A9FD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5411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1: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3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33: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3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4: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a:extLst>
            <a:ext uri="{FF2B5EF4-FFF2-40B4-BE49-F238E27FC236}">
              <a16:creationId xmlns:a16="http://schemas.microsoft.com/office/drawing/2014/main" id="{3980D4AD-A6AA-70CF-5D08-80D46CC7DAEF}"/>
            </a:ext>
          </a:extLst>
        </p:cNvPr>
        <p:cNvGrpSpPr/>
        <p:nvPr/>
      </p:nvGrpSpPr>
      <p:grpSpPr>
        <a:xfrm>
          <a:off x="0" y="0"/>
          <a:ext cx="0" cy="0"/>
          <a:chOff x="0" y="0"/>
          <a:chExt cx="0" cy="0"/>
        </a:xfrm>
      </p:grpSpPr>
      <p:sp>
        <p:nvSpPr>
          <p:cNvPr id="343" name="Google Shape;343;p35:notes">
            <a:extLst>
              <a:ext uri="{FF2B5EF4-FFF2-40B4-BE49-F238E27FC236}">
                <a16:creationId xmlns:a16="http://schemas.microsoft.com/office/drawing/2014/main" id="{7AE88458-CA86-BA9F-CBC0-34FC37085C68}"/>
              </a:ext>
            </a:extLst>
          </p:cNvPr>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35:notes">
            <a:extLst>
              <a:ext uri="{FF2B5EF4-FFF2-40B4-BE49-F238E27FC236}">
                <a16:creationId xmlns:a16="http://schemas.microsoft.com/office/drawing/2014/main" id="{FDBF8931-9A7B-CD40-FD1A-E9A979D6190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85313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5: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3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7: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3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38: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3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9:notes"/>
          <p:cNvSpPr txBox="1">
            <a:spLocks noGrp="1"/>
          </p:cNvSpPr>
          <p:nvPr>
            <p:ph type="body" idx="1"/>
          </p:nvPr>
        </p:nvSpPr>
        <p:spPr>
          <a:xfrm>
            <a:off x="679768" y="4715907"/>
            <a:ext cx="5438140" cy="446770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3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7E890-B068-2193-88D6-E4D5D80076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8D49EA0-F229-4B46-B4B2-6F7AB16926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9D3CA3D-20B4-F9AC-97EA-E91E6CA15F2C}"/>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5" name="Footer Placeholder 4">
            <a:extLst>
              <a:ext uri="{FF2B5EF4-FFF2-40B4-BE49-F238E27FC236}">
                <a16:creationId xmlns:a16="http://schemas.microsoft.com/office/drawing/2014/main" id="{B1BF61E9-8093-2DD5-31B6-AC3D211E32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D342A2-4D3C-45CB-A2C2-B330A5276422}"/>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204774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62AC9-8438-89BC-2421-301D089640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62C812-6189-13F9-8CE0-05271A4B40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8ABD25-CB6D-4DB7-7AD9-83006960424A}"/>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5" name="Footer Placeholder 4">
            <a:extLst>
              <a:ext uri="{FF2B5EF4-FFF2-40B4-BE49-F238E27FC236}">
                <a16:creationId xmlns:a16="http://schemas.microsoft.com/office/drawing/2014/main" id="{5B3BF18F-FCEB-020F-1644-42D555150E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309662-F802-CF6F-D722-307F3635FBA8}"/>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1369663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1A623-5B80-F280-2D5C-AD0B984C45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3201141-83EE-27AC-0CDE-B6E1CD8C77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705599-341B-3C79-2644-8C373FFE9CCE}"/>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5" name="Footer Placeholder 4">
            <a:extLst>
              <a:ext uri="{FF2B5EF4-FFF2-40B4-BE49-F238E27FC236}">
                <a16:creationId xmlns:a16="http://schemas.microsoft.com/office/drawing/2014/main" id="{7D27C33C-85F8-78D2-9776-3F4C7EB3E5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7D6271-96E3-B526-CA4E-FFA6C948F189}"/>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1121710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5439E-4D6D-3769-BD60-8C851B61F5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4284D8-AE4E-A08A-F902-A31D583628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F5B0D3-726B-F19E-7252-8F338DB7CF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B74F15-98CC-8E2A-F3FF-53549B6385C5}"/>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6" name="Footer Placeholder 5">
            <a:extLst>
              <a:ext uri="{FF2B5EF4-FFF2-40B4-BE49-F238E27FC236}">
                <a16:creationId xmlns:a16="http://schemas.microsoft.com/office/drawing/2014/main" id="{316511D9-12FF-C8D4-2C77-4111D6E2D6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087611-D19C-8B60-F576-312EF4B5D135}"/>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213494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E0101-35AA-5BC8-F07B-64F71BA6E1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AABC15-3EAB-4226-A158-DA4D51D9A9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8DBB9F-7078-A40D-8468-AAB7038576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11D5E78-B202-28ED-B7C8-4FC02E5DBF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679D56-42A7-6339-0DDF-3C8774B5F3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E27FD13-40DE-6DD6-BDDC-EC327233E8F2}"/>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8" name="Footer Placeholder 7">
            <a:extLst>
              <a:ext uri="{FF2B5EF4-FFF2-40B4-BE49-F238E27FC236}">
                <a16:creationId xmlns:a16="http://schemas.microsoft.com/office/drawing/2014/main" id="{D547C1C8-E8D3-65ED-783A-B752F57C03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312D1E-66E4-1EC4-EC57-E660111C3D3F}"/>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2586680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7D889-D624-F99D-48B9-63DF38494D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40A0EE1-FDBA-A0D2-A628-69748790EA4A}"/>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4" name="Footer Placeholder 3">
            <a:extLst>
              <a:ext uri="{FF2B5EF4-FFF2-40B4-BE49-F238E27FC236}">
                <a16:creationId xmlns:a16="http://schemas.microsoft.com/office/drawing/2014/main" id="{BB7F097F-E2CB-68CF-82B1-A4741F524D0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9DF21B1-B3CE-E3F1-6B35-C90F2825C611}"/>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2393039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8BE1D5-18E1-B1C9-D2E4-6113C236F0D1}"/>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3" name="Footer Placeholder 2">
            <a:extLst>
              <a:ext uri="{FF2B5EF4-FFF2-40B4-BE49-F238E27FC236}">
                <a16:creationId xmlns:a16="http://schemas.microsoft.com/office/drawing/2014/main" id="{D988C7A5-3D03-FA61-2B2A-6CC5CFCF8F4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03749A-A5A1-1F85-DCAF-51D8FBE9C47F}"/>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656653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64452-2034-FE2C-20E8-98B1507C77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926F28-CE0A-404E-2E0C-DA10139442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A1443D6-F065-D537-CC3C-6E49F44A06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9C495C-01AC-62FD-8895-384581A36F07}"/>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6" name="Footer Placeholder 5">
            <a:extLst>
              <a:ext uri="{FF2B5EF4-FFF2-40B4-BE49-F238E27FC236}">
                <a16:creationId xmlns:a16="http://schemas.microsoft.com/office/drawing/2014/main" id="{6A539EB4-807B-D884-55E8-86C3105D0D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30A903-41F3-C915-4CEF-83D439F472EF}"/>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127648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59B56-3B0A-3063-6F1B-C0F114C3C7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5A4C43-7941-7AA9-D2D7-02C28F63CB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E744811-BEF0-D4DB-4557-484645BCBB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5DF26F-A1BA-9510-CFF2-BAB545EA2B24}"/>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6" name="Footer Placeholder 5">
            <a:extLst>
              <a:ext uri="{FF2B5EF4-FFF2-40B4-BE49-F238E27FC236}">
                <a16:creationId xmlns:a16="http://schemas.microsoft.com/office/drawing/2014/main" id="{58723DC3-866B-CB56-F77A-B7B727F7CC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B123D7-0384-60C2-D4E4-B9733B9381E9}"/>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1851328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8ED6-E773-C140-F67C-32C9891988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BA25F3-3D0E-6E45-6277-3D53BD51DC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CBEFD1-21C7-4D1A-82A1-66385FD0CF14}"/>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5" name="Footer Placeholder 4">
            <a:extLst>
              <a:ext uri="{FF2B5EF4-FFF2-40B4-BE49-F238E27FC236}">
                <a16:creationId xmlns:a16="http://schemas.microsoft.com/office/drawing/2014/main" id="{6770CBD4-9395-FFAC-339D-C7FBB8420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6B5BC0-1249-7A98-5612-EE774539A7D8}"/>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3415882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E885AE-DD49-8C4B-3F52-9CDABC5EB6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AF8697-8D15-710A-468C-B295294B79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32776F-51C6-8078-ACA5-EB0D5DC7013C}"/>
              </a:ext>
            </a:extLst>
          </p:cNvPr>
          <p:cNvSpPr>
            <a:spLocks noGrp="1"/>
          </p:cNvSpPr>
          <p:nvPr>
            <p:ph type="dt" sz="half" idx="10"/>
          </p:nvPr>
        </p:nvSpPr>
        <p:spPr/>
        <p:txBody>
          <a:bodyPr/>
          <a:lstStyle/>
          <a:p>
            <a:fld id="{2C1E7D17-47EF-4AA9-85F0-1BFBCAA17CFF}" type="datetimeFigureOut">
              <a:rPr lang="en-IN" smtClean="0"/>
              <a:t>18-07-2025</a:t>
            </a:fld>
            <a:endParaRPr lang="en-IN"/>
          </a:p>
        </p:txBody>
      </p:sp>
      <p:sp>
        <p:nvSpPr>
          <p:cNvPr id="5" name="Footer Placeholder 4">
            <a:extLst>
              <a:ext uri="{FF2B5EF4-FFF2-40B4-BE49-F238E27FC236}">
                <a16:creationId xmlns:a16="http://schemas.microsoft.com/office/drawing/2014/main" id="{1E7F4184-BDA3-806E-0837-F2D7757505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E8DFF8-ED7C-6C5C-1CE2-6818BAB35842}"/>
              </a:ext>
            </a:extLst>
          </p:cNvPr>
          <p:cNvSpPr>
            <a:spLocks noGrp="1"/>
          </p:cNvSpPr>
          <p:nvPr>
            <p:ph type="sldNum" sz="quarter" idx="12"/>
          </p:nvPr>
        </p:nvSpPr>
        <p:spPr/>
        <p:txBody>
          <a:bodyPr/>
          <a:lstStyle/>
          <a:p>
            <a:fld id="{4BA68B84-D6CC-4E7C-B863-75A0078683CB}" type="slidenum">
              <a:rPr lang="en-IN" smtClean="0"/>
              <a:t>‹#›</a:t>
            </a:fld>
            <a:endParaRPr lang="en-IN"/>
          </a:p>
        </p:txBody>
      </p:sp>
    </p:spTree>
    <p:extLst>
      <p:ext uri="{BB962C8B-B14F-4D97-AF65-F5344CB8AC3E}">
        <p14:creationId xmlns:p14="http://schemas.microsoft.com/office/powerpoint/2010/main" val="1006269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3867C2-B3C7-9A35-0D5B-5581FB8D8E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3B1555-4497-22A3-ED3F-EDFD737470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10268E-BB30-D282-C6C2-1F504FD6AB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E7D17-47EF-4AA9-85F0-1BFBCAA17CFF}" type="datetimeFigureOut">
              <a:rPr lang="en-IN" smtClean="0"/>
              <a:t>18-07-2025</a:t>
            </a:fld>
            <a:endParaRPr lang="en-IN"/>
          </a:p>
        </p:txBody>
      </p:sp>
      <p:sp>
        <p:nvSpPr>
          <p:cNvPr id="5" name="Footer Placeholder 4">
            <a:extLst>
              <a:ext uri="{FF2B5EF4-FFF2-40B4-BE49-F238E27FC236}">
                <a16:creationId xmlns:a16="http://schemas.microsoft.com/office/drawing/2014/main" id="{EBEC5809-20B5-8653-01F0-1002233287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854D77D-7F4C-8685-2AC3-072C81CF06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A68B84-D6CC-4E7C-B863-75A0078683CB}" type="slidenum">
              <a:rPr lang="en-IN" smtClean="0"/>
              <a:t>‹#›</a:t>
            </a:fld>
            <a:endParaRPr lang="en-IN"/>
          </a:p>
        </p:txBody>
      </p:sp>
    </p:spTree>
    <p:extLst>
      <p:ext uri="{BB962C8B-B14F-4D97-AF65-F5344CB8AC3E}">
        <p14:creationId xmlns:p14="http://schemas.microsoft.com/office/powerpoint/2010/main" val="1353961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4"/>
          <p:cNvSpPr/>
          <p:nvPr/>
        </p:nvSpPr>
        <p:spPr>
          <a:xfrm>
            <a:off x="3474352" y="908721"/>
            <a:ext cx="5243295" cy="3293209"/>
          </a:xfrm>
          <a:prstGeom prst="rect">
            <a:avLst/>
          </a:prstGeom>
          <a:noFill/>
          <a:ln>
            <a:noFill/>
          </a:ln>
        </p:spPr>
        <p:txBody>
          <a:bodyPr spcFirstLastPara="1" wrap="square" lIns="91425" tIns="45700" rIns="91425" bIns="45700" anchor="t" anchorCtr="0">
            <a:spAutoFit/>
          </a:bodyPr>
          <a:lstStyle/>
          <a:p>
            <a:pPr algn="ctr"/>
            <a:r>
              <a:rPr lang="en-US" sz="4800" b="1">
                <a:solidFill>
                  <a:srgbClr val="C00000"/>
                </a:solidFill>
                <a:latin typeface="Calibri"/>
                <a:ea typeface="Calibri"/>
                <a:cs typeface="Calibri"/>
                <a:sym typeface="Calibri"/>
              </a:rPr>
              <a:t>BASIC ELECTRONICS</a:t>
            </a:r>
            <a:endParaRPr/>
          </a:p>
          <a:p>
            <a:pPr algn="ctr"/>
            <a:r>
              <a:rPr lang="en-US" sz="4800" b="1">
                <a:solidFill>
                  <a:srgbClr val="C00000"/>
                </a:solidFill>
                <a:latin typeface="Times New Roman"/>
                <a:ea typeface="Times New Roman"/>
                <a:cs typeface="Times New Roman"/>
                <a:sym typeface="Times New Roman"/>
              </a:rPr>
              <a:t>(24B11EC111)</a:t>
            </a:r>
            <a:endParaRPr/>
          </a:p>
          <a:p>
            <a:pPr algn="ctr"/>
            <a:r>
              <a:rPr lang="en-US" sz="4400" b="1">
                <a:solidFill>
                  <a:srgbClr val="002060"/>
                </a:solidFill>
                <a:latin typeface="Times New Roman"/>
                <a:ea typeface="Times New Roman"/>
                <a:cs typeface="Times New Roman"/>
                <a:sym typeface="Times New Roman"/>
              </a:rPr>
              <a:t>Unit-1</a:t>
            </a:r>
            <a:endParaRPr/>
          </a:p>
          <a:p>
            <a:pPr algn="ctr"/>
            <a:r>
              <a:rPr lang="en-US" sz="4400" b="1">
                <a:solidFill>
                  <a:srgbClr val="002060"/>
                </a:solidFill>
                <a:latin typeface="Times New Roman"/>
                <a:ea typeface="Times New Roman"/>
                <a:cs typeface="Times New Roman"/>
                <a:sym typeface="Times New Roman"/>
              </a:rPr>
              <a:t>Lecture-2</a:t>
            </a:r>
            <a:endParaRPr/>
          </a:p>
          <a:p>
            <a:pPr algn="ctr"/>
            <a:r>
              <a:rPr lang="en-US" sz="2400" b="1">
                <a:solidFill>
                  <a:schemeClr val="dk1"/>
                </a:solidFill>
                <a:latin typeface="Times New Roman"/>
                <a:ea typeface="Times New Roman"/>
                <a:cs typeface="Times New Roman"/>
                <a:sym typeface="Times New Roman"/>
              </a:rPr>
              <a:t>(Kirchhoff’s Laws)</a:t>
            </a:r>
            <a:endParaRPr sz="2400" b="1">
              <a:solidFill>
                <a:srgbClr val="002060"/>
              </a:solidFill>
              <a:latin typeface="Times New Roman"/>
              <a:ea typeface="Times New Roman"/>
              <a:cs typeface="Times New Roman"/>
              <a:sym typeface="Times New Roman"/>
            </a:endParaRPr>
          </a:p>
        </p:txBody>
      </p:sp>
      <p:sp>
        <p:nvSpPr>
          <p:cNvPr id="172" name="Google Shape;172;p14"/>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latin typeface="Times New Roman"/>
                <a:ea typeface="Times New Roman"/>
                <a:cs typeface="Times New Roman"/>
                <a:sym typeface="Times New Roman"/>
              </a:rPr>
              <a:pPr/>
              <a:t>1</a:t>
            </a:fld>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5"/>
          <p:cNvSpPr txBox="1">
            <a:spLocks noGrp="1"/>
          </p:cNvSpPr>
          <p:nvPr>
            <p:ph type="title"/>
          </p:nvPr>
        </p:nvSpPr>
        <p:spPr>
          <a:xfrm>
            <a:off x="2152650" y="39215"/>
            <a:ext cx="7886700" cy="1325563"/>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a:solidFill>
                  <a:srgbClr val="C00000"/>
                </a:solidFill>
              </a:rPr>
              <a:t>CONTENTS</a:t>
            </a:r>
            <a:endParaRPr/>
          </a:p>
        </p:txBody>
      </p:sp>
      <p:sp>
        <p:nvSpPr>
          <p:cNvPr id="179" name="Google Shape;179;p15"/>
          <p:cNvSpPr txBox="1">
            <a:spLocks noGrp="1"/>
          </p:cNvSpPr>
          <p:nvPr>
            <p:ph type="body" idx="1"/>
          </p:nvPr>
        </p:nvSpPr>
        <p:spPr>
          <a:xfrm>
            <a:off x="2152650" y="1323008"/>
            <a:ext cx="7886700" cy="3762176"/>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2800"/>
            </a:pPr>
            <a:r>
              <a:rPr lang="en-US" b="1">
                <a:latin typeface="Times New Roman"/>
                <a:ea typeface="Times New Roman"/>
                <a:cs typeface="Times New Roman"/>
                <a:sym typeface="Times New Roman"/>
              </a:rPr>
              <a:t>Introduction</a:t>
            </a:r>
            <a:endParaRPr/>
          </a:p>
          <a:p>
            <a:pPr marL="342900" indent="-342900">
              <a:spcBef>
                <a:spcPts val="560"/>
              </a:spcBef>
              <a:buClr>
                <a:schemeClr val="dk1"/>
              </a:buClr>
              <a:buSzPts val="2800"/>
            </a:pPr>
            <a:r>
              <a:rPr lang="en-US" b="1">
                <a:latin typeface="Times New Roman"/>
                <a:ea typeface="Times New Roman"/>
                <a:cs typeface="Times New Roman"/>
                <a:sym typeface="Times New Roman"/>
              </a:rPr>
              <a:t>Kirchhoff’s Laws</a:t>
            </a:r>
            <a:endParaRPr/>
          </a:p>
          <a:p>
            <a:pPr marL="742950" lvl="1" indent="-285750">
              <a:spcBef>
                <a:spcPts val="480"/>
              </a:spcBef>
              <a:buClr>
                <a:schemeClr val="dk1"/>
              </a:buClr>
              <a:buSzPts val="2400"/>
              <a:buChar char="–"/>
            </a:pPr>
            <a:r>
              <a:rPr lang="en-US" b="1">
                <a:latin typeface="Times New Roman"/>
                <a:ea typeface="Times New Roman"/>
                <a:cs typeface="Times New Roman"/>
                <a:sym typeface="Times New Roman"/>
              </a:rPr>
              <a:t>Kirchhoff’s Current Law (KCL)</a:t>
            </a:r>
            <a:endParaRPr/>
          </a:p>
          <a:p>
            <a:pPr marL="742950" lvl="1" indent="-285750">
              <a:spcBef>
                <a:spcPts val="480"/>
              </a:spcBef>
              <a:buClr>
                <a:schemeClr val="dk1"/>
              </a:buClr>
              <a:buSzPts val="2400"/>
              <a:buChar char="–"/>
            </a:pPr>
            <a:r>
              <a:rPr lang="en-US" b="1">
                <a:latin typeface="Times New Roman"/>
                <a:ea typeface="Times New Roman"/>
                <a:cs typeface="Times New Roman"/>
                <a:sym typeface="Times New Roman"/>
              </a:rPr>
              <a:t>Kirchhoff’s Voltage Law (KVL)</a:t>
            </a:r>
            <a:endParaRPr/>
          </a:p>
          <a:p>
            <a:pPr marL="342900" indent="-342900">
              <a:spcBef>
                <a:spcPts val="560"/>
              </a:spcBef>
              <a:buClr>
                <a:schemeClr val="dk1"/>
              </a:buClr>
              <a:buSzPts val="2800"/>
            </a:pPr>
            <a:r>
              <a:rPr lang="en-US" b="1">
                <a:latin typeface="Times New Roman"/>
                <a:ea typeface="Times New Roman"/>
                <a:cs typeface="Times New Roman"/>
                <a:sym typeface="Times New Roman"/>
              </a:rPr>
              <a:t>Problems and solutions</a:t>
            </a:r>
            <a:endParaRPr/>
          </a:p>
          <a:p>
            <a:pPr marL="342900" indent="-342900">
              <a:spcBef>
                <a:spcPts val="560"/>
              </a:spcBef>
              <a:buClr>
                <a:schemeClr val="dk1"/>
              </a:buClr>
              <a:buSzPts val="2800"/>
            </a:pPr>
            <a:r>
              <a:rPr lang="en-US" b="1">
                <a:latin typeface="Times New Roman"/>
                <a:ea typeface="Times New Roman"/>
                <a:cs typeface="Times New Roman"/>
                <a:sym typeface="Times New Roman"/>
              </a:rPr>
              <a:t>Practice Problems</a:t>
            </a:r>
            <a:endParaRPr b="1">
              <a:latin typeface="Times New Roman"/>
              <a:ea typeface="Times New Roman"/>
              <a:cs typeface="Times New Roman"/>
              <a:sym typeface="Times New Roman"/>
            </a:endParaRPr>
          </a:p>
          <a:p>
            <a:pPr marL="342900" indent="-342900">
              <a:spcBef>
                <a:spcPts val="560"/>
              </a:spcBef>
              <a:buClr>
                <a:schemeClr val="dk1"/>
              </a:buClr>
              <a:buSzPts val="2800"/>
            </a:pPr>
            <a:r>
              <a:rPr lang="en-US" b="1">
                <a:latin typeface="Times New Roman"/>
                <a:ea typeface="Times New Roman"/>
                <a:cs typeface="Times New Roman"/>
                <a:sym typeface="Times New Roman"/>
              </a:rPr>
              <a:t>References</a:t>
            </a:r>
            <a:endParaRPr/>
          </a:p>
        </p:txBody>
      </p:sp>
      <p:sp>
        <p:nvSpPr>
          <p:cNvPr id="180" name="Google Shape;180;p15"/>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sz="1600" b="1">
                <a:solidFill>
                  <a:srgbClr val="888888"/>
                </a:solidFill>
                <a:latin typeface="Times New Roman"/>
                <a:ea typeface="Times New Roman"/>
                <a:cs typeface="Times New Roman"/>
                <a:sym typeface="Times New Roman"/>
              </a:rPr>
              <a:pPr/>
              <a:t>2</a:t>
            </a:fld>
            <a:endParaRPr sz="2000" b="1">
              <a:solidFill>
                <a:srgbClr val="888888"/>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6"/>
          <p:cNvSpPr txBox="1"/>
          <p:nvPr/>
        </p:nvSpPr>
        <p:spPr>
          <a:xfrm>
            <a:off x="1905000" y="304800"/>
            <a:ext cx="8382000" cy="3662501"/>
          </a:xfrm>
          <a:prstGeom prst="rect">
            <a:avLst/>
          </a:prstGeom>
          <a:noFill/>
          <a:ln>
            <a:noFill/>
          </a:ln>
        </p:spPr>
        <p:txBody>
          <a:bodyPr spcFirstLastPara="1" wrap="square" lIns="91425" tIns="45700" rIns="91425" bIns="45700" anchor="t" anchorCtr="0">
            <a:spAutoFit/>
          </a:bodyPr>
          <a:lstStyle/>
          <a:p>
            <a:pPr algn="ctr"/>
            <a:r>
              <a:rPr lang="en-US" sz="4400" b="1" dirty="0">
                <a:solidFill>
                  <a:srgbClr val="C00000"/>
                </a:solidFill>
                <a:latin typeface="Calibri"/>
                <a:ea typeface="Calibri"/>
                <a:cs typeface="Calibri"/>
                <a:sym typeface="Calibri"/>
              </a:rPr>
              <a:t>Circuit</a:t>
            </a:r>
            <a:endParaRPr sz="3200" b="1" dirty="0">
              <a:solidFill>
                <a:srgbClr val="C00000"/>
              </a:solidFill>
              <a:latin typeface="Calibri"/>
              <a:ea typeface="Calibri"/>
              <a:cs typeface="Calibri"/>
              <a:sym typeface="Calibri"/>
            </a:endParaRPr>
          </a:p>
          <a:p>
            <a:pPr marL="457200" indent="-330200" algn="just">
              <a:buClr>
                <a:schemeClr val="dk1"/>
              </a:buClr>
              <a:buSzPts val="2000"/>
            </a:pPr>
            <a:endParaRPr sz="2000" dirty="0">
              <a:solidFill>
                <a:schemeClr val="dk1"/>
              </a:solidFill>
              <a:latin typeface="Calibri"/>
              <a:ea typeface="Calibri"/>
              <a:cs typeface="Calibri"/>
              <a:sym typeface="Calibri"/>
            </a:endParaRPr>
          </a:p>
          <a:p>
            <a:pPr marL="457200" indent="-457200" algn="just">
              <a:buClr>
                <a:schemeClr val="dk1"/>
              </a:buClr>
              <a:buSzPts val="2000"/>
              <a:buFont typeface="Noto Sans Symbols"/>
              <a:buChar char="⮚"/>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An electrical circuit is a </a:t>
            </a: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closed path </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consisting of </a:t>
            </a: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active and passive elements,</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 all interconnected, and the current flow is confined to the closed path. </a:t>
            </a:r>
            <a:endParaRPr sz="2400" dirty="0">
              <a:latin typeface="Times New Roman" panose="02020603050405020304" pitchFamily="18" charset="0"/>
              <a:cs typeface="Times New Roman" panose="02020603050405020304" pitchFamily="18" charset="0"/>
            </a:endParaRPr>
          </a:p>
          <a:p>
            <a:pPr marL="457200" indent="-457200" algn="just">
              <a:buClr>
                <a:schemeClr val="dk1"/>
              </a:buClr>
              <a:buSzPts val="2000"/>
              <a:buFont typeface="Noto Sans Symbols"/>
              <a:buChar char="⮚"/>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An </a:t>
            </a: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active element </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supplies energy to the circuit, whereas a </a:t>
            </a: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passive element</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 receives energy.</a:t>
            </a:r>
          </a:p>
          <a:p>
            <a:pPr marL="457200" indent="-457200" algn="just">
              <a:buClr>
                <a:schemeClr val="dk1"/>
              </a:buClr>
              <a:buSzPts val="2000"/>
              <a:buFont typeface="Noto Sans Symbols"/>
              <a:buChar char="⮚"/>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This energy is converted into </a:t>
            </a: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heat (resistor) </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or </a:t>
            </a: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stored in an electric (capacitor) or magnetic field (inductor)</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a:t>
            </a:r>
            <a:endParaRPr sz="2400" dirty="0">
              <a:latin typeface="Times New Roman" panose="02020603050405020304" pitchFamily="18" charset="0"/>
              <a:cs typeface="Times New Roman" panose="02020603050405020304" pitchFamily="18" charset="0"/>
            </a:endParaRPr>
          </a:p>
        </p:txBody>
      </p:sp>
      <p:pic>
        <p:nvPicPr>
          <p:cNvPr id="186" name="Google Shape;186;p16"/>
          <p:cNvPicPr preferRelativeResize="0"/>
          <p:nvPr/>
        </p:nvPicPr>
        <p:blipFill rotWithShape="1">
          <a:blip r:embed="rId3">
            <a:alphaModFix/>
          </a:blip>
          <a:srcRect/>
          <a:stretch/>
        </p:blipFill>
        <p:spPr>
          <a:xfrm>
            <a:off x="4572000" y="3988512"/>
            <a:ext cx="3397074" cy="2107488"/>
          </a:xfrm>
          <a:prstGeom prst="rect">
            <a:avLst/>
          </a:prstGeom>
          <a:noFill/>
          <a:ln>
            <a:noFill/>
          </a:ln>
        </p:spPr>
      </p:pic>
      <p:sp>
        <p:nvSpPr>
          <p:cNvPr id="187" name="Google Shape;187;p16"/>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7"/>
          <p:cNvSpPr/>
          <p:nvPr/>
        </p:nvSpPr>
        <p:spPr>
          <a:xfrm>
            <a:off x="1752600" y="76201"/>
            <a:ext cx="8229600" cy="769441"/>
          </a:xfrm>
          <a:prstGeom prst="rect">
            <a:avLst/>
          </a:prstGeom>
          <a:noFill/>
          <a:ln>
            <a:noFill/>
          </a:ln>
        </p:spPr>
        <p:txBody>
          <a:bodyPr spcFirstLastPara="1" wrap="square" lIns="91425" tIns="45700" rIns="91425" bIns="45700" anchor="t" anchorCtr="0">
            <a:spAutoFit/>
          </a:bodyPr>
          <a:lstStyle/>
          <a:p>
            <a:pPr algn="ctr"/>
            <a:r>
              <a:rPr lang="en-US" sz="4400" b="1" dirty="0">
                <a:solidFill>
                  <a:srgbClr val="C00000"/>
                </a:solidFill>
                <a:latin typeface="Calibri"/>
                <a:ea typeface="Calibri"/>
                <a:cs typeface="Calibri"/>
                <a:sym typeface="Calibri"/>
              </a:rPr>
              <a:t>Power</a:t>
            </a:r>
            <a:endParaRPr dirty="0"/>
          </a:p>
        </p:txBody>
      </p:sp>
      <p:sp>
        <p:nvSpPr>
          <p:cNvPr id="194" name="Google Shape;194;p17"/>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4</a:t>
            </a:fld>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01DEE74-7881-40EE-A8AB-2EBAA6C5E9B6}"/>
                  </a:ext>
                </a:extLst>
              </p:cNvPr>
              <p:cNvSpPr txBox="1"/>
              <p:nvPr/>
            </p:nvSpPr>
            <p:spPr>
              <a:xfrm>
                <a:off x="1302287" y="874363"/>
                <a:ext cx="9587426" cy="584711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Definition; Power is rate of doing work. It is the work done in unit time</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Equation of power is	 </a:t>
                </a:r>
                <a14:m>
                  <m:oMath xmlns:m="http://schemas.openxmlformats.org/officeDocument/2006/math">
                    <m:r>
                      <a:rPr lang="en-US" sz="2400" b="0" i="1" smtClean="0">
                        <a:latin typeface="Cambria Math" panose="02040503050406030204" pitchFamily="18" charset="0"/>
                      </a:rPr>
                      <m:t>𝑝</m:t>
                    </m:r>
                    <m:r>
                      <a:rPr lang="en-US" sz="2400" i="1" smtClean="0">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𝑑𝑤</m:t>
                        </m:r>
                      </m:num>
                      <m:den>
                        <m:r>
                          <a:rPr lang="en-US" sz="2400" b="0" i="1" smtClean="0">
                            <a:latin typeface="Cambria Math" panose="02040503050406030204" pitchFamily="18" charset="0"/>
                          </a:rPr>
                          <m:t>𝑑𝑡</m:t>
                        </m:r>
                      </m:den>
                    </m:f>
                  </m:oMath>
                </a14:m>
                <a:r>
                  <a:rPr lang="en-IN" sz="2400" dirty="0">
                    <a:latin typeface="Times New Roman" panose="02020603050405020304" pitchFamily="18" charset="0"/>
                    <a:cs typeface="Times New Roman" panose="02020603050405020304" pitchFamily="18" charset="0"/>
                  </a:rPr>
                  <a:t>	……………….Eq. 1</a:t>
                </a:r>
              </a:p>
              <a:p>
                <a:pPr>
                  <a:lnSpc>
                    <a:spcPct val="150000"/>
                  </a:lnSpc>
                </a:pPr>
                <a:r>
                  <a:rPr lang="en-US" sz="2400" dirty="0">
                    <a:latin typeface="Times New Roman" panose="02020603050405020304" pitchFamily="18" charset="0"/>
                    <a:cs typeface="Times New Roman" panose="02020603050405020304" pitchFamily="18" charset="0"/>
                  </a:rPr>
                  <a:t>w</a:t>
                </a:r>
                <a:r>
                  <a:rPr lang="en-IN" sz="2400" dirty="0">
                    <a:latin typeface="Times New Roman" panose="02020603050405020304" pitchFamily="18" charset="0"/>
                    <a:cs typeface="Times New Roman" panose="02020603050405020304" pitchFamily="18" charset="0"/>
                  </a:rPr>
                  <a:t>here </a:t>
                </a:r>
                <a:r>
                  <a:rPr lang="en-IN" sz="2400" b="1" dirty="0">
                    <a:latin typeface="Times New Roman" panose="02020603050405020304" pitchFamily="18" charset="0"/>
                    <a:cs typeface="Times New Roman" panose="02020603050405020304" pitchFamily="18" charset="0"/>
                  </a:rPr>
                  <a:t>p</a:t>
                </a:r>
                <a:r>
                  <a:rPr lang="en-IN" sz="2400" dirty="0">
                    <a:latin typeface="Times New Roman" panose="02020603050405020304" pitchFamily="18" charset="0"/>
                    <a:cs typeface="Times New Roman" panose="02020603050405020304" pitchFamily="18" charset="0"/>
                  </a:rPr>
                  <a:t> is the </a:t>
                </a:r>
                <a:r>
                  <a:rPr lang="en-IN" sz="2400" b="1" dirty="0">
                    <a:latin typeface="Times New Roman" panose="02020603050405020304" pitchFamily="18" charset="0"/>
                    <a:cs typeface="Times New Roman" panose="02020603050405020304" pitchFamily="18" charset="0"/>
                  </a:rPr>
                  <a:t>power</a:t>
                </a:r>
                <a:r>
                  <a:rPr lang="en-IN" sz="2400" dirty="0">
                    <a:latin typeface="Times New Roman" panose="02020603050405020304" pitchFamily="18" charset="0"/>
                    <a:cs typeface="Times New Roman" panose="02020603050405020304" pitchFamily="18" charset="0"/>
                  </a:rPr>
                  <a:t> in </a:t>
                </a:r>
                <a:r>
                  <a:rPr lang="en-IN" sz="2400" b="1" dirty="0">
                    <a:latin typeface="Times New Roman" panose="02020603050405020304" pitchFamily="18" charset="0"/>
                    <a:cs typeface="Times New Roman" panose="02020603050405020304" pitchFamily="18" charset="0"/>
                  </a:rPr>
                  <a:t>watts</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w</a:t>
                </a:r>
                <a:r>
                  <a:rPr lang="en-IN" sz="2400" dirty="0">
                    <a:latin typeface="Times New Roman" panose="02020603050405020304" pitchFamily="18" charset="0"/>
                    <a:cs typeface="Times New Roman" panose="02020603050405020304" pitchFamily="18" charset="0"/>
                  </a:rPr>
                  <a:t> is </a:t>
                </a:r>
                <a:r>
                  <a:rPr lang="en-IN" sz="2400" b="1" dirty="0">
                    <a:latin typeface="Times New Roman" panose="02020603050405020304" pitchFamily="18" charset="0"/>
                    <a:cs typeface="Times New Roman" panose="02020603050405020304" pitchFamily="18" charset="0"/>
                  </a:rPr>
                  <a:t>energy/work</a:t>
                </a:r>
                <a:r>
                  <a:rPr lang="en-IN" sz="2400" dirty="0">
                    <a:latin typeface="Times New Roman" panose="02020603050405020304" pitchFamily="18" charset="0"/>
                    <a:cs typeface="Times New Roman" panose="02020603050405020304" pitchFamily="18" charset="0"/>
                  </a:rPr>
                  <a:t> in </a:t>
                </a:r>
                <a:r>
                  <a:rPr lang="en-IN" sz="2400" b="1" dirty="0">
                    <a:latin typeface="Times New Roman" panose="02020603050405020304" pitchFamily="18" charset="0"/>
                    <a:cs typeface="Times New Roman" panose="02020603050405020304" pitchFamily="18" charset="0"/>
                  </a:rPr>
                  <a:t>joules</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t </a:t>
                </a:r>
                <a:r>
                  <a:rPr lang="en-IN" sz="2400" dirty="0">
                    <a:latin typeface="Times New Roman" panose="02020603050405020304" pitchFamily="18" charset="0"/>
                    <a:cs typeface="Times New Roman" panose="02020603050405020304" pitchFamily="18" charset="0"/>
                  </a:rPr>
                  <a:t>is </a:t>
                </a:r>
                <a:r>
                  <a:rPr lang="en-IN" sz="2400" b="1" dirty="0">
                    <a:latin typeface="Times New Roman" panose="02020603050405020304" pitchFamily="18" charset="0"/>
                    <a:cs typeface="Times New Roman" panose="02020603050405020304" pitchFamily="18" charset="0"/>
                  </a:rPr>
                  <a:t>time</a:t>
                </a:r>
                <a:r>
                  <a:rPr lang="en-IN" sz="2400" dirty="0">
                    <a:latin typeface="Times New Roman" panose="02020603050405020304" pitchFamily="18" charset="0"/>
                    <a:cs typeface="Times New Roman" panose="02020603050405020304" pitchFamily="18" charset="0"/>
                  </a:rPr>
                  <a:t> in </a:t>
                </a:r>
                <a:r>
                  <a:rPr lang="en-IN" sz="2400" b="1" dirty="0">
                    <a:latin typeface="Times New Roman" panose="02020603050405020304" pitchFamily="18" charset="0"/>
                    <a:cs typeface="Times New Roman" panose="02020603050405020304" pitchFamily="18" charset="0"/>
                  </a:rPr>
                  <a:t>seconds</a:t>
                </a:r>
                <a:r>
                  <a:rPr lang="en-IN" sz="2400"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t>
                </a:r>
                <a:r>
                  <a:rPr lang="en-IN" sz="2400" dirty="0">
                    <a:latin typeface="Times New Roman" panose="02020603050405020304" pitchFamily="18" charset="0"/>
                    <a:cs typeface="Times New Roman" panose="02020603050405020304" pitchFamily="18" charset="0"/>
                  </a:rPr>
                  <a:t>he power associated with the current through an element is </a:t>
                </a:r>
              </a:p>
              <a:p>
                <a:pPr>
                  <a:lnSpc>
                    <a:spcPct val="150000"/>
                  </a:lnSpc>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𝒑</m:t>
                      </m:r>
                      <m:r>
                        <a:rPr lang="en-IN" sz="2400" i="1" smtClean="0">
                          <a:latin typeface="Cambria Math" panose="02040503050406030204" pitchFamily="18" charset="0"/>
                        </a:rPr>
                        <m:t>=</m:t>
                      </m:r>
                      <m:f>
                        <m:fPr>
                          <m:ctrlPr>
                            <a:rPr lang="en-IN" sz="2400" i="1" smtClean="0">
                              <a:latin typeface="Cambria Math" panose="02040503050406030204" pitchFamily="18" charset="0"/>
                            </a:rPr>
                          </m:ctrlPr>
                        </m:fPr>
                        <m:num>
                          <m:r>
                            <a:rPr lang="en-US" sz="2400" b="0" i="1" smtClean="0">
                              <a:latin typeface="Cambria Math" panose="02040503050406030204" pitchFamily="18" charset="0"/>
                            </a:rPr>
                            <m:t>𝑑𝑤</m:t>
                          </m:r>
                        </m:num>
                        <m:den>
                          <m:r>
                            <a:rPr lang="en-US" sz="2400" b="0" i="1" smtClean="0">
                              <a:latin typeface="Cambria Math" panose="02040503050406030204" pitchFamily="18" charset="0"/>
                            </a:rPr>
                            <m:t>𝑑𝑡</m:t>
                          </m:r>
                          <m:r>
                            <a:rPr lang="en-US" sz="2400" b="0" i="1" smtClean="0">
                              <a:latin typeface="Cambria Math" panose="02040503050406030204" pitchFamily="18" charset="0"/>
                            </a:rPr>
                            <m:t> </m:t>
                          </m:r>
                        </m:den>
                      </m:f>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𝑑𝑤</m:t>
                          </m:r>
                        </m:num>
                        <m:den>
                          <m:r>
                            <a:rPr lang="en-US" sz="2400" b="0" i="1" smtClean="0">
                              <a:latin typeface="Cambria Math" panose="02040503050406030204" pitchFamily="18" charset="0"/>
                            </a:rPr>
                            <m:t>𝑑𝑞</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𝑑𝑞</m:t>
                          </m:r>
                        </m:num>
                        <m:den>
                          <m:r>
                            <a:rPr lang="en-US" sz="2400" b="0" i="1" smtClean="0">
                              <a:latin typeface="Cambria Math" panose="02040503050406030204" pitchFamily="18" charset="0"/>
                            </a:rPr>
                            <m:t>𝑑𝑡</m:t>
                          </m:r>
                        </m:den>
                      </m:f>
                      <m:r>
                        <a:rPr lang="en-US" sz="2400" b="0" i="1" smtClean="0">
                          <a:latin typeface="Cambria Math" panose="02040503050406030204" pitchFamily="18" charset="0"/>
                        </a:rPr>
                        <m:t>=</m:t>
                      </m:r>
                      <m:r>
                        <a:rPr lang="en-US" sz="2400" b="1" i="1" smtClean="0">
                          <a:latin typeface="Cambria Math" panose="02040503050406030204" pitchFamily="18" charset="0"/>
                        </a:rPr>
                        <m:t>𝒗</m:t>
                      </m:r>
                      <m:r>
                        <a:rPr lang="en-US" sz="2400" b="1" i="1" smtClean="0">
                          <a:latin typeface="Cambria Math" panose="02040503050406030204" pitchFamily="18" charset="0"/>
                        </a:rPr>
                        <m:t>.</m:t>
                      </m:r>
                      <m:r>
                        <a:rPr lang="en-US" sz="2400" b="1" i="1" smtClean="0">
                          <a:latin typeface="Cambria Math" panose="02040503050406030204" pitchFamily="18" charset="0"/>
                        </a:rPr>
                        <m:t>𝒊</m:t>
                      </m:r>
                    </m:oMath>
                  </m:oMathPara>
                </a14:m>
                <a:endParaRPr lang="en-IN" sz="2400" b="1"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F</a:t>
                </a:r>
                <a:r>
                  <a:rPr lang="en-IN" sz="2400" dirty="0">
                    <a:latin typeface="Times New Roman" panose="02020603050405020304" pitchFamily="18" charset="0"/>
                    <a:cs typeface="Times New Roman" panose="02020603050405020304" pitchFamily="18" charset="0"/>
                  </a:rPr>
                  <a:t>rom above equation it is clear, that power is simply the product of the voltage across an element times the current through the element.</a:t>
                </a:r>
              </a:p>
              <a:p>
                <a:pPr>
                  <a:lnSpc>
                    <a:spcPct val="150000"/>
                  </a:lnSpc>
                </a:pPr>
                <a:r>
                  <a:rPr lang="en-US" sz="2400" dirty="0">
                    <a:latin typeface="Times New Roman" panose="02020603050405020304" pitchFamily="18" charset="0"/>
                    <a:cs typeface="Times New Roman" panose="02020603050405020304" pitchFamily="18" charset="0"/>
                  </a:rPr>
                  <a:t>T</a:t>
                </a:r>
                <a:r>
                  <a:rPr lang="en-IN" sz="2400" dirty="0">
                    <a:latin typeface="Times New Roman" panose="02020603050405020304" pitchFamily="18" charset="0"/>
                    <a:cs typeface="Times New Roman" panose="02020603050405020304" pitchFamily="18" charset="0"/>
                  </a:rPr>
                  <a:t>he </a:t>
                </a:r>
                <a:r>
                  <a:rPr lang="en-IN" sz="2400" b="1" dirty="0">
                    <a:latin typeface="Times New Roman" panose="02020603050405020304" pitchFamily="18" charset="0"/>
                    <a:cs typeface="Times New Roman" panose="02020603050405020304" pitchFamily="18" charset="0"/>
                  </a:rPr>
                  <a:t>power has unit </a:t>
                </a:r>
                <a:r>
                  <a:rPr lang="en-IN" sz="2400" dirty="0">
                    <a:latin typeface="Times New Roman" panose="02020603050405020304" pitchFamily="18" charset="0"/>
                    <a:cs typeface="Times New Roman" panose="02020603050405020304" pitchFamily="18" charset="0"/>
                  </a:rPr>
                  <a:t>of </a:t>
                </a:r>
                <a:r>
                  <a:rPr lang="en-IN" sz="2400" b="1" dirty="0">
                    <a:latin typeface="Times New Roman" panose="02020603050405020304" pitchFamily="18" charset="0"/>
                    <a:cs typeface="Times New Roman" panose="02020603050405020304" pitchFamily="18" charset="0"/>
                  </a:rPr>
                  <a:t>watts</a:t>
                </a:r>
                <a:r>
                  <a:rPr lang="en-IN" sz="2400" dirty="0">
                    <a:latin typeface="Times New Roman" panose="02020603050405020304" pitchFamily="18" charset="0"/>
                    <a:cs typeface="Times New Roman" panose="02020603050405020304" pitchFamily="18" charset="0"/>
                  </a:rPr>
                  <a:t> and is denoted by </a:t>
                </a:r>
                <a:r>
                  <a:rPr lang="en-IN" sz="2400" b="1" dirty="0">
                    <a:latin typeface="Times New Roman" panose="02020603050405020304" pitchFamily="18" charset="0"/>
                    <a:cs typeface="Times New Roman" panose="02020603050405020304" pitchFamily="18" charset="0"/>
                  </a:rPr>
                  <a:t>W</a:t>
                </a:r>
              </a:p>
            </p:txBody>
          </p:sp>
        </mc:Choice>
        <mc:Fallback xmlns="">
          <p:sp>
            <p:nvSpPr>
              <p:cNvPr id="2" name="TextBox 1">
                <a:extLst>
                  <a:ext uri="{FF2B5EF4-FFF2-40B4-BE49-F238E27FC236}">
                    <a16:creationId xmlns:a16="http://schemas.microsoft.com/office/drawing/2014/main" id="{C01DEE74-7881-40EE-A8AB-2EBAA6C5E9B6}"/>
                  </a:ext>
                </a:extLst>
              </p:cNvPr>
              <p:cNvSpPr txBox="1">
                <a:spLocks noRot="1" noChangeAspect="1" noMove="1" noResize="1" noEditPoints="1" noAdjustHandles="1" noChangeArrowheads="1" noChangeShapeType="1" noTextEdit="1"/>
              </p:cNvSpPr>
              <p:nvPr/>
            </p:nvSpPr>
            <p:spPr>
              <a:xfrm>
                <a:off x="1302287" y="874363"/>
                <a:ext cx="9587426" cy="5847113"/>
              </a:xfrm>
              <a:prstGeom prst="rect">
                <a:avLst/>
              </a:prstGeom>
              <a:blipFill>
                <a:blip r:embed="rId3"/>
                <a:stretch>
                  <a:fillRect l="-1018" b="-1354"/>
                </a:stretch>
              </a:blipFill>
            </p:spPr>
            <p:txBody>
              <a:bodyPr/>
              <a:lstStyle/>
              <a:p>
                <a:r>
                  <a:rPr lang="en-IN">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Energy</a:t>
            </a:r>
            <a:endParaRPr dirty="0">
              <a:latin typeface="+mn-lt"/>
            </a:endParaRPr>
          </a:p>
        </p:txBody>
      </p:sp>
      <p:sp>
        <p:nvSpPr>
          <p:cNvPr id="201" name="Google Shape;201;p18"/>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5</a:t>
            </a:fld>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9DA17BB-8C95-48CC-B1DF-643389020756}"/>
                  </a:ext>
                </a:extLst>
              </p:cNvPr>
              <p:cNvSpPr/>
              <p:nvPr/>
            </p:nvSpPr>
            <p:spPr>
              <a:xfrm>
                <a:off x="2217420" y="1706680"/>
                <a:ext cx="7829550" cy="4095673"/>
              </a:xfrm>
              <a:prstGeom prst="rect">
                <a:avLst/>
              </a:prstGeom>
            </p:spPr>
            <p:txBody>
              <a:bodyPr wrap="square">
                <a:spAutoFit/>
              </a:bodyPr>
              <a:lstStyle/>
              <a:p>
                <a:pPr marL="285750"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 Energy is the capacity of doing work.</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Equation of Energy: From eq1 by rewriting it </a:t>
                </a:r>
              </a:p>
              <a:p>
                <a:pPr>
                  <a:lnSpc>
                    <a:spcPct val="150000"/>
                  </a:lnSpc>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dw</a:t>
                </a:r>
                <a14:m>
                  <m:oMath xmlns:m="http://schemas.openxmlformats.org/officeDocument/2006/math">
                    <m:r>
                      <a:rPr lang="en-US" sz="2400" b="0" i="0" smtClean="0">
                        <a:latin typeface="Cambria Math" panose="02040503050406030204" pitchFamily="18" charset="0"/>
                      </a:rPr>
                      <m:t> </m:t>
                    </m:r>
                    <m:r>
                      <a:rPr lang="en-US" sz="2400" i="1">
                        <a:latin typeface="Cambria Math" panose="02040503050406030204" pitchFamily="18" charset="0"/>
                      </a:rPr>
                      <m:t>=</m:t>
                    </m:r>
                    <m:r>
                      <a:rPr lang="en-US" sz="2400" i="1">
                        <a:latin typeface="Cambria Math" panose="02040503050406030204" pitchFamily="18" charset="0"/>
                      </a:rPr>
                      <m:t>𝑝</m:t>
                    </m:r>
                    <m:r>
                      <a:rPr lang="en-US" sz="2400" i="1">
                        <a:latin typeface="Cambria Math" panose="02040503050406030204" pitchFamily="18" charset="0"/>
                      </a:rPr>
                      <m:t> </m:t>
                    </m:r>
                    <m:r>
                      <a:rPr lang="en-US" sz="2400" i="1">
                        <a:latin typeface="Cambria Math" panose="02040503050406030204" pitchFamily="18" charset="0"/>
                      </a:rPr>
                      <m:t>𝑑𝑡</m:t>
                    </m:r>
                  </m:oMath>
                </a14:m>
                <a:r>
                  <a:rPr lang="en-IN" sz="2400" dirty="0">
                    <a:latin typeface="Times New Roman" panose="02020603050405020304" pitchFamily="18" charset="0"/>
                    <a:cs typeface="Times New Roman" panose="02020603050405020304" pitchFamily="18" charset="0"/>
                  </a:rPr>
                  <a:t> ………………….(2)</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a:t>
                </a:r>
                <a:r>
                  <a:rPr lang="en-IN" sz="2400" dirty="0">
                    <a:latin typeface="Times New Roman" panose="02020603050405020304" pitchFamily="18" charset="0"/>
                    <a:cs typeface="Times New Roman" panose="02020603050405020304" pitchFamily="18" charset="0"/>
                  </a:rPr>
                  <a:t>n integrating Eq. 2 we have </a:t>
                </a:r>
              </a:p>
              <a:p>
                <a:pPr>
                  <a:lnSpc>
                    <a:spcPct val="150000"/>
                  </a:lnSpc>
                </a:pPr>
                <a:r>
                  <a:rPr lang="en-IN" sz="2400" dirty="0">
                    <a:latin typeface="Times New Roman" panose="02020603050405020304" pitchFamily="18" charset="0"/>
                    <a:cs typeface="Times New Roman" panose="02020603050405020304" pitchFamily="18" charset="0"/>
                  </a:rPr>
                  <a:t>		w</a:t>
                </a:r>
                <a14:m>
                  <m:oMath xmlns:m="http://schemas.openxmlformats.org/officeDocument/2006/math">
                    <m:r>
                      <a:rPr lang="en-IN" sz="2400" i="1" dirty="0" smtClean="0">
                        <a:latin typeface="Cambria Math" panose="02040503050406030204" pitchFamily="18" charset="0"/>
                      </a:rPr>
                      <m:t> </m:t>
                    </m:r>
                    <m:r>
                      <a:rPr lang="el-GR" sz="2400" i="1">
                        <a:latin typeface="Cambria Math" panose="02040503050406030204" pitchFamily="18" charset="0"/>
                      </a:rPr>
                      <m:t>=</m:t>
                    </m:r>
                    <m:nary>
                      <m:naryPr>
                        <m:limLoc m:val="subSup"/>
                        <m:grow m:val="on"/>
                        <m:ctrlPr>
                          <a:rPr lang="el-GR" sz="2400" i="1">
                            <a:latin typeface="Cambria Math" panose="02040503050406030204" pitchFamily="18" charset="0"/>
                          </a:rPr>
                        </m:ctrlPr>
                      </m:naryPr>
                      <m:sub>
                        <m:r>
                          <a:rPr lang="en-US" sz="2400" i="1">
                            <a:latin typeface="Cambria Math" panose="02040503050406030204" pitchFamily="18" charset="0"/>
                          </a:rPr>
                          <m:t>0</m:t>
                        </m:r>
                      </m:sub>
                      <m:sup>
                        <m:r>
                          <a:rPr lang="el-GR" sz="2400" i="1">
                            <a:latin typeface="Cambria Math" panose="02040503050406030204" pitchFamily="18" charset="0"/>
                          </a:rPr>
                          <m:t>𝑡</m:t>
                        </m:r>
                      </m:sup>
                      <m:e>
                        <m:r>
                          <a:rPr lang="en-US" sz="2400" i="1">
                            <a:latin typeface="Cambria Math" panose="02040503050406030204" pitchFamily="18" charset="0"/>
                          </a:rPr>
                          <m:t>𝑝</m:t>
                        </m:r>
                        <m:r>
                          <a:rPr lang="en-US" sz="2400" i="1">
                            <a:latin typeface="Cambria Math" panose="02040503050406030204" pitchFamily="18" charset="0"/>
                          </a:rPr>
                          <m:t> </m:t>
                        </m:r>
                        <m:r>
                          <a:rPr lang="en-US" sz="2400" i="1">
                            <a:latin typeface="Cambria Math" panose="02040503050406030204" pitchFamily="18" charset="0"/>
                          </a:rPr>
                          <m:t>𝑑𝑡</m:t>
                        </m:r>
                      </m:e>
                    </m:nary>
                  </m:oMath>
                </a14:m>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a:t>
                </a:r>
                <a:r>
                  <a:rPr lang="en-IN" sz="2400" b="1" dirty="0">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a:t>
                </a:r>
                <a:r>
                  <a:rPr lang="en-IN" sz="2400" dirty="0"/>
                  <a:t>International System of Units ) </a:t>
                </a:r>
                <a:r>
                  <a:rPr lang="en-IN" sz="2400" dirty="0">
                    <a:latin typeface="Times New Roman" panose="02020603050405020304" pitchFamily="18" charset="0"/>
                    <a:cs typeface="Times New Roman" panose="02020603050405020304" pitchFamily="18" charset="0"/>
                  </a:rPr>
                  <a:t>unit of energy is </a:t>
                </a:r>
                <a:r>
                  <a:rPr lang="en-IN" sz="2400" b="1" dirty="0">
                    <a:latin typeface="Times New Roman" panose="02020603050405020304" pitchFamily="18" charset="0"/>
                    <a:cs typeface="Times New Roman" panose="02020603050405020304" pitchFamily="18" charset="0"/>
                  </a:rPr>
                  <a:t>joule</a:t>
                </a:r>
                <a:r>
                  <a:rPr lang="en-IN" sz="2400" dirty="0">
                    <a:latin typeface="Times New Roman" panose="02020603050405020304" pitchFamily="18" charset="0"/>
                    <a:cs typeface="Times New Roman" panose="02020603050405020304" pitchFamily="18" charset="0"/>
                  </a:rPr>
                  <a:t> and is </a:t>
                </a:r>
                <a:r>
                  <a:rPr lang="en-IN" sz="2400" dirty="0" err="1">
                    <a:latin typeface="Times New Roman" panose="02020603050405020304" pitchFamily="18" charset="0"/>
                    <a:cs typeface="Times New Roman" panose="02020603050405020304" pitchFamily="18" charset="0"/>
                  </a:rPr>
                  <a:t>denoded</a:t>
                </a:r>
                <a:r>
                  <a:rPr lang="en-IN" sz="2400" dirty="0">
                    <a:latin typeface="Times New Roman" panose="02020603050405020304" pitchFamily="18" charset="0"/>
                    <a:cs typeface="Times New Roman" panose="02020603050405020304" pitchFamily="18" charset="0"/>
                  </a:rPr>
                  <a:t> by ‘ </a:t>
                </a:r>
                <a:r>
                  <a:rPr lang="en-IN" sz="2400" b="1" dirty="0">
                    <a:latin typeface="Times New Roman" panose="02020603050405020304" pitchFamily="18" charset="0"/>
                    <a:cs typeface="Times New Roman" panose="02020603050405020304" pitchFamily="18" charset="0"/>
                  </a:rPr>
                  <a:t>J</a:t>
                </a:r>
                <a:r>
                  <a:rPr lang="en-IN" sz="2400" dirty="0">
                    <a:latin typeface="Times New Roman" panose="02020603050405020304" pitchFamily="18" charset="0"/>
                    <a:cs typeface="Times New Roman" panose="02020603050405020304" pitchFamily="18" charset="0"/>
                  </a:rPr>
                  <a:t>’</a:t>
                </a:r>
              </a:p>
            </p:txBody>
          </p:sp>
        </mc:Choice>
        <mc:Fallback xmlns="">
          <p:sp>
            <p:nvSpPr>
              <p:cNvPr id="4" name="Rectangle 3">
                <a:extLst>
                  <a:ext uri="{FF2B5EF4-FFF2-40B4-BE49-F238E27FC236}">
                    <a16:creationId xmlns:a16="http://schemas.microsoft.com/office/drawing/2014/main" id="{19DA17BB-8C95-48CC-B1DF-643389020756}"/>
                  </a:ext>
                </a:extLst>
              </p:cNvPr>
              <p:cNvSpPr>
                <a:spLocks noRot="1" noChangeAspect="1" noMove="1" noResize="1" noEditPoints="1" noAdjustHandles="1" noChangeArrowheads="1" noChangeShapeType="1" noTextEdit="1"/>
              </p:cNvSpPr>
              <p:nvPr/>
            </p:nvSpPr>
            <p:spPr>
              <a:xfrm>
                <a:off x="2217420" y="1706680"/>
                <a:ext cx="7829550" cy="4095673"/>
              </a:xfrm>
              <a:prstGeom prst="rect">
                <a:avLst/>
              </a:prstGeom>
              <a:blipFill>
                <a:blip r:embed="rId3"/>
                <a:stretch>
                  <a:fillRect l="-1090" b="-2530"/>
                </a:stretch>
              </a:blipFill>
            </p:spPr>
            <p:txBody>
              <a:bodyPr/>
              <a:lstStyle/>
              <a:p>
                <a:r>
                  <a:rPr lang="en-IN">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9"/>
          <p:cNvSpPr txBox="1">
            <a:spLocks noGrp="1"/>
          </p:cNvSpPr>
          <p:nvPr>
            <p:ph type="title"/>
          </p:nvPr>
        </p:nvSpPr>
        <p:spPr>
          <a:xfrm>
            <a:off x="194310" y="77439"/>
            <a:ext cx="11803380" cy="931354"/>
          </a:xfrm>
          <a:prstGeom prst="rect">
            <a:avLst/>
          </a:prstGeom>
          <a:noFill/>
          <a:ln>
            <a:noFill/>
          </a:ln>
        </p:spPr>
        <p:txBody>
          <a:bodyPr spcFirstLastPara="1" vert="horz" wrap="square" lIns="91425" tIns="45700" rIns="91425" bIns="45700" rtlCol="0" anchor="ctr" anchorCtr="0">
            <a:noAutofit/>
          </a:bodyPr>
          <a:lstStyle/>
          <a:p>
            <a:pPr algn="ctr">
              <a:spcBef>
                <a:spcPts val="0"/>
              </a:spcBef>
              <a:buClr>
                <a:srgbClr val="C00000"/>
              </a:buClr>
              <a:buSzPts val="4000"/>
            </a:pPr>
            <a:r>
              <a:rPr lang="en-US" b="1" dirty="0">
                <a:solidFill>
                  <a:srgbClr val="C00000"/>
                </a:solidFill>
                <a:latin typeface="+mn-lt"/>
              </a:rPr>
              <a:t>Power Received and Supplied by an element</a:t>
            </a:r>
            <a:endParaRPr dirty="0">
              <a:latin typeface="+mn-lt"/>
            </a:endParaRPr>
          </a:p>
        </p:txBody>
      </p:sp>
      <p:pic>
        <p:nvPicPr>
          <p:cNvPr id="207" name="Google Shape;207;p19" descr="Diagram&#10;&#10;Description automatically generated"/>
          <p:cNvPicPr preferRelativeResize="0">
            <a:picLocks noGrp="1"/>
          </p:cNvPicPr>
          <p:nvPr>
            <p:ph type="body" idx="1"/>
          </p:nvPr>
        </p:nvPicPr>
        <p:blipFill rotWithShape="1">
          <a:blip r:embed="rId3">
            <a:alphaModFix/>
          </a:blip>
          <a:srcRect/>
          <a:stretch/>
        </p:blipFill>
        <p:spPr>
          <a:xfrm>
            <a:off x="4648201" y="1250150"/>
            <a:ext cx="4869243" cy="1696136"/>
          </a:xfrm>
          <a:prstGeom prst="rect">
            <a:avLst/>
          </a:prstGeom>
          <a:noFill/>
          <a:ln>
            <a:noFill/>
          </a:ln>
        </p:spPr>
      </p:pic>
      <p:sp>
        <p:nvSpPr>
          <p:cNvPr id="208" name="Google Shape;208;p19"/>
          <p:cNvSpPr txBox="1"/>
          <p:nvPr/>
        </p:nvSpPr>
        <p:spPr>
          <a:xfrm>
            <a:off x="6324600" y="4114801"/>
            <a:ext cx="4280044" cy="1200329"/>
          </a:xfrm>
          <a:prstGeom prst="rect">
            <a:avLst/>
          </a:prstGeom>
          <a:noFill/>
          <a:ln>
            <a:noFill/>
          </a:ln>
        </p:spPr>
        <p:txBody>
          <a:bodyPr spcFirstLastPara="1" wrap="square" lIns="91425" tIns="45700" rIns="91425" bIns="45700" anchor="t" anchorCtr="0">
            <a:spAutoFit/>
          </a:bodyPr>
          <a:lstStyle/>
          <a:p>
            <a:r>
              <a:rPr lang="en-US" b="1" dirty="0">
                <a:solidFill>
                  <a:schemeClr val="dk1"/>
                </a:solidFill>
                <a:latin typeface="Times New Roman"/>
                <a:ea typeface="Times New Roman"/>
                <a:cs typeface="Times New Roman"/>
                <a:sym typeface="Times New Roman"/>
              </a:rPr>
              <a:t>Figure 1 (a)The element voltage and current adhere to the passive convention. (b) The element voltage and current do not adhere to the passive convention.</a:t>
            </a:r>
            <a:endParaRPr b="1" dirty="0">
              <a:solidFill>
                <a:schemeClr val="dk1"/>
              </a:solidFill>
              <a:latin typeface="Times New Roman"/>
              <a:ea typeface="Times New Roman"/>
              <a:cs typeface="Times New Roman"/>
              <a:sym typeface="Times New Roman"/>
            </a:endParaRPr>
          </a:p>
        </p:txBody>
      </p:sp>
      <p:pic>
        <p:nvPicPr>
          <p:cNvPr id="209" name="Google Shape;209;p19" descr="Diagram&#10;&#10;b"/>
          <p:cNvPicPr preferRelativeResize="0"/>
          <p:nvPr/>
        </p:nvPicPr>
        <p:blipFill rotWithShape="1">
          <a:blip r:embed="rId4">
            <a:alphaModFix/>
          </a:blip>
          <a:srcRect/>
          <a:stretch/>
        </p:blipFill>
        <p:spPr>
          <a:xfrm>
            <a:off x="4724401" y="2590801"/>
            <a:ext cx="4869243" cy="1401557"/>
          </a:xfrm>
          <a:prstGeom prst="rect">
            <a:avLst/>
          </a:prstGeom>
          <a:noFill/>
          <a:ln>
            <a:noFill/>
          </a:ln>
        </p:spPr>
      </p:pic>
      <p:sp>
        <p:nvSpPr>
          <p:cNvPr id="210" name="Google Shape;210;p19"/>
          <p:cNvSpPr txBox="1"/>
          <p:nvPr/>
        </p:nvSpPr>
        <p:spPr>
          <a:xfrm>
            <a:off x="8044304" y="2209800"/>
            <a:ext cx="453970" cy="369332"/>
          </a:xfrm>
          <a:prstGeom prst="rect">
            <a:avLst/>
          </a:prstGeom>
          <a:noFill/>
          <a:ln>
            <a:noFill/>
          </a:ln>
        </p:spPr>
        <p:txBody>
          <a:bodyPr spcFirstLastPara="1" wrap="square" lIns="91425" tIns="45700" rIns="91425" bIns="45700" anchor="t" anchorCtr="0">
            <a:spAutoFit/>
          </a:bodyPr>
          <a:lstStyle/>
          <a:p>
            <a:r>
              <a:rPr lang="en-US" b="1">
                <a:solidFill>
                  <a:schemeClr val="dk1"/>
                </a:solidFill>
                <a:latin typeface="Times New Roman"/>
                <a:ea typeface="Times New Roman"/>
                <a:cs typeface="Times New Roman"/>
                <a:sym typeface="Times New Roman"/>
              </a:rPr>
              <a:t>(a)</a:t>
            </a:r>
            <a:endParaRPr/>
          </a:p>
        </p:txBody>
      </p:sp>
      <p:sp>
        <p:nvSpPr>
          <p:cNvPr id="211" name="Google Shape;211;p19"/>
          <p:cNvSpPr txBox="1"/>
          <p:nvPr/>
        </p:nvSpPr>
        <p:spPr>
          <a:xfrm>
            <a:off x="8102872" y="3429000"/>
            <a:ext cx="466794" cy="369332"/>
          </a:xfrm>
          <a:prstGeom prst="rect">
            <a:avLst/>
          </a:prstGeom>
          <a:noFill/>
          <a:ln>
            <a:noFill/>
          </a:ln>
        </p:spPr>
        <p:txBody>
          <a:bodyPr spcFirstLastPara="1" wrap="square" lIns="91425" tIns="45700" rIns="91425" bIns="45700" anchor="t" anchorCtr="0">
            <a:spAutoFit/>
          </a:bodyPr>
          <a:lstStyle/>
          <a:p>
            <a:r>
              <a:rPr lang="en-US" b="1">
                <a:solidFill>
                  <a:schemeClr val="dk1"/>
                </a:solidFill>
                <a:latin typeface="Times New Roman"/>
                <a:ea typeface="Times New Roman"/>
                <a:cs typeface="Times New Roman"/>
                <a:sym typeface="Times New Roman"/>
              </a:rPr>
              <a:t>(b)</a:t>
            </a:r>
            <a:endParaRPr/>
          </a:p>
        </p:txBody>
      </p:sp>
      <p:sp>
        <p:nvSpPr>
          <p:cNvPr id="212" name="Google Shape;212;p19"/>
          <p:cNvSpPr txBox="1"/>
          <p:nvPr/>
        </p:nvSpPr>
        <p:spPr>
          <a:xfrm>
            <a:off x="519881" y="982196"/>
            <a:ext cx="5766619" cy="5632271"/>
          </a:xfrm>
          <a:prstGeom prst="rect">
            <a:avLst/>
          </a:prstGeom>
          <a:noFill/>
          <a:ln>
            <a:noFill/>
          </a:ln>
        </p:spPr>
        <p:txBody>
          <a:bodyPr spcFirstLastPara="1" wrap="square" lIns="91425" tIns="45700" rIns="91425" bIns="45700" anchor="t" anchorCtr="0">
            <a:spAutoFit/>
          </a:bodyPr>
          <a:lstStyle/>
          <a:p>
            <a:pPr algn="just"/>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Figure 1 illustrates two distinct ways to arrange the direction of the current and the polarity of the voltage. </a:t>
            </a:r>
          </a:p>
          <a:p>
            <a:pPr algn="just"/>
            <a:endParaRPr sz="2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indent="-285750" algn="just">
              <a:buClr>
                <a:schemeClr val="dk1"/>
              </a:buClr>
              <a:buSzPts val="18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In Figure 1(a), the current is directed from the + toward the – of the voltage polarity. In this, the voltage and current are said to “adhere to the </a:t>
            </a:r>
            <a:r>
              <a:rPr lang="en-US" sz="2400" dirty="0">
                <a:solidFill>
                  <a:srgbClr val="FF0000"/>
                </a:solidFill>
                <a:latin typeface="Times New Roman" panose="02020603050405020304" pitchFamily="18" charset="0"/>
                <a:ea typeface="Times New Roman"/>
                <a:cs typeface="Times New Roman" panose="02020603050405020304" pitchFamily="18" charset="0"/>
                <a:sym typeface="Times New Roman"/>
              </a:rPr>
              <a:t>passive convention</a:t>
            </a: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algn="just">
              <a:buClr>
                <a:schemeClr val="dk1"/>
              </a:buClr>
              <a:buSzPts val="1800"/>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sz="2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indent="-285750" algn="just">
              <a:buClr>
                <a:srgbClr val="C00000"/>
              </a:buClr>
              <a:buSzPts val="1800"/>
              <a:buFont typeface="Arial"/>
              <a:buChar char="•"/>
            </a:pPr>
            <a:r>
              <a:rPr lang="en-US" sz="2400" b="1" dirty="0"/>
              <a:t>The passive sign convention</a:t>
            </a:r>
            <a:r>
              <a:rPr lang="en-US" sz="2400" dirty="0"/>
              <a:t> is a </a:t>
            </a:r>
            <a:r>
              <a:rPr lang="en-US" sz="2400" b="1" dirty="0"/>
              <a:t>rule used to determine the sign of power</a:t>
            </a:r>
            <a:r>
              <a:rPr lang="en-US" sz="2400" dirty="0"/>
              <a:t> in a circuit. </a:t>
            </a:r>
          </a:p>
          <a:p>
            <a:pPr marL="285750" indent="-285750" algn="just">
              <a:buClr>
                <a:srgbClr val="C00000"/>
              </a:buClr>
              <a:buSzPts val="1800"/>
              <a:buFont typeface="Arial"/>
              <a:buChar char="•"/>
            </a:pPr>
            <a:endParaRPr lang="en-US" sz="2400" dirty="0"/>
          </a:p>
          <a:p>
            <a:pPr marL="285750" indent="-285750" algn="just">
              <a:buClr>
                <a:srgbClr val="C00000"/>
              </a:buClr>
              <a:buSzPts val="1800"/>
              <a:buFont typeface="Arial"/>
              <a:buChar char="•"/>
            </a:pPr>
            <a:r>
              <a:rPr lang="en-US" sz="2400" dirty="0">
                <a:latin typeface="Times New Roman" panose="02020603050405020304" pitchFamily="18" charset="0"/>
                <a:ea typeface="Times New Roman"/>
                <a:cs typeface="Times New Roman" panose="02020603050405020304" pitchFamily="18" charset="0"/>
                <a:sym typeface="Times New Roman"/>
              </a:rPr>
              <a:t>The power calculated is known as the </a:t>
            </a:r>
            <a:r>
              <a:rPr lang="en-US" sz="2400" b="1" dirty="0">
                <a:latin typeface="Times New Roman" panose="02020603050405020304" pitchFamily="18" charset="0"/>
                <a:ea typeface="Times New Roman"/>
                <a:cs typeface="Times New Roman" panose="02020603050405020304" pitchFamily="18" charset="0"/>
                <a:sym typeface="Times New Roman"/>
              </a:rPr>
              <a:t>power received</a:t>
            </a:r>
            <a:r>
              <a:rPr lang="en-US" sz="2400" dirty="0">
                <a:latin typeface="Times New Roman" panose="02020603050405020304" pitchFamily="18" charset="0"/>
                <a:ea typeface="Times New Roman"/>
                <a:cs typeface="Times New Roman" panose="02020603050405020304" pitchFamily="18" charset="0"/>
                <a:sym typeface="Times New Roman"/>
              </a:rPr>
              <a:t>.</a:t>
            </a:r>
            <a:endParaRPr sz="2400" dirty="0">
              <a:latin typeface="Times New Roman" panose="02020603050405020304" pitchFamily="18" charset="0"/>
              <a:cs typeface="Times New Roman" panose="02020603050405020304" pitchFamily="18" charset="0"/>
            </a:endParaRPr>
          </a:p>
        </p:txBody>
      </p:sp>
      <p:sp>
        <p:nvSpPr>
          <p:cNvPr id="213" name="Google Shape;213;p19"/>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0"/>
          <p:cNvSpPr txBox="1">
            <a:spLocks noGrp="1"/>
          </p:cNvSpPr>
          <p:nvPr>
            <p:ph type="title"/>
          </p:nvPr>
        </p:nvSpPr>
        <p:spPr>
          <a:xfrm>
            <a:off x="1981200" y="76200"/>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Contd..</a:t>
            </a:r>
            <a:endParaRPr dirty="0">
              <a:latin typeface="+mn-lt"/>
            </a:endParaRPr>
          </a:p>
        </p:txBody>
      </p:sp>
      <p:sp>
        <p:nvSpPr>
          <p:cNvPr id="220" name="Google Shape;220;p20"/>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7</a:t>
            </a:fld>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7FFAE2-CEA6-45B2-8D54-88824A81299C}"/>
                  </a:ext>
                </a:extLst>
              </p:cNvPr>
              <p:cNvSpPr txBox="1"/>
              <p:nvPr/>
            </p:nvSpPr>
            <p:spPr>
              <a:xfrm>
                <a:off x="1248507" y="1006789"/>
                <a:ext cx="9694985" cy="563231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contrast, in Figure 1(b), the current is directed from the – towards the + of the voltage polarity.</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this case, the voltage pushes a positive charge in the direction opposite to the direction indicated by the current.</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Accordingly, when the element voltage and current do not adhere to the passive convention, the power calculated by multiplying the element voltage by the element current is the power supplied by the element.</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power received by an element and the power supplied by that same element are related by </a:t>
                </a:r>
              </a:p>
              <a:p>
                <a:pPr lvl="3">
                  <a:lnSpc>
                    <a:spcPct val="150000"/>
                  </a:lnSpc>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𝑃𝑜𝑤𝑒𝑟</m:t>
                      </m:r>
                      <m:r>
                        <a:rPr lang="en-US" sz="2400" b="0" i="1" smtClean="0">
                          <a:latin typeface="Cambria Math" panose="02040503050406030204" pitchFamily="18" charset="0"/>
                        </a:rPr>
                        <m:t> </m:t>
                      </m:r>
                      <m:r>
                        <a:rPr lang="en-US" sz="2400" b="0" i="1" smtClean="0">
                          <a:latin typeface="Cambria Math" panose="02040503050406030204" pitchFamily="18" charset="0"/>
                        </a:rPr>
                        <m:t>𝑅𝑒𝑐𝑒𝑖𝑣𝑒𝑑</m:t>
                      </m:r>
                      <m:r>
                        <a:rPr lang="en-IN" sz="2400" i="1" smtClean="0">
                          <a:latin typeface="Cambria Math" panose="02040503050406030204" pitchFamily="18" charset="0"/>
                        </a:rPr>
                        <m:t>=</m:t>
                      </m:r>
                      <m:r>
                        <a:rPr lang="en-US" sz="2400" b="0" i="1" smtClean="0">
                          <a:latin typeface="Cambria Math" panose="02040503050406030204" pitchFamily="18" charset="0"/>
                        </a:rPr>
                        <m:t>−</m:t>
                      </m:r>
                      <m:r>
                        <a:rPr lang="en-US" sz="2400" b="0" i="1" smtClean="0">
                          <a:latin typeface="Cambria Math" panose="02040503050406030204" pitchFamily="18" charset="0"/>
                        </a:rPr>
                        <m:t>𝑃𝑜𝑤𝑒𝑟</m:t>
                      </m:r>
                      <m:r>
                        <a:rPr lang="en-US" sz="2400" b="0" i="1" smtClean="0">
                          <a:latin typeface="Cambria Math" panose="02040503050406030204" pitchFamily="18" charset="0"/>
                        </a:rPr>
                        <m:t> </m:t>
                      </m:r>
                      <m:r>
                        <a:rPr lang="en-US" sz="2400" b="0" i="1" smtClean="0">
                          <a:latin typeface="Cambria Math" panose="02040503050406030204" pitchFamily="18" charset="0"/>
                        </a:rPr>
                        <m:t>𝑆𝑢𝑝𝑝𝑙𝑖𝑒𝑑</m:t>
                      </m:r>
                    </m:oMath>
                  </m:oMathPara>
                </a14:m>
                <a:endParaRPr lang="en-IN" sz="24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B57FFAE2-CEA6-45B2-8D54-88824A81299C}"/>
                  </a:ext>
                </a:extLst>
              </p:cNvPr>
              <p:cNvSpPr txBox="1">
                <a:spLocks noRot="1" noChangeAspect="1" noMove="1" noResize="1" noEditPoints="1" noAdjustHandles="1" noChangeArrowheads="1" noChangeShapeType="1" noTextEdit="1"/>
              </p:cNvSpPr>
              <p:nvPr/>
            </p:nvSpPr>
            <p:spPr>
              <a:xfrm>
                <a:off x="1248507" y="1006789"/>
                <a:ext cx="9694985" cy="5632311"/>
              </a:xfrm>
              <a:prstGeom prst="rect">
                <a:avLst/>
              </a:prstGeom>
              <a:blipFill>
                <a:blip r:embed="rId3"/>
                <a:stretch>
                  <a:fillRect l="-881"/>
                </a:stretch>
              </a:blipFill>
            </p:spPr>
            <p:txBody>
              <a:bodyPr/>
              <a:lstStyle/>
              <a:p>
                <a:r>
                  <a:rPr lang="en-IN">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1"/>
          <p:cNvSpPr txBox="1">
            <a:spLocks noGrp="1"/>
          </p:cNvSpPr>
          <p:nvPr>
            <p:ph type="title"/>
          </p:nvPr>
        </p:nvSpPr>
        <p:spPr>
          <a:xfrm>
            <a:off x="1981200" y="-27384"/>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SOURCES</a:t>
            </a:r>
            <a:r>
              <a:rPr lang="en-US" b="1" dirty="0">
                <a:latin typeface="+mn-lt"/>
                <a:ea typeface="Times New Roman"/>
                <a:cs typeface="Times New Roman"/>
                <a:sym typeface="Times New Roman"/>
              </a:rPr>
              <a:t> </a:t>
            </a:r>
            <a:endParaRPr dirty="0">
              <a:latin typeface="+mn-lt"/>
            </a:endParaRPr>
          </a:p>
        </p:txBody>
      </p:sp>
      <p:sp>
        <p:nvSpPr>
          <p:cNvPr id="226" name="Google Shape;226;p21"/>
          <p:cNvSpPr txBox="1">
            <a:spLocks noGrp="1"/>
          </p:cNvSpPr>
          <p:nvPr>
            <p:ph type="body" idx="1"/>
          </p:nvPr>
        </p:nvSpPr>
        <p:spPr>
          <a:xfrm>
            <a:off x="1981200" y="908720"/>
            <a:ext cx="8229600" cy="1584176"/>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2000"/>
            </a:pPr>
            <a:r>
              <a:rPr lang="en-US" sz="2400" b="1" dirty="0">
                <a:latin typeface="Times New Roman" panose="02020603050405020304" pitchFamily="18" charset="0"/>
                <a:ea typeface="Times New Roman"/>
                <a:cs typeface="Times New Roman" panose="02020603050405020304" pitchFamily="18" charset="0"/>
                <a:sym typeface="Times New Roman"/>
              </a:rPr>
              <a:t>Sources</a:t>
            </a:r>
            <a:r>
              <a:rPr lang="en-US" sz="2400" dirty="0">
                <a:latin typeface="Times New Roman" panose="02020603050405020304" pitchFamily="18" charset="0"/>
                <a:ea typeface="Times New Roman"/>
                <a:cs typeface="Times New Roman" panose="02020603050405020304" pitchFamily="18" charset="0"/>
                <a:sym typeface="Times New Roman"/>
              </a:rPr>
              <a:t> – Are the devices that are intended to supply energy to a circuit. </a:t>
            </a:r>
          </a:p>
          <a:p>
            <a:pPr marL="342900" indent="-342900" algn="just">
              <a:spcBef>
                <a:spcPts val="0"/>
              </a:spcBef>
              <a:buClr>
                <a:schemeClr val="dk1"/>
              </a:buClr>
              <a:buSzPts val="2000"/>
            </a:pPr>
            <a:r>
              <a:rPr lang="en-US" sz="2400" dirty="0">
                <a:latin typeface="Times New Roman" panose="02020603050405020304" pitchFamily="18" charset="0"/>
                <a:ea typeface="Times New Roman"/>
                <a:cs typeface="Times New Roman" panose="02020603050405020304" pitchFamily="18" charset="0"/>
                <a:sym typeface="Times New Roman"/>
              </a:rPr>
              <a:t>A source is a voltage or current generator capable of </a:t>
            </a:r>
            <a:r>
              <a:rPr lang="en-US" sz="2400" b="1" dirty="0">
                <a:latin typeface="Times New Roman" panose="02020603050405020304" pitchFamily="18" charset="0"/>
                <a:ea typeface="Times New Roman"/>
                <a:cs typeface="Times New Roman" panose="02020603050405020304" pitchFamily="18" charset="0"/>
                <a:sym typeface="Times New Roman"/>
              </a:rPr>
              <a:t>supplying energy to a circuit</a:t>
            </a:r>
            <a:r>
              <a:rPr lang="en-US" sz="2400" dirty="0">
                <a:latin typeface="Times New Roman" panose="02020603050405020304" pitchFamily="18" charset="0"/>
                <a:ea typeface="Times New Roman"/>
                <a:cs typeface="Times New Roman" panose="02020603050405020304" pitchFamily="18" charset="0"/>
                <a:sym typeface="Times New Roman"/>
              </a:rPr>
              <a:t>. </a:t>
            </a:r>
          </a:p>
          <a:p>
            <a:pPr marL="342900" indent="-342900" algn="just">
              <a:spcBef>
                <a:spcPts val="0"/>
              </a:spcBef>
              <a:buClr>
                <a:schemeClr val="dk1"/>
              </a:buClr>
              <a:buSzPts val="2000"/>
            </a:pPr>
            <a:r>
              <a:rPr lang="en-US" sz="2400" dirty="0">
                <a:latin typeface="Times New Roman" panose="02020603050405020304" pitchFamily="18" charset="0"/>
                <a:ea typeface="Times New Roman"/>
                <a:cs typeface="Times New Roman" panose="02020603050405020304" pitchFamily="18" charset="0"/>
                <a:sym typeface="Times New Roman"/>
              </a:rPr>
              <a:t>An active two-terminal element that supplies energy to a circuit is a source of energy. </a:t>
            </a:r>
            <a:endParaRPr sz="24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Sources are categorized as : </a:t>
            </a:r>
            <a:r>
              <a:rPr lang="en-US" sz="2400" b="1" dirty="0">
                <a:latin typeface="Times New Roman" panose="02020603050405020304" pitchFamily="18" charset="0"/>
                <a:ea typeface="Times New Roman"/>
                <a:cs typeface="Times New Roman" panose="02020603050405020304" pitchFamily="18" charset="0"/>
                <a:sym typeface="Times New Roman"/>
              </a:rPr>
              <a:t>voltage</a:t>
            </a:r>
            <a:r>
              <a:rPr lang="en-US" sz="2400" dirty="0">
                <a:latin typeface="Times New Roman" panose="02020603050405020304" pitchFamily="18" charset="0"/>
                <a:ea typeface="Times New Roman"/>
                <a:cs typeface="Times New Roman" panose="02020603050405020304" pitchFamily="18" charset="0"/>
                <a:sym typeface="Times New Roman"/>
              </a:rPr>
              <a:t> sources and </a:t>
            </a:r>
            <a:r>
              <a:rPr lang="en-US" sz="2400" b="1" dirty="0">
                <a:latin typeface="Times New Roman" panose="02020603050405020304" pitchFamily="18" charset="0"/>
                <a:ea typeface="Times New Roman"/>
                <a:cs typeface="Times New Roman" panose="02020603050405020304" pitchFamily="18" charset="0"/>
                <a:sym typeface="Times New Roman"/>
              </a:rPr>
              <a:t>current</a:t>
            </a:r>
            <a:r>
              <a:rPr lang="en-US" sz="2400" dirty="0">
                <a:latin typeface="Times New Roman" panose="02020603050405020304" pitchFamily="18" charset="0"/>
                <a:ea typeface="Times New Roman"/>
                <a:cs typeface="Times New Roman" panose="02020603050405020304" pitchFamily="18" charset="0"/>
                <a:sym typeface="Times New Roman"/>
              </a:rPr>
              <a:t> sources. </a:t>
            </a:r>
            <a:endParaRPr sz="2400" dirty="0">
              <a:latin typeface="Times New Roman" panose="02020603050405020304" pitchFamily="18" charset="0"/>
              <a:cs typeface="Times New Roman" panose="02020603050405020304" pitchFamily="18" charset="0"/>
            </a:endParaRPr>
          </a:p>
        </p:txBody>
      </p:sp>
      <p:pic>
        <p:nvPicPr>
          <p:cNvPr id="227" name="Google Shape;227;p21"/>
          <p:cNvPicPr preferRelativeResize="0"/>
          <p:nvPr/>
        </p:nvPicPr>
        <p:blipFill rotWithShape="1">
          <a:blip r:embed="rId3">
            <a:alphaModFix/>
          </a:blip>
          <a:srcRect t="9454" r="11335"/>
          <a:stretch/>
        </p:blipFill>
        <p:spPr>
          <a:xfrm>
            <a:off x="3787990" y="3979606"/>
            <a:ext cx="4104456" cy="2276872"/>
          </a:xfrm>
          <a:prstGeom prst="rect">
            <a:avLst/>
          </a:prstGeom>
          <a:noFill/>
          <a:ln>
            <a:noFill/>
          </a:ln>
        </p:spPr>
      </p:pic>
      <p:sp>
        <p:nvSpPr>
          <p:cNvPr id="228" name="Google Shape;228;p21"/>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2"/>
          <p:cNvSpPr txBox="1">
            <a:spLocks noGrp="1"/>
          </p:cNvSpPr>
          <p:nvPr>
            <p:ph type="body" idx="1"/>
          </p:nvPr>
        </p:nvSpPr>
        <p:spPr>
          <a:xfrm>
            <a:off x="196645" y="1340769"/>
            <a:ext cx="11572568" cy="4525963"/>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2000"/>
            </a:pPr>
            <a:r>
              <a:rPr lang="en-US" sz="2400" b="1" dirty="0">
                <a:latin typeface="Times New Roman" panose="02020603050405020304" pitchFamily="18" charset="0"/>
                <a:ea typeface="Times New Roman"/>
                <a:cs typeface="Times New Roman" panose="02020603050405020304" pitchFamily="18" charset="0"/>
                <a:sym typeface="Times New Roman"/>
              </a:rPr>
              <a:t>Independent source: a voltage or current generator not dependent on other circuit variables. </a:t>
            </a:r>
          </a:p>
          <a:p>
            <a:pPr marL="342900" indent="-342900" algn="just">
              <a:spcBef>
                <a:spcPts val="0"/>
              </a:spcBef>
              <a:buClr>
                <a:schemeClr val="dk1"/>
              </a:buClr>
              <a:buSzPts val="2000"/>
            </a:pPr>
            <a:endParaRPr sz="2400" dirty="0">
              <a:latin typeface="Times New Roman" panose="02020603050405020304" pitchFamily="18" charset="0"/>
              <a:cs typeface="Times New Roman" panose="02020603050405020304" pitchFamily="18" charset="0"/>
            </a:endParaRPr>
          </a:p>
          <a:p>
            <a:pPr marL="342900" indent="-342900" algn="just">
              <a:spcBef>
                <a:spcPts val="400"/>
              </a:spcBef>
              <a:buClr>
                <a:schemeClr val="dk1"/>
              </a:buClr>
              <a:buSzPts val="2000"/>
            </a:pPr>
            <a:r>
              <a:rPr lang="en-US" sz="2400" b="1" dirty="0">
                <a:latin typeface="Times New Roman" panose="02020603050405020304" pitchFamily="18" charset="0"/>
                <a:ea typeface="Times New Roman"/>
                <a:cs typeface="Times New Roman" panose="02020603050405020304" pitchFamily="18" charset="0"/>
                <a:sym typeface="Times New Roman"/>
              </a:rPr>
              <a:t>Independent voltage source: </a:t>
            </a:r>
            <a:r>
              <a:rPr lang="en-US" sz="2400" dirty="0">
                <a:latin typeface="Times New Roman" panose="02020603050405020304" pitchFamily="18" charset="0"/>
                <a:ea typeface="Times New Roman"/>
                <a:cs typeface="Times New Roman" panose="02020603050405020304" pitchFamily="18" charset="0"/>
                <a:sym typeface="Times New Roman"/>
              </a:rPr>
              <a:t>provides </a:t>
            </a:r>
            <a:r>
              <a:rPr lang="en-US" sz="2400" b="1" dirty="0">
                <a:latin typeface="Times New Roman" panose="02020603050405020304" pitchFamily="18" charset="0"/>
                <a:ea typeface="Times New Roman"/>
                <a:cs typeface="Times New Roman" panose="02020603050405020304" pitchFamily="18" charset="0"/>
                <a:sym typeface="Times New Roman"/>
              </a:rPr>
              <a:t>a specified voltage independent of the current through it </a:t>
            </a:r>
            <a:r>
              <a:rPr lang="en-US" sz="2400" dirty="0">
                <a:latin typeface="Times New Roman" panose="02020603050405020304" pitchFamily="18" charset="0"/>
                <a:ea typeface="Times New Roman"/>
                <a:cs typeface="Times New Roman" panose="02020603050405020304" pitchFamily="18" charset="0"/>
                <a:sym typeface="Times New Roman"/>
              </a:rPr>
              <a:t>and is independent of any other circuit variable. </a:t>
            </a:r>
            <a:endParaRPr sz="2400" dirty="0">
              <a:latin typeface="Times New Roman" panose="02020603050405020304" pitchFamily="18" charset="0"/>
              <a:cs typeface="Times New Roman" panose="02020603050405020304" pitchFamily="18" charset="0"/>
            </a:endParaRPr>
          </a:p>
          <a:p>
            <a:pPr marL="742950" lvl="1" indent="-285750" algn="just">
              <a:spcBef>
                <a:spcPts val="320"/>
              </a:spcBef>
              <a:buClr>
                <a:schemeClr val="dk2"/>
              </a:buClr>
              <a:buSzPts val="1600"/>
              <a:buChar char="–"/>
            </a:pPr>
            <a:r>
              <a:rPr lang="en-US" dirty="0">
                <a:latin typeface="Times New Roman" panose="02020603050405020304" pitchFamily="18" charset="0"/>
                <a:ea typeface="Times New Roman"/>
                <a:cs typeface="Times New Roman" panose="02020603050405020304" pitchFamily="18" charset="0"/>
                <a:sym typeface="Times New Roman"/>
              </a:rPr>
              <a:t>For example, a voltage source specified by </a:t>
            </a:r>
            <a:r>
              <a:rPr lang="en-US" b="1" dirty="0">
                <a:latin typeface="Times New Roman" panose="02020603050405020304" pitchFamily="18" charset="0"/>
                <a:ea typeface="Times New Roman"/>
                <a:cs typeface="Times New Roman" panose="02020603050405020304" pitchFamily="18" charset="0"/>
                <a:sym typeface="Times New Roman"/>
              </a:rPr>
              <a:t>v(t) = 9 volts will have a voltage of 9 volts </a:t>
            </a:r>
            <a:r>
              <a:rPr lang="en-US" dirty="0">
                <a:latin typeface="Times New Roman" panose="02020603050405020304" pitchFamily="18" charset="0"/>
                <a:ea typeface="Times New Roman"/>
                <a:cs typeface="Times New Roman" panose="02020603050405020304" pitchFamily="18" charset="0"/>
                <a:sym typeface="Times New Roman"/>
              </a:rPr>
              <a:t>regardless of the circuit in which it is used. In contrast, the current of the voltage source depends on the circuit in which the source is used.</a:t>
            </a:r>
          </a:p>
          <a:p>
            <a:pPr marL="742950" lvl="1" indent="-285750" algn="just">
              <a:spcBef>
                <a:spcPts val="320"/>
              </a:spcBef>
              <a:buClr>
                <a:schemeClr val="dk2"/>
              </a:buClr>
              <a:buSzPts val="1600"/>
              <a:buChar char="–"/>
            </a:pPr>
            <a:endParaRPr dirty="0">
              <a:latin typeface="Times New Roman" panose="02020603050405020304" pitchFamily="18" charset="0"/>
              <a:cs typeface="Times New Roman" panose="02020603050405020304" pitchFamily="18" charset="0"/>
            </a:endParaRPr>
          </a:p>
          <a:p>
            <a:pPr marL="342900" indent="-342900" algn="just">
              <a:spcBef>
                <a:spcPts val="400"/>
              </a:spcBef>
              <a:buClr>
                <a:schemeClr val="dk1"/>
              </a:buClr>
              <a:buSzPts val="2000"/>
            </a:pPr>
            <a:r>
              <a:rPr lang="en-US" sz="2400" b="1" dirty="0">
                <a:latin typeface="Times New Roman" panose="02020603050405020304" pitchFamily="18" charset="0"/>
                <a:ea typeface="Times New Roman"/>
                <a:cs typeface="Times New Roman" panose="02020603050405020304" pitchFamily="18" charset="0"/>
                <a:sym typeface="Times New Roman"/>
              </a:rPr>
              <a:t>Independent current source: provides a current, independent of the voltage across the source</a:t>
            </a:r>
            <a:r>
              <a:rPr lang="en-US" sz="2400" dirty="0">
                <a:latin typeface="Times New Roman" panose="02020603050405020304" pitchFamily="18" charset="0"/>
                <a:ea typeface="Times New Roman"/>
                <a:cs typeface="Times New Roman" panose="02020603050405020304" pitchFamily="18" charset="0"/>
                <a:sym typeface="Times New Roman"/>
              </a:rPr>
              <a:t> element and is independent of any other circuit variable. </a:t>
            </a:r>
            <a:endParaRPr sz="2400" dirty="0">
              <a:latin typeface="Times New Roman" panose="02020603050405020304" pitchFamily="18" charset="0"/>
              <a:cs typeface="Times New Roman" panose="02020603050405020304" pitchFamily="18" charset="0"/>
            </a:endParaRPr>
          </a:p>
          <a:p>
            <a:pPr marL="742950" lvl="1" indent="-285750" algn="just">
              <a:spcBef>
                <a:spcPts val="320"/>
              </a:spcBef>
              <a:buClr>
                <a:schemeClr val="dk2"/>
              </a:buClr>
              <a:buSzPts val="1600"/>
              <a:buChar char="–"/>
            </a:pPr>
            <a:r>
              <a:rPr lang="en-US" dirty="0">
                <a:latin typeface="Times New Roman" panose="02020603050405020304" pitchFamily="18" charset="0"/>
                <a:ea typeface="Times New Roman"/>
                <a:cs typeface="Times New Roman" panose="02020603050405020304" pitchFamily="18" charset="0"/>
                <a:sym typeface="Times New Roman"/>
              </a:rPr>
              <a:t>For example, a current source specified by </a:t>
            </a:r>
            <a:r>
              <a:rPr lang="en-US" b="1" dirty="0" err="1">
                <a:latin typeface="Times New Roman" panose="02020603050405020304" pitchFamily="18" charset="0"/>
                <a:ea typeface="Times New Roman"/>
                <a:cs typeface="Times New Roman" panose="02020603050405020304" pitchFamily="18" charset="0"/>
                <a:sym typeface="Times New Roman"/>
              </a:rPr>
              <a:t>i</a:t>
            </a:r>
            <a:r>
              <a:rPr lang="en-US" b="1" dirty="0">
                <a:latin typeface="Times New Roman" panose="02020603050405020304" pitchFamily="18" charset="0"/>
                <a:ea typeface="Times New Roman"/>
                <a:cs typeface="Times New Roman" panose="02020603050405020304" pitchFamily="18" charset="0"/>
                <a:sym typeface="Times New Roman"/>
              </a:rPr>
              <a:t>(t) = —0.25 milliamps will have a current of —0.25 milliamps</a:t>
            </a:r>
            <a:r>
              <a:rPr lang="en-US" dirty="0">
                <a:latin typeface="Times New Roman" panose="02020603050405020304" pitchFamily="18" charset="0"/>
                <a:ea typeface="Times New Roman"/>
                <a:cs typeface="Times New Roman" panose="02020603050405020304" pitchFamily="18" charset="0"/>
                <a:sym typeface="Times New Roman"/>
              </a:rPr>
              <a:t> in any circuit in which it is used. The voltage across this current source will depend on the particular circuit. </a:t>
            </a:r>
            <a:endParaRPr dirty="0">
              <a:latin typeface="Times New Roman" panose="02020603050405020304" pitchFamily="18" charset="0"/>
              <a:cs typeface="Times New Roman" panose="02020603050405020304" pitchFamily="18" charset="0"/>
            </a:endParaRPr>
          </a:p>
          <a:p>
            <a:pPr marL="342900" indent="-215900" algn="just">
              <a:spcBef>
                <a:spcPts val="400"/>
              </a:spcBef>
              <a:buClr>
                <a:schemeClr val="dk1"/>
              </a:buClr>
              <a:buSzPts val="2000"/>
              <a:buNone/>
            </a:pPr>
            <a:endParaRPr sz="2400" b="1" dirty="0">
              <a:latin typeface="Times New Roman" panose="02020603050405020304" pitchFamily="18" charset="0"/>
              <a:ea typeface="Times New Roman"/>
              <a:cs typeface="Times New Roman" panose="02020603050405020304" pitchFamily="18" charset="0"/>
              <a:sym typeface="Times New Roman"/>
            </a:endParaRPr>
          </a:p>
          <a:p>
            <a:pPr marL="342900" indent="-215900" algn="just">
              <a:spcBef>
                <a:spcPts val="400"/>
              </a:spcBef>
              <a:buClr>
                <a:schemeClr val="dk1"/>
              </a:buClr>
              <a:buSzPts val="2000"/>
              <a:buNone/>
            </a:pPr>
            <a:endParaRPr sz="2000" b="1" dirty="0">
              <a:latin typeface="Times New Roman"/>
              <a:ea typeface="Times New Roman"/>
              <a:cs typeface="Times New Roman"/>
              <a:sym typeface="Times New Roman"/>
            </a:endParaRPr>
          </a:p>
        </p:txBody>
      </p:sp>
      <p:sp>
        <p:nvSpPr>
          <p:cNvPr id="234" name="Google Shape;234;p22"/>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INDEPENDENT SOURCES </a:t>
            </a:r>
            <a:endParaRPr dirty="0">
              <a:latin typeface="+mn-lt"/>
            </a:endParaRPr>
          </a:p>
        </p:txBody>
      </p:sp>
      <p:sp>
        <p:nvSpPr>
          <p:cNvPr id="235" name="Google Shape;235;p22"/>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3"/>
          <p:cNvSpPr txBox="1">
            <a:spLocks noGrp="1"/>
          </p:cNvSpPr>
          <p:nvPr>
            <p:ph type="body" idx="1"/>
          </p:nvPr>
        </p:nvSpPr>
        <p:spPr>
          <a:xfrm>
            <a:off x="447368" y="1166019"/>
            <a:ext cx="11297264" cy="2581747"/>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1800"/>
            </a:pPr>
            <a:r>
              <a:rPr lang="en-US" sz="2400" b="1" dirty="0">
                <a:latin typeface="Times New Roman" panose="02020603050405020304" pitchFamily="18" charset="0"/>
                <a:ea typeface="Times New Roman"/>
                <a:cs typeface="Times New Roman" panose="02020603050405020304" pitchFamily="18" charset="0"/>
                <a:sym typeface="Times New Roman"/>
              </a:rPr>
              <a:t>Dependent sources model </a:t>
            </a:r>
            <a:r>
              <a:rPr lang="en-US" sz="2400" dirty="0">
                <a:latin typeface="Times New Roman" panose="02020603050405020304" pitchFamily="18" charset="0"/>
                <a:ea typeface="Times New Roman"/>
                <a:cs typeface="Times New Roman" panose="02020603050405020304" pitchFamily="18" charset="0"/>
                <a:sym typeface="Times New Roman"/>
              </a:rPr>
              <a:t>the situation in which the </a:t>
            </a:r>
            <a:r>
              <a:rPr lang="en-US" sz="2400" b="1" dirty="0">
                <a:latin typeface="Times New Roman" panose="02020603050405020304" pitchFamily="18" charset="0"/>
                <a:ea typeface="Times New Roman"/>
                <a:cs typeface="Times New Roman" panose="02020603050405020304" pitchFamily="18" charset="0"/>
                <a:sym typeface="Times New Roman"/>
              </a:rPr>
              <a:t>voltage or current of one circuit element is proportional to the voltage or current of the second circuit element. </a:t>
            </a:r>
            <a:endParaRPr sz="2400" b="1" dirty="0">
              <a:latin typeface="Times New Roman" panose="02020603050405020304" pitchFamily="18" charset="0"/>
              <a:cs typeface="Times New Roman" panose="02020603050405020304" pitchFamily="18" charset="0"/>
            </a:endParaRPr>
          </a:p>
          <a:p>
            <a:pPr marL="742950" lvl="1" indent="-285750" algn="just">
              <a:spcBef>
                <a:spcPts val="360"/>
              </a:spcBef>
              <a:buClr>
                <a:schemeClr val="dk1"/>
              </a:buClr>
              <a:buSzPts val="1800"/>
              <a:buChar char="–"/>
            </a:pPr>
            <a:r>
              <a:rPr lang="en-US" dirty="0">
                <a:latin typeface="Times New Roman" panose="02020603050405020304" pitchFamily="18" charset="0"/>
                <a:ea typeface="Times New Roman"/>
                <a:cs typeface="Times New Roman" panose="02020603050405020304" pitchFamily="18" charset="0"/>
                <a:sym typeface="Times New Roman"/>
              </a:rPr>
              <a:t>(In contrast, a resistor is a circuit element in which the voltage of the element is proportional to the current in the same element.) </a:t>
            </a:r>
            <a:endParaRPr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400" b="1" dirty="0">
                <a:latin typeface="Times New Roman" panose="02020603050405020304" pitchFamily="18" charset="0"/>
                <a:ea typeface="Times New Roman"/>
                <a:cs typeface="Times New Roman" panose="02020603050405020304" pitchFamily="18" charset="0"/>
                <a:sym typeface="Times New Roman"/>
              </a:rPr>
              <a:t>Dependent sources </a:t>
            </a:r>
            <a:r>
              <a:rPr lang="en-US" sz="2400" dirty="0">
                <a:latin typeface="Times New Roman" panose="02020603050405020304" pitchFamily="18" charset="0"/>
                <a:ea typeface="Times New Roman"/>
                <a:cs typeface="Times New Roman" panose="02020603050405020304" pitchFamily="18" charset="0"/>
                <a:sym typeface="Times New Roman"/>
              </a:rPr>
              <a:t>are used to model electronic devices such </a:t>
            </a:r>
            <a:r>
              <a:rPr lang="en-US" sz="2400" b="1" dirty="0">
                <a:latin typeface="Times New Roman" panose="02020603050405020304" pitchFamily="18" charset="0"/>
                <a:ea typeface="Times New Roman"/>
                <a:cs typeface="Times New Roman" panose="02020603050405020304" pitchFamily="18" charset="0"/>
                <a:sym typeface="Times New Roman"/>
              </a:rPr>
              <a:t>as transistors and amplifiers</a:t>
            </a:r>
            <a:r>
              <a:rPr lang="en-US" sz="2400" dirty="0">
                <a:latin typeface="Times New Roman" panose="02020603050405020304" pitchFamily="18" charset="0"/>
                <a:ea typeface="Times New Roman"/>
                <a:cs typeface="Times New Roman" panose="02020603050405020304" pitchFamily="18" charset="0"/>
                <a:sym typeface="Times New Roman"/>
              </a:rPr>
              <a:t>. For example, </a:t>
            </a:r>
            <a:r>
              <a:rPr lang="en-US" sz="2400" b="1" dirty="0">
                <a:latin typeface="Times New Roman" panose="02020603050405020304" pitchFamily="18" charset="0"/>
                <a:ea typeface="Times New Roman"/>
                <a:cs typeface="Times New Roman" panose="02020603050405020304" pitchFamily="18" charset="0"/>
                <a:sym typeface="Times New Roman"/>
              </a:rPr>
              <a:t>the output voltage of an amplifier is proportional to the input voltage</a:t>
            </a:r>
            <a:r>
              <a:rPr lang="en-US" sz="2400" dirty="0">
                <a:latin typeface="Times New Roman" panose="02020603050405020304" pitchFamily="18" charset="0"/>
                <a:ea typeface="Times New Roman"/>
                <a:cs typeface="Times New Roman" panose="02020603050405020304" pitchFamily="18" charset="0"/>
                <a:sym typeface="Times New Roman"/>
              </a:rPr>
              <a:t> of that amplifier, so an </a:t>
            </a:r>
            <a:r>
              <a:rPr lang="en-US" sz="2400" b="1" dirty="0">
                <a:latin typeface="Times New Roman" panose="02020603050405020304" pitchFamily="18" charset="0"/>
                <a:ea typeface="Times New Roman"/>
                <a:cs typeface="Times New Roman" panose="02020603050405020304" pitchFamily="18" charset="0"/>
                <a:sym typeface="Times New Roman"/>
              </a:rPr>
              <a:t>amplifier can be modeled as a dependent source.</a:t>
            </a:r>
            <a:endParaRPr sz="2400" b="1" dirty="0">
              <a:latin typeface="Times New Roman" panose="02020603050405020304" pitchFamily="18" charset="0"/>
              <a:cs typeface="Times New Roman" panose="02020603050405020304" pitchFamily="18" charset="0"/>
            </a:endParaRPr>
          </a:p>
        </p:txBody>
      </p:sp>
      <p:sp>
        <p:nvSpPr>
          <p:cNvPr id="241" name="Google Shape;241;p23"/>
          <p:cNvSpPr txBox="1">
            <a:spLocks noGrp="1"/>
          </p:cNvSpPr>
          <p:nvPr>
            <p:ph type="title"/>
          </p:nvPr>
        </p:nvSpPr>
        <p:spPr>
          <a:xfrm>
            <a:off x="1981200" y="53752"/>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DEPENDENT SOURCES </a:t>
            </a:r>
            <a:endParaRPr dirty="0">
              <a:latin typeface="+mn-lt"/>
            </a:endParaRPr>
          </a:p>
        </p:txBody>
      </p:sp>
      <p:pic>
        <p:nvPicPr>
          <p:cNvPr id="242" name="Google Shape;242;p23"/>
          <p:cNvPicPr preferRelativeResize="0"/>
          <p:nvPr/>
        </p:nvPicPr>
        <p:blipFill rotWithShape="1">
          <a:blip r:embed="rId3">
            <a:alphaModFix/>
          </a:blip>
          <a:srcRect l="9681" t="51797" r="61539" b="10796"/>
          <a:stretch/>
        </p:blipFill>
        <p:spPr>
          <a:xfrm>
            <a:off x="6888088" y="3717032"/>
            <a:ext cx="3744416" cy="2736304"/>
          </a:xfrm>
          <a:prstGeom prst="rect">
            <a:avLst/>
          </a:prstGeom>
          <a:noFill/>
          <a:ln>
            <a:noFill/>
          </a:ln>
        </p:spPr>
      </p:pic>
      <p:sp>
        <p:nvSpPr>
          <p:cNvPr id="243" name="Google Shape;243;p23"/>
          <p:cNvSpPr txBox="1"/>
          <p:nvPr/>
        </p:nvSpPr>
        <p:spPr>
          <a:xfrm>
            <a:off x="704923" y="4087734"/>
            <a:ext cx="5925610" cy="2308284"/>
          </a:xfrm>
          <a:prstGeom prst="rect">
            <a:avLst/>
          </a:prstGeom>
          <a:noFill/>
          <a:ln>
            <a:noFill/>
          </a:ln>
        </p:spPr>
        <p:txBody>
          <a:bodyPr spcFirstLastPara="1" wrap="square" lIns="91425" tIns="45700" rIns="91425" bIns="45700" anchor="t" anchorCtr="0">
            <a:spAutoFit/>
          </a:bodyPr>
          <a:lstStyle/>
          <a:p>
            <a:pPr algn="just"/>
            <a:r>
              <a:rPr lang="en-US" sz="2400" dirty="0">
                <a:solidFill>
                  <a:schemeClr val="dk1"/>
                </a:solidFill>
                <a:latin typeface="Times New Roman"/>
                <a:ea typeface="Times New Roman"/>
                <a:cs typeface="Times New Roman"/>
                <a:sym typeface="Times New Roman"/>
              </a:rPr>
              <a:t>Fig. (a) shows a circuit that includes a </a:t>
            </a:r>
            <a:r>
              <a:rPr lang="en-US" sz="2400" b="1" dirty="0">
                <a:solidFill>
                  <a:schemeClr val="dk1"/>
                </a:solidFill>
                <a:latin typeface="Times New Roman"/>
                <a:ea typeface="Times New Roman"/>
                <a:cs typeface="Times New Roman"/>
                <a:sym typeface="Times New Roman"/>
              </a:rPr>
              <a:t>dependent source</a:t>
            </a:r>
            <a:r>
              <a:rPr lang="en-US" sz="2400" dirty="0">
                <a:solidFill>
                  <a:schemeClr val="dk1"/>
                </a:solidFill>
                <a:latin typeface="Times New Roman"/>
                <a:ea typeface="Times New Roman"/>
                <a:cs typeface="Times New Roman"/>
                <a:sym typeface="Times New Roman"/>
              </a:rPr>
              <a:t> represented by the </a:t>
            </a:r>
            <a:r>
              <a:rPr lang="en-US" sz="2400" b="1" dirty="0">
                <a:solidFill>
                  <a:schemeClr val="dk1"/>
                </a:solidFill>
                <a:latin typeface="Times New Roman"/>
                <a:ea typeface="Times New Roman"/>
                <a:cs typeface="Times New Roman"/>
                <a:sym typeface="Times New Roman"/>
              </a:rPr>
              <a:t>diamond</a:t>
            </a:r>
            <a:r>
              <a:rPr lang="en-US" sz="2400" dirty="0">
                <a:solidFill>
                  <a:schemeClr val="dk1"/>
                </a:solidFill>
                <a:latin typeface="Times New Roman"/>
                <a:ea typeface="Times New Roman"/>
                <a:cs typeface="Times New Roman"/>
                <a:sym typeface="Times New Roman"/>
              </a:rPr>
              <a:t> symbol. The plus/minus signs identify the </a:t>
            </a:r>
            <a:r>
              <a:rPr lang="en-US" sz="2400" b="1" dirty="0">
                <a:solidFill>
                  <a:schemeClr val="dk1"/>
                </a:solidFill>
                <a:latin typeface="Times New Roman"/>
                <a:ea typeface="Times New Roman"/>
                <a:cs typeface="Times New Roman"/>
                <a:sym typeface="Times New Roman"/>
              </a:rPr>
              <a:t>dependent source as a voltage source</a:t>
            </a:r>
            <a:r>
              <a:rPr lang="en-US" sz="2400" dirty="0">
                <a:solidFill>
                  <a:schemeClr val="dk1"/>
                </a:solidFill>
                <a:latin typeface="Times New Roman"/>
                <a:ea typeface="Times New Roman"/>
                <a:cs typeface="Times New Roman"/>
                <a:sym typeface="Times New Roman"/>
              </a:rPr>
              <a:t> and indicate the reference </a:t>
            </a:r>
            <a:r>
              <a:rPr lang="en-US" sz="2400" b="1" dirty="0">
                <a:solidFill>
                  <a:schemeClr val="dk1"/>
                </a:solidFill>
                <a:latin typeface="Times New Roman"/>
                <a:ea typeface="Times New Roman"/>
                <a:cs typeface="Times New Roman"/>
                <a:sym typeface="Times New Roman"/>
              </a:rPr>
              <a:t>polarity of the element voltage</a:t>
            </a:r>
            <a:r>
              <a:rPr lang="en-US" sz="2400" dirty="0">
                <a:solidFill>
                  <a:schemeClr val="dk1"/>
                </a:solidFill>
                <a:latin typeface="Times New Roman"/>
                <a:ea typeface="Times New Roman"/>
                <a:cs typeface="Times New Roman"/>
                <a:sym typeface="Times New Roman"/>
              </a:rPr>
              <a:t>. </a:t>
            </a:r>
            <a:endParaRPr sz="2400" dirty="0"/>
          </a:p>
        </p:txBody>
      </p:sp>
      <p:sp>
        <p:nvSpPr>
          <p:cNvPr id="244" name="Google Shape;244;p23"/>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24"/>
          <p:cNvPicPr preferRelativeResize="0"/>
          <p:nvPr/>
        </p:nvPicPr>
        <p:blipFill rotWithShape="1">
          <a:blip r:embed="rId3">
            <a:alphaModFix/>
          </a:blip>
          <a:srcRect l="73740" t="55906" r="14860" b="18500"/>
          <a:stretch/>
        </p:blipFill>
        <p:spPr>
          <a:xfrm>
            <a:off x="10224209" y="701081"/>
            <a:ext cx="1619672" cy="2044393"/>
          </a:xfrm>
          <a:prstGeom prst="rect">
            <a:avLst/>
          </a:prstGeom>
          <a:noFill/>
          <a:ln>
            <a:noFill/>
          </a:ln>
        </p:spPr>
      </p:pic>
      <p:sp>
        <p:nvSpPr>
          <p:cNvPr id="250" name="Google Shape;250;p24"/>
          <p:cNvSpPr txBox="1"/>
          <p:nvPr/>
        </p:nvSpPr>
        <p:spPr>
          <a:xfrm>
            <a:off x="1657672" y="1279910"/>
            <a:ext cx="4438328" cy="1569620"/>
          </a:xfrm>
          <a:prstGeom prst="rect">
            <a:avLst/>
          </a:prstGeom>
          <a:noFill/>
          <a:ln>
            <a:noFill/>
          </a:ln>
        </p:spPr>
        <p:txBody>
          <a:bodyPr spcFirstLastPara="1" wrap="square" lIns="91425" tIns="45700" rIns="91425" bIns="45700" anchor="t" anchorCtr="0">
            <a:spAutoFit/>
          </a:bodyPr>
          <a:lstStyle/>
          <a:p>
            <a:pPr marL="342900" indent="-342900">
              <a:buClr>
                <a:schemeClr val="dk1"/>
              </a:buClr>
              <a:buSzPts val="1600"/>
              <a:buFont typeface="Wingdings" panose="05000000000000000000" pitchFamily="2" charset="2"/>
              <a:buChar char="v"/>
            </a:pPr>
            <a:r>
              <a:rPr lang="en-US"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Current-Controlled Voltage Source (CCVS)</a:t>
            </a:r>
            <a:endParaRPr sz="2400" b="1" dirty="0">
              <a:latin typeface="Times New Roman" panose="02020603050405020304" pitchFamily="18" charset="0"/>
              <a:cs typeface="Times New Roman" panose="02020603050405020304" pitchFamily="18" charset="0"/>
            </a:endParaRPr>
          </a:p>
          <a:p>
            <a:pPr marL="800100" lvl="1" indent="-342900">
              <a:buClr>
                <a:schemeClr val="dk1"/>
              </a:buClr>
              <a:buSzPts val="16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r</a:t>
            </a: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 is the gain of the CCVS.</a:t>
            </a:r>
            <a:endParaRPr sz="2400" dirty="0">
              <a:latin typeface="Times New Roman" panose="02020603050405020304" pitchFamily="18" charset="0"/>
              <a:cs typeface="Times New Roman" panose="02020603050405020304" pitchFamily="18" charset="0"/>
            </a:endParaRPr>
          </a:p>
          <a:p>
            <a:pPr marL="800100" lvl="1" indent="-342900">
              <a:buClr>
                <a:schemeClr val="dk1"/>
              </a:buClr>
              <a:buSzPts val="16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 r has units of volts/ampere. </a:t>
            </a:r>
            <a:endParaRPr sz="2400" dirty="0">
              <a:latin typeface="Times New Roman" panose="02020603050405020304" pitchFamily="18" charset="0"/>
              <a:cs typeface="Times New Roman" panose="02020603050405020304" pitchFamily="18" charset="0"/>
            </a:endParaRPr>
          </a:p>
        </p:txBody>
      </p:sp>
      <p:pic>
        <p:nvPicPr>
          <p:cNvPr id="251" name="Google Shape;251;p24"/>
          <p:cNvPicPr preferRelativeResize="0"/>
          <p:nvPr/>
        </p:nvPicPr>
        <p:blipFill rotWithShape="1">
          <a:blip r:embed="rId3">
            <a:alphaModFix/>
          </a:blip>
          <a:srcRect l="73653" t="29329" r="14861" b="47160"/>
          <a:stretch/>
        </p:blipFill>
        <p:spPr>
          <a:xfrm>
            <a:off x="38000" y="1132808"/>
            <a:ext cx="1619672" cy="1863824"/>
          </a:xfrm>
          <a:prstGeom prst="rect">
            <a:avLst/>
          </a:prstGeom>
          <a:noFill/>
          <a:ln>
            <a:noFill/>
          </a:ln>
        </p:spPr>
      </p:pic>
      <p:sp>
        <p:nvSpPr>
          <p:cNvPr id="252" name="Google Shape;252;p24"/>
          <p:cNvSpPr txBox="1"/>
          <p:nvPr/>
        </p:nvSpPr>
        <p:spPr>
          <a:xfrm>
            <a:off x="5870728" y="1281626"/>
            <a:ext cx="4769530" cy="1569620"/>
          </a:xfrm>
          <a:prstGeom prst="rect">
            <a:avLst/>
          </a:prstGeom>
          <a:noFill/>
          <a:ln>
            <a:noFill/>
          </a:ln>
        </p:spPr>
        <p:txBody>
          <a:bodyPr spcFirstLastPara="1" wrap="square" lIns="91425" tIns="45700" rIns="91425" bIns="45700" anchor="t" anchorCtr="0">
            <a:spAutoFit/>
          </a:bodyPr>
          <a:lstStyle/>
          <a:p>
            <a:pPr marL="342900" indent="-342900">
              <a:buClr>
                <a:schemeClr val="dk1"/>
              </a:buClr>
              <a:buSzPts val="1600"/>
              <a:buFont typeface="Noto Sans Symbols"/>
              <a:buChar char="❖"/>
            </a:pPr>
            <a:r>
              <a:rPr lang="en-US"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Voltage-Controlled Voltage Source (VCVS) </a:t>
            </a:r>
            <a:endParaRPr sz="2400" b="1" dirty="0">
              <a:latin typeface="Times New Roman" panose="02020603050405020304" pitchFamily="18" charset="0"/>
              <a:cs typeface="Times New Roman" panose="02020603050405020304" pitchFamily="18" charset="0"/>
            </a:endParaRPr>
          </a:p>
          <a:p>
            <a:pPr marL="800100" lvl="1" indent="-342900">
              <a:buClr>
                <a:schemeClr val="dk1"/>
              </a:buClr>
              <a:buSzPts val="1600"/>
              <a:buFont typeface="Arial"/>
              <a:buChar char="•"/>
            </a:pPr>
            <a:r>
              <a:rPr lang="en-US"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b</a:t>
            </a: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 is the gain of the VCVS. </a:t>
            </a:r>
            <a:endParaRPr sz="2400" dirty="0">
              <a:latin typeface="Times New Roman" panose="02020603050405020304" pitchFamily="18" charset="0"/>
              <a:cs typeface="Times New Roman" panose="02020603050405020304" pitchFamily="18" charset="0"/>
            </a:endParaRPr>
          </a:p>
          <a:p>
            <a:pPr marL="800100" lvl="1" indent="-342900">
              <a:buClr>
                <a:schemeClr val="dk1"/>
              </a:buClr>
              <a:buSzPts val="16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b has units of volts/volt.</a:t>
            </a:r>
            <a:endParaRPr sz="2400" dirty="0">
              <a:latin typeface="Times New Roman" panose="02020603050405020304" pitchFamily="18" charset="0"/>
              <a:cs typeface="Times New Roman" panose="02020603050405020304" pitchFamily="18" charset="0"/>
            </a:endParaRPr>
          </a:p>
        </p:txBody>
      </p:sp>
      <p:pic>
        <p:nvPicPr>
          <p:cNvPr id="253" name="Google Shape;253;p24"/>
          <p:cNvPicPr preferRelativeResize="0"/>
          <p:nvPr/>
        </p:nvPicPr>
        <p:blipFill rotWithShape="1">
          <a:blip r:embed="rId4">
            <a:alphaModFix/>
          </a:blip>
          <a:srcRect l="75710" t="20469" r="14861" b="56890"/>
          <a:stretch/>
        </p:blipFill>
        <p:spPr>
          <a:xfrm>
            <a:off x="183590" y="3429000"/>
            <a:ext cx="1440160" cy="1944216"/>
          </a:xfrm>
          <a:prstGeom prst="rect">
            <a:avLst/>
          </a:prstGeom>
          <a:noFill/>
          <a:ln>
            <a:noFill/>
          </a:ln>
        </p:spPr>
      </p:pic>
      <p:pic>
        <p:nvPicPr>
          <p:cNvPr id="254" name="Google Shape;254;p24"/>
          <p:cNvPicPr preferRelativeResize="0"/>
          <p:nvPr/>
        </p:nvPicPr>
        <p:blipFill rotWithShape="1">
          <a:blip r:embed="rId4">
            <a:alphaModFix/>
          </a:blip>
          <a:srcRect l="75570" t="47917" r="14861" b="29328"/>
          <a:stretch/>
        </p:blipFill>
        <p:spPr>
          <a:xfrm>
            <a:off x="10344472" y="3290724"/>
            <a:ext cx="1440160" cy="1925611"/>
          </a:xfrm>
          <a:prstGeom prst="rect">
            <a:avLst/>
          </a:prstGeom>
          <a:noFill/>
          <a:ln>
            <a:noFill/>
          </a:ln>
        </p:spPr>
      </p:pic>
      <p:sp>
        <p:nvSpPr>
          <p:cNvPr id="255" name="Google Shape;255;p24"/>
          <p:cNvSpPr txBox="1"/>
          <p:nvPr/>
        </p:nvSpPr>
        <p:spPr>
          <a:xfrm>
            <a:off x="1755774" y="3646715"/>
            <a:ext cx="4412234" cy="1569620"/>
          </a:xfrm>
          <a:prstGeom prst="rect">
            <a:avLst/>
          </a:prstGeom>
          <a:noFill/>
          <a:ln>
            <a:noFill/>
          </a:ln>
        </p:spPr>
        <p:txBody>
          <a:bodyPr spcFirstLastPara="1" wrap="square" lIns="91425" tIns="45700" rIns="91425" bIns="45700" anchor="t" anchorCtr="0">
            <a:spAutoFit/>
          </a:bodyPr>
          <a:lstStyle/>
          <a:p>
            <a:pPr marL="342900" indent="-342900">
              <a:buClr>
                <a:schemeClr val="dk1"/>
              </a:buClr>
              <a:buSzPts val="1600"/>
              <a:buFont typeface="Noto Sans Symbols"/>
              <a:buChar char="❖"/>
            </a:pPr>
            <a:r>
              <a:rPr lang="en-US"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Voltage-Controlled Current Source (VCCS) </a:t>
            </a:r>
            <a:endParaRPr sz="2400" b="1" dirty="0">
              <a:latin typeface="Times New Roman" panose="02020603050405020304" pitchFamily="18" charset="0"/>
              <a:cs typeface="Times New Roman" panose="02020603050405020304" pitchFamily="18" charset="0"/>
            </a:endParaRPr>
          </a:p>
          <a:p>
            <a:pPr marL="800100" lvl="1" indent="-342900">
              <a:buClr>
                <a:schemeClr val="dk1"/>
              </a:buClr>
              <a:buSzPts val="1600"/>
              <a:buFont typeface="Arial"/>
              <a:buChar char="•"/>
            </a:pPr>
            <a:r>
              <a:rPr lang="en-US"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g</a:t>
            </a: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 is the gain of the VCCS. </a:t>
            </a:r>
            <a:endParaRPr sz="2400" dirty="0">
              <a:latin typeface="Times New Roman" panose="02020603050405020304" pitchFamily="18" charset="0"/>
              <a:cs typeface="Times New Roman" panose="02020603050405020304" pitchFamily="18" charset="0"/>
            </a:endParaRPr>
          </a:p>
          <a:p>
            <a:pPr marL="800100" lvl="1" indent="-342900">
              <a:buClr>
                <a:schemeClr val="dk1"/>
              </a:buClr>
              <a:buSzPts val="16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g has units of amperes/volt.</a:t>
            </a:r>
            <a:endParaRPr sz="2400" dirty="0">
              <a:latin typeface="Times New Roman" panose="02020603050405020304" pitchFamily="18" charset="0"/>
              <a:cs typeface="Times New Roman" panose="02020603050405020304" pitchFamily="18" charset="0"/>
            </a:endParaRPr>
          </a:p>
        </p:txBody>
      </p:sp>
      <p:sp>
        <p:nvSpPr>
          <p:cNvPr id="256" name="Google Shape;256;p24"/>
          <p:cNvSpPr txBox="1"/>
          <p:nvPr/>
        </p:nvSpPr>
        <p:spPr>
          <a:xfrm>
            <a:off x="6096000" y="3644999"/>
            <a:ext cx="4472250" cy="1938952"/>
          </a:xfrm>
          <a:prstGeom prst="rect">
            <a:avLst/>
          </a:prstGeom>
          <a:noFill/>
          <a:ln>
            <a:noFill/>
          </a:ln>
        </p:spPr>
        <p:txBody>
          <a:bodyPr spcFirstLastPara="1" wrap="square" lIns="91425" tIns="45700" rIns="91425" bIns="45700" anchor="t" anchorCtr="0">
            <a:spAutoFit/>
          </a:bodyPr>
          <a:lstStyle/>
          <a:p>
            <a:pPr marL="342900" indent="-342900">
              <a:buClr>
                <a:schemeClr val="dk1"/>
              </a:buClr>
              <a:buSzPts val="1600"/>
              <a:buFont typeface="Noto Sans Symbols"/>
              <a:buChar char="❖"/>
            </a:pPr>
            <a:r>
              <a:rPr lang="en-US"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Current-Controlled Current Source (CCCS) </a:t>
            </a:r>
            <a:endParaRPr sz="2400" b="1" dirty="0">
              <a:latin typeface="Times New Roman" panose="02020603050405020304" pitchFamily="18" charset="0"/>
              <a:cs typeface="Times New Roman" panose="02020603050405020304" pitchFamily="18" charset="0"/>
            </a:endParaRPr>
          </a:p>
          <a:p>
            <a:pPr marL="800100" lvl="1" indent="-342900">
              <a:buClr>
                <a:schemeClr val="dk1"/>
              </a:buClr>
              <a:buSzPts val="1600"/>
              <a:buFont typeface="Arial"/>
              <a:buChar char="•"/>
            </a:pPr>
            <a:r>
              <a:rPr lang="en-US"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d</a:t>
            </a: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 is the gain of the CCCS. </a:t>
            </a:r>
            <a:endParaRPr sz="2400" dirty="0">
              <a:latin typeface="Times New Roman" panose="02020603050405020304" pitchFamily="18" charset="0"/>
              <a:cs typeface="Times New Roman" panose="02020603050405020304" pitchFamily="18" charset="0"/>
            </a:endParaRPr>
          </a:p>
          <a:p>
            <a:pPr marL="800100" lvl="1" indent="-342900">
              <a:buClr>
                <a:schemeClr val="dk1"/>
              </a:buClr>
              <a:buSzPts val="16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d has units of amperes/ampere.</a:t>
            </a:r>
            <a:endParaRPr sz="2400" dirty="0">
              <a:latin typeface="Times New Roman" panose="02020603050405020304" pitchFamily="18" charset="0"/>
              <a:cs typeface="Times New Roman" panose="02020603050405020304" pitchFamily="18" charset="0"/>
            </a:endParaRPr>
          </a:p>
        </p:txBody>
      </p:sp>
      <p:sp>
        <p:nvSpPr>
          <p:cNvPr id="257" name="Google Shape;257;p24"/>
          <p:cNvSpPr txBox="1"/>
          <p:nvPr/>
        </p:nvSpPr>
        <p:spPr>
          <a:xfrm>
            <a:off x="183589" y="197768"/>
            <a:ext cx="11660291" cy="710952"/>
          </a:xfrm>
          <a:prstGeom prst="rect">
            <a:avLst/>
          </a:prstGeom>
          <a:noFill/>
          <a:ln>
            <a:noFill/>
          </a:ln>
        </p:spPr>
        <p:txBody>
          <a:bodyPr spcFirstLastPara="1" wrap="square" lIns="91425" tIns="45700" rIns="91425" bIns="45700" anchor="t" anchorCtr="0">
            <a:noAutofit/>
          </a:bodyPr>
          <a:lstStyle/>
          <a:p>
            <a:pPr algn="ctr">
              <a:buClr>
                <a:srgbClr val="C00000"/>
              </a:buClr>
              <a:buSzPts val="3600"/>
            </a:pPr>
            <a:r>
              <a:rPr lang="en-US" sz="4400" b="1" dirty="0">
                <a:solidFill>
                  <a:srgbClr val="C00000"/>
                </a:solidFill>
                <a:ea typeface="Calibri"/>
                <a:cs typeface="Times New Roman" panose="02020603050405020304" pitchFamily="18" charset="0"/>
                <a:sym typeface="Calibri"/>
              </a:rPr>
              <a:t>TYPES OF DEPENDENT SOURCES: SYMBOLS</a:t>
            </a:r>
            <a:endParaRPr sz="4400" dirty="0">
              <a:cs typeface="Times New Roman" panose="02020603050405020304" pitchFamily="18" charset="0"/>
            </a:endParaRPr>
          </a:p>
        </p:txBody>
      </p:sp>
      <p:sp>
        <p:nvSpPr>
          <p:cNvPr id="258" name="Google Shape;258;p24"/>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latin typeface="Times New Roman" panose="02020603050405020304" pitchFamily="18" charset="0"/>
                <a:cs typeface="Times New Roman" panose="02020603050405020304" pitchFamily="18" charset="0"/>
              </a:rPr>
              <a:pPr/>
              <a:t>11</a:t>
            </a:fld>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5"/>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Kirchhoff’s Laws</a:t>
            </a:r>
            <a:endParaRPr b="1" dirty="0">
              <a:latin typeface="+mn-lt"/>
            </a:endParaRPr>
          </a:p>
        </p:txBody>
      </p:sp>
      <p:sp>
        <p:nvSpPr>
          <p:cNvPr id="264" name="Google Shape;264;p25"/>
          <p:cNvSpPr txBox="1">
            <a:spLocks noGrp="1"/>
          </p:cNvSpPr>
          <p:nvPr>
            <p:ph type="body" idx="1"/>
          </p:nvPr>
        </p:nvSpPr>
        <p:spPr>
          <a:xfrm>
            <a:off x="658761" y="1600201"/>
            <a:ext cx="11002297" cy="4525963"/>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2000"/>
            </a:pPr>
            <a:r>
              <a:rPr lang="en-US" sz="2400" dirty="0">
                <a:latin typeface="Times New Roman" panose="02020603050405020304" pitchFamily="18" charset="0"/>
                <a:ea typeface="Times New Roman"/>
                <a:cs typeface="Times New Roman" panose="02020603050405020304" pitchFamily="18" charset="0"/>
                <a:sym typeface="Times New Roman"/>
              </a:rPr>
              <a:t>In 1847, Gustav </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Robert Kirchhoff</a:t>
            </a:r>
            <a:r>
              <a:rPr lang="en-US" sz="2400" dirty="0">
                <a:latin typeface="Times New Roman" panose="02020603050405020304" pitchFamily="18" charset="0"/>
                <a:ea typeface="Times New Roman"/>
                <a:cs typeface="Times New Roman" panose="02020603050405020304" pitchFamily="18" charset="0"/>
                <a:sym typeface="Times New Roman"/>
              </a:rPr>
              <a:t>, a professor at the University of Berlin, </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formulated two important laws</a:t>
            </a:r>
            <a:r>
              <a:rPr lang="en-US" sz="2400" dirty="0">
                <a:latin typeface="Times New Roman" panose="02020603050405020304" pitchFamily="18" charset="0"/>
                <a:ea typeface="Times New Roman"/>
                <a:cs typeface="Times New Roman" panose="02020603050405020304" pitchFamily="18" charset="0"/>
                <a:sym typeface="Times New Roman"/>
              </a:rPr>
              <a:t> that provide the foundation for the analysis of electric circuits. </a:t>
            </a:r>
          </a:p>
          <a:p>
            <a:pPr marL="0" indent="0" algn="just">
              <a:spcBef>
                <a:spcPts val="0"/>
              </a:spcBef>
              <a:buClr>
                <a:schemeClr val="dk1"/>
              </a:buClr>
              <a:buSzPts val="2000"/>
              <a:buNone/>
            </a:pPr>
            <a:endParaRPr lang="en-US" sz="24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0"/>
              </a:spcBef>
              <a:buClr>
                <a:schemeClr val="dk1"/>
              </a:buClr>
              <a:buSzPts val="2000"/>
            </a:pPr>
            <a:r>
              <a:rPr lang="en-US" sz="2400" dirty="0">
                <a:latin typeface="Times New Roman" panose="02020603050405020304" pitchFamily="18" charset="0"/>
                <a:ea typeface="Times New Roman"/>
                <a:cs typeface="Times New Roman" panose="02020603050405020304" pitchFamily="18" charset="0"/>
                <a:sym typeface="Times New Roman"/>
              </a:rPr>
              <a:t>These laws are referred to as Kirchhoff’s current law (KCL) and Kirchhoff’s voltage law (KVL). </a:t>
            </a:r>
          </a:p>
          <a:p>
            <a:pPr marL="0" indent="0" algn="just">
              <a:spcBef>
                <a:spcPts val="0"/>
              </a:spcBef>
              <a:buClr>
                <a:schemeClr val="dk1"/>
              </a:buClr>
              <a:buSzPts val="2000"/>
              <a:buNone/>
            </a:pPr>
            <a:endParaRPr sz="2400" dirty="0">
              <a:latin typeface="Times New Roman" panose="02020603050405020304" pitchFamily="18" charset="0"/>
              <a:cs typeface="Times New Roman" panose="02020603050405020304" pitchFamily="18" charset="0"/>
            </a:endParaRPr>
          </a:p>
          <a:p>
            <a:pPr marL="342900" indent="-342900" algn="just">
              <a:spcBef>
                <a:spcPts val="400"/>
              </a:spcBef>
              <a:buClr>
                <a:schemeClr val="dk1"/>
              </a:buClr>
              <a:buSzPts val="2000"/>
            </a:pPr>
            <a:r>
              <a:rPr lang="en-US" sz="2400" dirty="0">
                <a:latin typeface="Times New Roman" panose="02020603050405020304" pitchFamily="18" charset="0"/>
                <a:ea typeface="Times New Roman"/>
                <a:cs typeface="Times New Roman" panose="02020603050405020304" pitchFamily="18" charset="0"/>
                <a:sym typeface="Times New Roman"/>
              </a:rPr>
              <a:t>Kirchhoff’s laws are a consequence of the </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conservation of charge </a:t>
            </a:r>
            <a:r>
              <a:rPr lang="en-US" sz="2400" dirty="0">
                <a:latin typeface="Times New Roman" panose="02020603050405020304" pitchFamily="18" charset="0"/>
                <a:ea typeface="Times New Roman"/>
                <a:cs typeface="Times New Roman" panose="02020603050405020304" pitchFamily="18" charset="0"/>
                <a:sym typeface="Times New Roman"/>
              </a:rPr>
              <a:t>and</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 the conservation of energy.</a:t>
            </a:r>
          </a:p>
          <a:p>
            <a:pPr marL="0" indent="0" algn="just">
              <a:spcBef>
                <a:spcPts val="400"/>
              </a:spcBef>
              <a:buClr>
                <a:schemeClr val="dk1"/>
              </a:buClr>
              <a:buSzPts val="2000"/>
              <a:buNone/>
            </a:pPr>
            <a:endParaRPr lang="en-US" sz="2400" dirty="0">
              <a:latin typeface="Times New Roman" panose="02020603050405020304" pitchFamily="18" charset="0"/>
              <a:cs typeface="Times New Roman" panose="02020603050405020304" pitchFamily="18" charset="0"/>
              <a:sym typeface="Times New Roman"/>
            </a:endParaRPr>
          </a:p>
          <a:p>
            <a:pPr marL="342900" indent="-342900" algn="just">
              <a:spcBef>
                <a:spcPts val="400"/>
              </a:spcBef>
              <a:buClr>
                <a:schemeClr val="dk1"/>
              </a:buClr>
              <a:buSzPts val="2000"/>
            </a:pPr>
            <a:r>
              <a:rPr lang="en-US" sz="2400" b="1" dirty="0">
                <a:latin typeface="Times New Roman" panose="02020603050405020304" pitchFamily="18" charset="0"/>
                <a:ea typeface="Times New Roman"/>
                <a:cs typeface="Times New Roman" panose="02020603050405020304" pitchFamily="18" charset="0"/>
                <a:sym typeface="Times New Roman"/>
              </a:rPr>
              <a:t>Kirchhoff’s current law (KCL): </a:t>
            </a:r>
            <a:r>
              <a:rPr lang="en-US" sz="2400" dirty="0">
                <a:latin typeface="Times New Roman" panose="02020603050405020304" pitchFamily="18" charset="0"/>
                <a:ea typeface="Times New Roman"/>
                <a:cs typeface="Times New Roman" panose="02020603050405020304" pitchFamily="18" charset="0"/>
                <a:sym typeface="Times New Roman"/>
              </a:rPr>
              <a:t>The algebraic sum of the currents into a node at any instant is zero. </a:t>
            </a:r>
            <a:endParaRPr sz="2400" dirty="0">
              <a:latin typeface="Times New Roman" panose="02020603050405020304" pitchFamily="18" charset="0"/>
              <a:cs typeface="Times New Roman" panose="02020603050405020304" pitchFamily="18" charset="0"/>
            </a:endParaRPr>
          </a:p>
          <a:p>
            <a:pPr marL="342900" indent="-215900" algn="just">
              <a:spcBef>
                <a:spcPts val="400"/>
              </a:spcBef>
              <a:buClr>
                <a:schemeClr val="dk1"/>
              </a:buClr>
              <a:buSzPts val="2000"/>
              <a:buNone/>
            </a:pPr>
            <a:endParaRPr sz="2400" b="1" dirty="0">
              <a:latin typeface="Times New Roman" panose="02020603050405020304" pitchFamily="18" charset="0"/>
              <a:ea typeface="Times New Roman"/>
              <a:cs typeface="Times New Roman" panose="02020603050405020304" pitchFamily="18" charset="0"/>
              <a:sym typeface="Times New Roman"/>
            </a:endParaRPr>
          </a:p>
        </p:txBody>
      </p:sp>
      <p:sp>
        <p:nvSpPr>
          <p:cNvPr id="265" name="Google Shape;265;p25"/>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6"/>
          <p:cNvSpPr txBox="1">
            <a:spLocks noGrp="1"/>
          </p:cNvSpPr>
          <p:nvPr>
            <p:ph type="body" idx="1"/>
          </p:nvPr>
        </p:nvSpPr>
        <p:spPr>
          <a:xfrm>
            <a:off x="206477" y="5733256"/>
            <a:ext cx="11808542" cy="648072"/>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1600"/>
              <a:buNone/>
            </a:pPr>
            <a:r>
              <a:rPr lang="en-US" sz="2400" dirty="0">
                <a:latin typeface="Times New Roman" panose="02020603050405020304" pitchFamily="18" charset="0"/>
                <a:ea typeface="Times New Roman"/>
                <a:cs typeface="Times New Roman" panose="02020603050405020304" pitchFamily="18" charset="0"/>
                <a:sym typeface="Times New Roman"/>
              </a:rPr>
              <a:t>FIGURE  (a) An electric circuit. (b) The same circuit, redrawn using straight lines and horizontal and vertical elements.</a:t>
            </a:r>
            <a:endParaRPr sz="2400" dirty="0">
              <a:latin typeface="Times New Roman" panose="02020603050405020304" pitchFamily="18" charset="0"/>
              <a:cs typeface="Times New Roman" panose="02020603050405020304" pitchFamily="18" charset="0"/>
            </a:endParaRPr>
          </a:p>
        </p:txBody>
      </p:sp>
      <p:pic>
        <p:nvPicPr>
          <p:cNvPr id="271" name="Google Shape;271;p26"/>
          <p:cNvPicPr preferRelativeResize="0"/>
          <p:nvPr/>
        </p:nvPicPr>
        <p:blipFill rotWithShape="1">
          <a:blip r:embed="rId3">
            <a:alphaModFix/>
          </a:blip>
          <a:srcRect l="2138"/>
          <a:stretch/>
        </p:blipFill>
        <p:spPr>
          <a:xfrm>
            <a:off x="668594" y="2408229"/>
            <a:ext cx="4855173" cy="3090292"/>
          </a:xfrm>
          <a:prstGeom prst="rect">
            <a:avLst/>
          </a:prstGeom>
          <a:noFill/>
          <a:ln>
            <a:noFill/>
          </a:ln>
        </p:spPr>
      </p:pic>
      <p:sp>
        <p:nvSpPr>
          <p:cNvPr id="272" name="Google Shape;272;p26"/>
          <p:cNvSpPr txBox="1"/>
          <p:nvPr/>
        </p:nvSpPr>
        <p:spPr>
          <a:xfrm>
            <a:off x="540774" y="1052736"/>
            <a:ext cx="10982632" cy="1477287"/>
          </a:xfrm>
          <a:prstGeom prst="rect">
            <a:avLst/>
          </a:prstGeom>
          <a:noFill/>
          <a:ln>
            <a:noFill/>
          </a:ln>
        </p:spPr>
        <p:txBody>
          <a:bodyPr spcFirstLastPara="1" wrap="square" lIns="91425" tIns="45700" rIns="91425" bIns="45700" anchor="t" anchorCtr="0">
            <a:spAutoFit/>
          </a:bodyPr>
          <a:lstStyle/>
          <a:p>
            <a:pPr algn="just"/>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Figure (a) shows an electric circuit that consists of six elements connected at four nodes.</a:t>
            </a:r>
            <a:endParaRPr sz="2400" dirty="0">
              <a:latin typeface="Times New Roman" panose="02020603050405020304" pitchFamily="18" charset="0"/>
              <a:cs typeface="Times New Roman" panose="02020603050405020304" pitchFamily="18" charset="0"/>
            </a:endParaRPr>
          </a:p>
          <a:p>
            <a:pPr algn="just"/>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It is common practice to draw electric circuits using straight lines and to position the elements horizontally or vertically as shown in Figure (b). </a:t>
            </a:r>
            <a:endParaRPr sz="2400" dirty="0">
              <a:latin typeface="Times New Roman" panose="02020603050405020304" pitchFamily="18" charset="0"/>
              <a:cs typeface="Times New Roman" panose="02020603050405020304" pitchFamily="18" charset="0"/>
            </a:endParaRPr>
          </a:p>
          <a:p>
            <a:pPr algn="just"/>
            <a:endParaRPr b="1" dirty="0">
              <a:solidFill>
                <a:schemeClr val="dk1"/>
              </a:solidFill>
              <a:latin typeface="Calibri"/>
              <a:ea typeface="Calibri"/>
              <a:cs typeface="Calibri"/>
              <a:sym typeface="Calibri"/>
            </a:endParaRPr>
          </a:p>
        </p:txBody>
      </p:sp>
      <p:pic>
        <p:nvPicPr>
          <p:cNvPr id="273" name="Google Shape;273;p26"/>
          <p:cNvPicPr preferRelativeResize="0"/>
          <p:nvPr/>
        </p:nvPicPr>
        <p:blipFill rotWithShape="1">
          <a:blip r:embed="rId4">
            <a:alphaModFix/>
          </a:blip>
          <a:srcRect b="49695"/>
          <a:stretch/>
        </p:blipFill>
        <p:spPr>
          <a:xfrm>
            <a:off x="6276528" y="2780929"/>
            <a:ext cx="4355976" cy="2344892"/>
          </a:xfrm>
          <a:prstGeom prst="rect">
            <a:avLst/>
          </a:prstGeom>
          <a:noFill/>
          <a:ln>
            <a:noFill/>
          </a:ln>
        </p:spPr>
      </p:pic>
      <p:sp>
        <p:nvSpPr>
          <p:cNvPr id="274" name="Google Shape;274;p26"/>
          <p:cNvSpPr txBox="1"/>
          <p:nvPr/>
        </p:nvSpPr>
        <p:spPr>
          <a:xfrm>
            <a:off x="2133600" y="44624"/>
            <a:ext cx="8229600" cy="1143000"/>
          </a:xfrm>
          <a:prstGeom prst="rect">
            <a:avLst/>
          </a:prstGeom>
          <a:noFill/>
          <a:ln>
            <a:noFill/>
          </a:ln>
        </p:spPr>
        <p:txBody>
          <a:bodyPr spcFirstLastPara="1" wrap="square" lIns="91425" tIns="45700" rIns="91425" bIns="45700" anchor="ctr" anchorCtr="0">
            <a:normAutofit/>
          </a:bodyPr>
          <a:lstStyle/>
          <a:p>
            <a:pPr algn="ctr"/>
            <a:r>
              <a:rPr lang="en-US" sz="4400" b="1" dirty="0">
                <a:solidFill>
                  <a:srgbClr val="C00000"/>
                </a:solidFill>
                <a:latin typeface="Calibri"/>
                <a:ea typeface="Calibri"/>
                <a:cs typeface="Calibri"/>
                <a:sym typeface="Calibri"/>
              </a:rPr>
              <a:t>Kirchhoff’s Laws…</a:t>
            </a:r>
            <a:endParaRPr dirty="0"/>
          </a:p>
        </p:txBody>
      </p:sp>
      <p:sp>
        <p:nvSpPr>
          <p:cNvPr id="275" name="Google Shape;275;p26"/>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280" name="Google Shape;280;p27"/>
          <p:cNvPicPr preferRelativeResize="0"/>
          <p:nvPr/>
        </p:nvPicPr>
        <p:blipFill rotWithShape="1">
          <a:blip r:embed="rId3">
            <a:alphaModFix/>
          </a:blip>
          <a:srcRect t="53388"/>
          <a:stretch/>
        </p:blipFill>
        <p:spPr>
          <a:xfrm>
            <a:off x="6096000" y="3923070"/>
            <a:ext cx="5052715" cy="2462955"/>
          </a:xfrm>
          <a:prstGeom prst="rect">
            <a:avLst/>
          </a:prstGeom>
          <a:noFill/>
          <a:ln>
            <a:noFill/>
          </a:ln>
        </p:spPr>
      </p:pic>
      <p:sp>
        <p:nvSpPr>
          <p:cNvPr id="281" name="Google Shape;281;p27"/>
          <p:cNvSpPr txBox="1">
            <a:spLocks noGrp="1"/>
          </p:cNvSpPr>
          <p:nvPr>
            <p:ph type="body" idx="1"/>
          </p:nvPr>
        </p:nvSpPr>
        <p:spPr>
          <a:xfrm>
            <a:off x="471948" y="1254770"/>
            <a:ext cx="11326762" cy="2232248"/>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Consider the same circuit after labeling the nodes and elements. </a:t>
            </a:r>
            <a:endParaRPr sz="24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Four elements of this circuit 1, 2, 3, and 4 are connected to node a. </a:t>
            </a:r>
            <a:endParaRPr sz="24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By Kirchhoff’s current law, </a:t>
            </a:r>
            <a:r>
              <a:rPr lang="en-US" sz="2400" b="1" dirty="0">
                <a:latin typeface="Times New Roman" panose="02020603050405020304" pitchFamily="18" charset="0"/>
                <a:ea typeface="Times New Roman"/>
                <a:cs typeface="Times New Roman" panose="02020603050405020304" pitchFamily="18" charset="0"/>
                <a:sym typeface="Times New Roman"/>
              </a:rPr>
              <a:t>the algebraic sum of the element currents </a:t>
            </a:r>
            <a:r>
              <a:rPr lang="en-US" sz="2400" b="1" i="1" dirty="0">
                <a:latin typeface="Times New Roman" panose="02020603050405020304" pitchFamily="18" charset="0"/>
                <a:ea typeface="Times New Roman"/>
                <a:cs typeface="Times New Roman" panose="02020603050405020304" pitchFamily="18" charset="0"/>
                <a:sym typeface="Times New Roman"/>
              </a:rPr>
              <a:t>i</a:t>
            </a:r>
            <a:r>
              <a:rPr lang="en-US" sz="2400" b="1" i="1" baseline="-25000" dirty="0">
                <a:latin typeface="Times New Roman" panose="02020603050405020304" pitchFamily="18" charset="0"/>
                <a:ea typeface="Times New Roman"/>
                <a:cs typeface="Times New Roman" panose="02020603050405020304" pitchFamily="18" charset="0"/>
                <a:sym typeface="Times New Roman"/>
              </a:rPr>
              <a:t>1</a:t>
            </a:r>
            <a:r>
              <a:rPr lang="en-US" sz="2400" b="1" i="1" dirty="0">
                <a:latin typeface="Times New Roman" panose="02020603050405020304" pitchFamily="18" charset="0"/>
                <a:ea typeface="Times New Roman"/>
                <a:cs typeface="Times New Roman" panose="02020603050405020304" pitchFamily="18" charset="0"/>
                <a:sym typeface="Times New Roman"/>
              </a:rPr>
              <a:t>, i</a:t>
            </a:r>
            <a:r>
              <a:rPr lang="en-US" sz="2400" b="1" i="1" baseline="-25000" dirty="0">
                <a:latin typeface="Times New Roman" panose="02020603050405020304" pitchFamily="18" charset="0"/>
                <a:ea typeface="Times New Roman"/>
                <a:cs typeface="Times New Roman" panose="02020603050405020304" pitchFamily="18" charset="0"/>
                <a:sym typeface="Times New Roman"/>
              </a:rPr>
              <a:t>2</a:t>
            </a:r>
            <a:r>
              <a:rPr lang="en-US" sz="2400" b="1" i="1" dirty="0">
                <a:latin typeface="Times New Roman" panose="02020603050405020304" pitchFamily="18" charset="0"/>
                <a:ea typeface="Times New Roman"/>
                <a:cs typeface="Times New Roman" panose="02020603050405020304" pitchFamily="18" charset="0"/>
                <a:sym typeface="Times New Roman"/>
              </a:rPr>
              <a:t>, i</a:t>
            </a:r>
            <a:r>
              <a:rPr lang="en-US" sz="2400" b="1" i="1" baseline="-25000" dirty="0">
                <a:latin typeface="Times New Roman" panose="02020603050405020304" pitchFamily="18" charset="0"/>
                <a:ea typeface="Times New Roman"/>
                <a:cs typeface="Times New Roman" panose="02020603050405020304" pitchFamily="18" charset="0"/>
                <a:sym typeface="Times New Roman"/>
              </a:rPr>
              <a:t>3</a:t>
            </a:r>
            <a:r>
              <a:rPr lang="en-US" sz="2400" b="1" i="1" dirty="0">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ea typeface="Times New Roman"/>
                <a:cs typeface="Times New Roman" panose="02020603050405020304" pitchFamily="18" charset="0"/>
                <a:sym typeface="Times New Roman"/>
              </a:rPr>
              <a:t>and </a:t>
            </a:r>
            <a:r>
              <a:rPr lang="en-US" sz="2400" b="1" i="1" dirty="0">
                <a:latin typeface="Times New Roman" panose="02020603050405020304" pitchFamily="18" charset="0"/>
                <a:ea typeface="Times New Roman"/>
                <a:cs typeface="Times New Roman" panose="02020603050405020304" pitchFamily="18" charset="0"/>
                <a:sym typeface="Times New Roman"/>
              </a:rPr>
              <a:t>i</a:t>
            </a:r>
            <a:r>
              <a:rPr lang="en-US" sz="2400" b="1" i="1" baseline="-25000" dirty="0">
                <a:latin typeface="Times New Roman" panose="02020603050405020304" pitchFamily="18" charset="0"/>
                <a:ea typeface="Times New Roman"/>
                <a:cs typeface="Times New Roman" panose="02020603050405020304" pitchFamily="18" charset="0"/>
                <a:sym typeface="Times New Roman"/>
              </a:rPr>
              <a:t>4</a:t>
            </a:r>
            <a:r>
              <a:rPr lang="en-US" sz="2400" b="1" dirty="0">
                <a:latin typeface="Times New Roman" panose="02020603050405020304" pitchFamily="18" charset="0"/>
                <a:ea typeface="Times New Roman"/>
                <a:cs typeface="Times New Roman" panose="02020603050405020304" pitchFamily="18" charset="0"/>
                <a:sym typeface="Times New Roman"/>
              </a:rPr>
              <a:t> must be zero. </a:t>
            </a:r>
            <a:endParaRPr sz="2400" b="1"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Currents i</a:t>
            </a:r>
            <a:r>
              <a:rPr lang="en-US" sz="2400" baseline="-25000" dirty="0">
                <a:latin typeface="Times New Roman" panose="02020603050405020304" pitchFamily="18" charset="0"/>
                <a:ea typeface="Times New Roman"/>
                <a:cs typeface="Times New Roman" panose="02020603050405020304" pitchFamily="18" charset="0"/>
                <a:sym typeface="Times New Roman"/>
              </a:rPr>
              <a:t>2</a:t>
            </a:r>
            <a:r>
              <a:rPr lang="en-US" sz="2400" dirty="0">
                <a:latin typeface="Times New Roman" panose="02020603050405020304" pitchFamily="18" charset="0"/>
                <a:ea typeface="Times New Roman"/>
                <a:cs typeface="Times New Roman" panose="02020603050405020304" pitchFamily="18" charset="0"/>
                <a:sym typeface="Times New Roman"/>
              </a:rPr>
              <a:t> and i</a:t>
            </a:r>
            <a:r>
              <a:rPr lang="en-US" sz="2400" baseline="-25000" dirty="0">
                <a:latin typeface="Times New Roman" panose="02020603050405020304" pitchFamily="18" charset="0"/>
                <a:ea typeface="Times New Roman"/>
                <a:cs typeface="Times New Roman" panose="02020603050405020304" pitchFamily="18" charset="0"/>
                <a:sym typeface="Times New Roman"/>
              </a:rPr>
              <a:t>3</a:t>
            </a:r>
            <a:r>
              <a:rPr lang="en-US" sz="2400" dirty="0">
                <a:latin typeface="Times New Roman" panose="02020603050405020304" pitchFamily="18" charset="0"/>
                <a:ea typeface="Times New Roman"/>
                <a:cs typeface="Times New Roman" panose="02020603050405020304" pitchFamily="18" charset="0"/>
                <a:sym typeface="Times New Roman"/>
              </a:rPr>
              <a:t> are directed </a:t>
            </a:r>
            <a:r>
              <a:rPr lang="en-US" sz="2400" b="1" dirty="0">
                <a:latin typeface="Times New Roman" panose="02020603050405020304" pitchFamily="18" charset="0"/>
                <a:ea typeface="Times New Roman"/>
                <a:cs typeface="Times New Roman" panose="02020603050405020304" pitchFamily="18" charset="0"/>
                <a:sym typeface="Times New Roman"/>
              </a:rPr>
              <a:t>away from node </a:t>
            </a:r>
            <a:r>
              <a:rPr lang="en-US" sz="2400" dirty="0">
                <a:latin typeface="Times New Roman" panose="02020603050405020304" pitchFamily="18" charset="0"/>
                <a:ea typeface="Times New Roman"/>
                <a:cs typeface="Times New Roman" panose="02020603050405020304" pitchFamily="18" charset="0"/>
                <a:sym typeface="Times New Roman"/>
              </a:rPr>
              <a:t>a, so we will use a </a:t>
            </a:r>
            <a:r>
              <a:rPr lang="en-US" sz="2400" b="1" dirty="0">
                <a:latin typeface="Times New Roman" panose="02020603050405020304" pitchFamily="18" charset="0"/>
                <a:ea typeface="Times New Roman"/>
                <a:cs typeface="Times New Roman" panose="02020603050405020304" pitchFamily="18" charset="0"/>
                <a:sym typeface="Times New Roman"/>
              </a:rPr>
              <a:t>plus sign </a:t>
            </a:r>
            <a:r>
              <a:rPr lang="en-US" sz="2400" dirty="0">
                <a:latin typeface="Times New Roman" panose="02020603050405020304" pitchFamily="18" charset="0"/>
                <a:ea typeface="Times New Roman"/>
                <a:cs typeface="Times New Roman" panose="02020603050405020304" pitchFamily="18" charset="0"/>
                <a:sym typeface="Times New Roman"/>
              </a:rPr>
              <a:t>for i</a:t>
            </a:r>
            <a:r>
              <a:rPr lang="en-US" sz="2400" baseline="-25000" dirty="0">
                <a:latin typeface="Times New Roman" panose="02020603050405020304" pitchFamily="18" charset="0"/>
                <a:ea typeface="Times New Roman"/>
                <a:cs typeface="Times New Roman" panose="02020603050405020304" pitchFamily="18" charset="0"/>
                <a:sym typeface="Times New Roman"/>
              </a:rPr>
              <a:t>2</a:t>
            </a:r>
            <a:r>
              <a:rPr lang="en-US" sz="2400" dirty="0">
                <a:latin typeface="Times New Roman" panose="02020603050405020304" pitchFamily="18" charset="0"/>
                <a:ea typeface="Times New Roman"/>
                <a:cs typeface="Times New Roman" panose="02020603050405020304" pitchFamily="18" charset="0"/>
                <a:sym typeface="Times New Roman"/>
              </a:rPr>
              <a:t> and i</a:t>
            </a:r>
            <a:r>
              <a:rPr lang="en-US" sz="2400" baseline="-25000" dirty="0">
                <a:latin typeface="Times New Roman" panose="02020603050405020304" pitchFamily="18" charset="0"/>
                <a:ea typeface="Times New Roman"/>
                <a:cs typeface="Times New Roman" panose="02020603050405020304" pitchFamily="18" charset="0"/>
                <a:sym typeface="Times New Roman"/>
              </a:rPr>
              <a:t>3</a:t>
            </a:r>
            <a:r>
              <a:rPr lang="en-US" sz="2400" dirty="0">
                <a:latin typeface="Times New Roman" panose="02020603050405020304" pitchFamily="18" charset="0"/>
                <a:ea typeface="Times New Roman"/>
                <a:cs typeface="Times New Roman" panose="02020603050405020304" pitchFamily="18" charset="0"/>
                <a:sym typeface="Times New Roman"/>
              </a:rPr>
              <a:t>. In contrast, currents i</a:t>
            </a:r>
            <a:r>
              <a:rPr lang="en-US" sz="2400" baseline="-25000" dirty="0">
                <a:latin typeface="Times New Roman" panose="02020603050405020304" pitchFamily="18" charset="0"/>
                <a:ea typeface="Times New Roman"/>
                <a:cs typeface="Times New Roman" panose="02020603050405020304" pitchFamily="18" charset="0"/>
                <a:sym typeface="Times New Roman"/>
              </a:rPr>
              <a:t>1</a:t>
            </a:r>
            <a:r>
              <a:rPr lang="en-US" sz="2400" dirty="0">
                <a:latin typeface="Times New Roman" panose="02020603050405020304" pitchFamily="18" charset="0"/>
                <a:ea typeface="Times New Roman"/>
                <a:cs typeface="Times New Roman" panose="02020603050405020304" pitchFamily="18" charset="0"/>
                <a:sym typeface="Times New Roman"/>
              </a:rPr>
              <a:t> and i</a:t>
            </a:r>
            <a:r>
              <a:rPr lang="en-US" sz="2400" baseline="-25000" dirty="0">
                <a:latin typeface="Times New Roman" panose="02020603050405020304" pitchFamily="18" charset="0"/>
                <a:ea typeface="Times New Roman"/>
                <a:cs typeface="Times New Roman" panose="02020603050405020304" pitchFamily="18" charset="0"/>
                <a:sym typeface="Times New Roman"/>
              </a:rPr>
              <a:t>4</a:t>
            </a:r>
            <a:r>
              <a:rPr lang="en-US" sz="2400" dirty="0">
                <a:latin typeface="Times New Roman" panose="02020603050405020304" pitchFamily="18" charset="0"/>
                <a:ea typeface="Times New Roman"/>
                <a:cs typeface="Times New Roman" panose="02020603050405020304" pitchFamily="18" charset="0"/>
                <a:sym typeface="Times New Roman"/>
              </a:rPr>
              <a:t> are directed </a:t>
            </a:r>
            <a:r>
              <a:rPr lang="en-US" sz="2400" b="1" dirty="0">
                <a:latin typeface="Times New Roman" panose="02020603050405020304" pitchFamily="18" charset="0"/>
                <a:ea typeface="Times New Roman"/>
                <a:cs typeface="Times New Roman" panose="02020603050405020304" pitchFamily="18" charset="0"/>
                <a:sym typeface="Times New Roman"/>
              </a:rPr>
              <a:t>toward node</a:t>
            </a:r>
            <a:r>
              <a:rPr lang="en-US" sz="2400" dirty="0">
                <a:latin typeface="Times New Roman" panose="02020603050405020304" pitchFamily="18" charset="0"/>
                <a:ea typeface="Times New Roman"/>
                <a:cs typeface="Times New Roman" panose="02020603050405020304" pitchFamily="18" charset="0"/>
                <a:sym typeface="Times New Roman"/>
              </a:rPr>
              <a:t> a, so we will use a </a:t>
            </a:r>
            <a:r>
              <a:rPr lang="en-US" sz="2400" b="1" dirty="0">
                <a:latin typeface="Times New Roman" panose="02020603050405020304" pitchFamily="18" charset="0"/>
                <a:ea typeface="Times New Roman"/>
                <a:cs typeface="Times New Roman" panose="02020603050405020304" pitchFamily="18" charset="0"/>
                <a:sym typeface="Times New Roman"/>
              </a:rPr>
              <a:t>minus sign </a:t>
            </a:r>
            <a:r>
              <a:rPr lang="en-US" sz="2400" dirty="0">
                <a:latin typeface="Times New Roman" panose="02020603050405020304" pitchFamily="18" charset="0"/>
                <a:ea typeface="Times New Roman"/>
                <a:cs typeface="Times New Roman" panose="02020603050405020304" pitchFamily="18" charset="0"/>
                <a:sym typeface="Times New Roman"/>
              </a:rPr>
              <a:t>for i</a:t>
            </a:r>
            <a:r>
              <a:rPr lang="en-US" sz="2400" baseline="-25000" dirty="0">
                <a:latin typeface="Times New Roman" panose="02020603050405020304" pitchFamily="18" charset="0"/>
                <a:ea typeface="Times New Roman"/>
                <a:cs typeface="Times New Roman" panose="02020603050405020304" pitchFamily="18" charset="0"/>
                <a:sym typeface="Times New Roman"/>
              </a:rPr>
              <a:t>1</a:t>
            </a:r>
            <a:r>
              <a:rPr lang="en-US" sz="2400" dirty="0">
                <a:latin typeface="Times New Roman" panose="02020603050405020304" pitchFamily="18" charset="0"/>
                <a:ea typeface="Times New Roman"/>
                <a:cs typeface="Times New Roman" panose="02020603050405020304" pitchFamily="18" charset="0"/>
                <a:sym typeface="Times New Roman"/>
              </a:rPr>
              <a:t> and i</a:t>
            </a:r>
            <a:r>
              <a:rPr lang="en-US" sz="2400" baseline="-25000" dirty="0">
                <a:latin typeface="Times New Roman" panose="02020603050405020304" pitchFamily="18" charset="0"/>
                <a:ea typeface="Times New Roman"/>
                <a:cs typeface="Times New Roman" panose="02020603050405020304" pitchFamily="18" charset="0"/>
                <a:sym typeface="Times New Roman"/>
              </a:rPr>
              <a:t>4</a:t>
            </a:r>
            <a:r>
              <a:rPr lang="en-US" sz="2400" dirty="0">
                <a:latin typeface="Times New Roman" panose="02020603050405020304" pitchFamily="18" charset="0"/>
                <a:ea typeface="Times New Roman"/>
                <a:cs typeface="Times New Roman" panose="02020603050405020304" pitchFamily="18" charset="0"/>
                <a:sym typeface="Times New Roman"/>
              </a:rPr>
              <a:t>. </a:t>
            </a:r>
            <a:endParaRPr sz="24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The KCL equation for node a </a:t>
            </a:r>
            <a:endParaRPr sz="2400" dirty="0">
              <a:latin typeface="Times New Roman" panose="02020603050405020304" pitchFamily="18" charset="0"/>
              <a:cs typeface="Times New Roman" panose="02020603050405020304" pitchFamily="18" charset="0"/>
            </a:endParaRPr>
          </a:p>
          <a:p>
            <a:pPr lvl="2" algn="just">
              <a:spcBef>
                <a:spcPts val="400"/>
              </a:spcBef>
              <a:buClr>
                <a:schemeClr val="dk1"/>
              </a:buClr>
              <a:buSzPts val="2000"/>
              <a:buNone/>
            </a:pPr>
            <a:r>
              <a:rPr lang="en-US" sz="2400" i="1" dirty="0">
                <a:latin typeface="Times New Roman" panose="02020603050405020304" pitchFamily="18" charset="0"/>
                <a:ea typeface="Times New Roman"/>
                <a:cs typeface="Times New Roman" panose="02020603050405020304" pitchFamily="18" charset="0"/>
                <a:sym typeface="Times New Roman"/>
              </a:rPr>
              <a:t>-i</a:t>
            </a:r>
            <a:r>
              <a:rPr lang="en-US" sz="2400" baseline="-25000" dirty="0">
                <a:latin typeface="Times New Roman" panose="02020603050405020304" pitchFamily="18" charset="0"/>
                <a:ea typeface="Times New Roman"/>
                <a:cs typeface="Times New Roman" panose="02020603050405020304" pitchFamily="18" charset="0"/>
                <a:sym typeface="Times New Roman"/>
              </a:rPr>
              <a:t>1</a:t>
            </a:r>
            <a:r>
              <a:rPr lang="en-US" sz="2400" i="1" dirty="0">
                <a:latin typeface="Times New Roman" panose="02020603050405020304" pitchFamily="18" charset="0"/>
                <a:ea typeface="Times New Roman"/>
                <a:cs typeface="Times New Roman" panose="02020603050405020304" pitchFamily="18" charset="0"/>
                <a:sym typeface="Times New Roman"/>
              </a:rPr>
              <a:t>+i</a:t>
            </a:r>
            <a:r>
              <a:rPr lang="en-US" sz="2400" baseline="-25000" dirty="0">
                <a:latin typeface="Times New Roman" panose="02020603050405020304" pitchFamily="18" charset="0"/>
                <a:ea typeface="Times New Roman"/>
                <a:cs typeface="Times New Roman" panose="02020603050405020304" pitchFamily="18" charset="0"/>
                <a:sym typeface="Times New Roman"/>
              </a:rPr>
              <a:t>2</a:t>
            </a:r>
            <a:r>
              <a:rPr lang="en-US" sz="2400" i="1" dirty="0">
                <a:latin typeface="Times New Roman" panose="02020603050405020304" pitchFamily="18" charset="0"/>
                <a:ea typeface="Times New Roman"/>
                <a:cs typeface="Times New Roman" panose="02020603050405020304" pitchFamily="18" charset="0"/>
                <a:sym typeface="Times New Roman"/>
              </a:rPr>
              <a:t>+i</a:t>
            </a:r>
            <a:r>
              <a:rPr lang="en-US" sz="2400" baseline="-25000" dirty="0">
                <a:latin typeface="Times New Roman" panose="02020603050405020304" pitchFamily="18" charset="0"/>
                <a:ea typeface="Times New Roman"/>
                <a:cs typeface="Times New Roman" panose="02020603050405020304" pitchFamily="18" charset="0"/>
                <a:sym typeface="Times New Roman"/>
              </a:rPr>
              <a:t>3</a:t>
            </a:r>
            <a:r>
              <a:rPr lang="en-US" sz="2400" i="1" dirty="0">
                <a:latin typeface="Times New Roman" panose="02020603050405020304" pitchFamily="18" charset="0"/>
                <a:ea typeface="Times New Roman"/>
                <a:cs typeface="Times New Roman" panose="02020603050405020304" pitchFamily="18" charset="0"/>
                <a:sym typeface="Times New Roman"/>
              </a:rPr>
              <a:t>-i</a:t>
            </a:r>
            <a:r>
              <a:rPr lang="en-US" sz="2400" baseline="-25000" dirty="0">
                <a:latin typeface="Times New Roman" panose="02020603050405020304" pitchFamily="18" charset="0"/>
                <a:ea typeface="Times New Roman"/>
                <a:cs typeface="Times New Roman" panose="02020603050405020304" pitchFamily="18" charset="0"/>
                <a:sym typeface="Times New Roman"/>
              </a:rPr>
              <a:t>4 </a:t>
            </a:r>
            <a:r>
              <a:rPr lang="en-US" sz="2400" i="1" dirty="0">
                <a:latin typeface="Times New Roman" panose="02020603050405020304" pitchFamily="18" charset="0"/>
                <a:ea typeface="Times New Roman"/>
                <a:cs typeface="Times New Roman" panose="02020603050405020304" pitchFamily="18" charset="0"/>
                <a:sym typeface="Times New Roman"/>
              </a:rPr>
              <a:t>= </a:t>
            </a:r>
            <a:r>
              <a:rPr lang="en-US" sz="2400" dirty="0">
                <a:latin typeface="Times New Roman" panose="02020603050405020304" pitchFamily="18" charset="0"/>
                <a:ea typeface="Times New Roman"/>
                <a:cs typeface="Times New Roman" panose="02020603050405020304" pitchFamily="18" charset="0"/>
                <a:sym typeface="Times New Roman"/>
              </a:rPr>
              <a:t>0</a:t>
            </a:r>
            <a:r>
              <a:rPr lang="en-US" sz="2400" i="1" dirty="0">
                <a:latin typeface="Times New Roman" panose="02020603050405020304" pitchFamily="18" charset="0"/>
                <a:ea typeface="Times New Roman"/>
                <a:cs typeface="Times New Roman" panose="02020603050405020304" pitchFamily="18" charset="0"/>
                <a:sym typeface="Times New Roman"/>
              </a:rPr>
              <a:t> </a:t>
            </a:r>
            <a:endParaRPr sz="2400" dirty="0">
              <a:latin typeface="Times New Roman" panose="02020603050405020304" pitchFamily="18" charset="0"/>
              <a:cs typeface="Times New Roman" panose="02020603050405020304" pitchFamily="18" charset="0"/>
            </a:endParaRPr>
          </a:p>
        </p:txBody>
      </p:sp>
      <p:sp>
        <p:nvSpPr>
          <p:cNvPr id="282" name="Google Shape;282;p27"/>
          <p:cNvSpPr txBox="1">
            <a:spLocks noGrp="1"/>
          </p:cNvSpPr>
          <p:nvPr>
            <p:ph type="title"/>
          </p:nvPr>
        </p:nvSpPr>
        <p:spPr>
          <a:xfrm>
            <a:off x="1981200" y="44624"/>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Kirchhoff’s Current Law (KCL)</a:t>
            </a:r>
            <a:endParaRPr dirty="0">
              <a:latin typeface="+mn-lt"/>
            </a:endParaRPr>
          </a:p>
        </p:txBody>
      </p:sp>
      <p:sp>
        <p:nvSpPr>
          <p:cNvPr id="283" name="Google Shape;283;p27"/>
          <p:cNvSpPr/>
          <p:nvPr/>
        </p:nvSpPr>
        <p:spPr>
          <a:xfrm>
            <a:off x="5437239" y="6386026"/>
            <a:ext cx="6646605" cy="461624"/>
          </a:xfrm>
          <a:prstGeom prst="rect">
            <a:avLst/>
          </a:prstGeom>
          <a:noFill/>
          <a:ln>
            <a:noFill/>
          </a:ln>
        </p:spPr>
        <p:txBody>
          <a:bodyPr spcFirstLastPara="1" wrap="square" lIns="91425" tIns="45700" rIns="91425" bIns="45700" anchor="t" anchorCtr="0">
            <a:spAutoFit/>
          </a:bodyPr>
          <a:lstStyle/>
          <a:p>
            <a:r>
              <a:rPr lang="en-US" sz="2400" dirty="0">
                <a:solidFill>
                  <a:schemeClr val="dk1"/>
                </a:solidFill>
                <a:latin typeface="Times New Roman"/>
                <a:ea typeface="Times New Roman"/>
                <a:cs typeface="Times New Roman"/>
                <a:sym typeface="Times New Roman"/>
              </a:rPr>
              <a:t> The circuit after labeling the nodes and elements.</a:t>
            </a:r>
            <a:endParaRPr sz="2400" dirty="0">
              <a:solidFill>
                <a:schemeClr val="dk1"/>
              </a:solidFill>
              <a:latin typeface="Calibri"/>
              <a:ea typeface="Calibri"/>
              <a:cs typeface="Calibri"/>
              <a:sym typeface="Calibri"/>
            </a:endParaRPr>
          </a:p>
        </p:txBody>
      </p:sp>
      <p:sp>
        <p:nvSpPr>
          <p:cNvPr id="284" name="Google Shape;284;p27"/>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8"/>
          <p:cNvSpPr txBox="1">
            <a:spLocks noGrp="1"/>
          </p:cNvSpPr>
          <p:nvPr>
            <p:ph type="body" idx="1"/>
          </p:nvPr>
        </p:nvSpPr>
        <p:spPr>
          <a:xfrm>
            <a:off x="914399" y="1257918"/>
            <a:ext cx="10687665"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An alternate way is to set the sum of all the currents directed away from the node equal to the sum of all the currents directed toward that node. </a:t>
            </a:r>
            <a:endParaRPr sz="2400" dirty="0">
              <a:latin typeface="Times New Roman" panose="02020603050405020304" pitchFamily="18" charset="0"/>
              <a:cs typeface="Times New Roman" panose="02020603050405020304" pitchFamily="18" charset="0"/>
            </a:endParaRPr>
          </a:p>
          <a:p>
            <a:pPr marL="342900" indent="-342900">
              <a:spcBef>
                <a:spcPts val="400"/>
              </a:spcBef>
              <a:buClr>
                <a:schemeClr val="dk1"/>
              </a:buClr>
              <a:buSzPts val="1800"/>
              <a:buNone/>
            </a:pPr>
            <a:r>
              <a:rPr lang="en-US" sz="2400" dirty="0">
                <a:latin typeface="Times New Roman" panose="02020603050405020304" pitchFamily="18" charset="0"/>
                <a:ea typeface="Times New Roman"/>
                <a:cs typeface="Times New Roman" panose="02020603050405020304" pitchFamily="18" charset="0"/>
                <a:sym typeface="Times New Roman"/>
              </a:rPr>
              <a:t>			</a:t>
            </a:r>
            <a:r>
              <a:rPr lang="en-US" sz="2400" i="1" dirty="0">
                <a:latin typeface="Times New Roman" panose="02020603050405020304" pitchFamily="18" charset="0"/>
                <a:ea typeface="Times New Roman"/>
                <a:cs typeface="Times New Roman" panose="02020603050405020304" pitchFamily="18" charset="0"/>
                <a:sym typeface="Times New Roman"/>
              </a:rPr>
              <a:t>i</a:t>
            </a:r>
            <a:r>
              <a:rPr lang="en-US" sz="2400" i="1" baseline="-25000" dirty="0">
                <a:latin typeface="Times New Roman" panose="02020603050405020304" pitchFamily="18" charset="0"/>
                <a:ea typeface="Times New Roman"/>
                <a:cs typeface="Times New Roman" panose="02020603050405020304" pitchFamily="18" charset="0"/>
                <a:sym typeface="Times New Roman"/>
              </a:rPr>
              <a:t>2</a:t>
            </a:r>
            <a:r>
              <a:rPr lang="en-US" sz="2400" i="1" dirty="0">
                <a:latin typeface="Times New Roman" panose="02020603050405020304" pitchFamily="18" charset="0"/>
                <a:ea typeface="Times New Roman"/>
                <a:cs typeface="Times New Roman" panose="02020603050405020304" pitchFamily="18" charset="0"/>
                <a:sym typeface="Times New Roman"/>
              </a:rPr>
              <a:t>+i</a:t>
            </a:r>
            <a:r>
              <a:rPr lang="en-US" sz="2400" i="1" baseline="-25000" dirty="0">
                <a:latin typeface="Times New Roman" panose="02020603050405020304" pitchFamily="18" charset="0"/>
                <a:ea typeface="Times New Roman"/>
                <a:cs typeface="Times New Roman" panose="02020603050405020304" pitchFamily="18" charset="0"/>
                <a:sym typeface="Times New Roman"/>
              </a:rPr>
              <a:t>3</a:t>
            </a:r>
            <a:r>
              <a:rPr lang="en-US" sz="2400" i="1" dirty="0">
                <a:latin typeface="Times New Roman" panose="02020603050405020304" pitchFamily="18" charset="0"/>
                <a:ea typeface="Times New Roman"/>
                <a:cs typeface="Times New Roman" panose="02020603050405020304" pitchFamily="18" charset="0"/>
                <a:sym typeface="Times New Roman"/>
              </a:rPr>
              <a:t>= i</a:t>
            </a:r>
            <a:r>
              <a:rPr lang="en-US" sz="2400" i="1" baseline="-25000" dirty="0">
                <a:latin typeface="Times New Roman" panose="02020603050405020304" pitchFamily="18" charset="0"/>
                <a:ea typeface="Times New Roman"/>
                <a:cs typeface="Times New Roman" panose="02020603050405020304" pitchFamily="18" charset="0"/>
                <a:sym typeface="Times New Roman"/>
              </a:rPr>
              <a:t>1</a:t>
            </a:r>
            <a:r>
              <a:rPr lang="en-US" sz="2400" i="1" dirty="0">
                <a:latin typeface="Times New Roman" panose="02020603050405020304" pitchFamily="18" charset="0"/>
                <a:ea typeface="Times New Roman"/>
                <a:cs typeface="Times New Roman" panose="02020603050405020304" pitchFamily="18" charset="0"/>
                <a:sym typeface="Times New Roman"/>
              </a:rPr>
              <a:t>+i</a:t>
            </a:r>
            <a:r>
              <a:rPr lang="en-US" sz="2400" i="1" baseline="-25000" dirty="0">
                <a:latin typeface="Times New Roman" panose="02020603050405020304" pitchFamily="18" charset="0"/>
                <a:ea typeface="Times New Roman"/>
                <a:cs typeface="Times New Roman" panose="02020603050405020304" pitchFamily="18" charset="0"/>
                <a:sym typeface="Times New Roman"/>
              </a:rPr>
              <a:t>4</a:t>
            </a:r>
            <a:endParaRPr sz="2400" dirty="0">
              <a:latin typeface="Times New Roman" panose="02020603050405020304" pitchFamily="18" charset="0"/>
              <a:cs typeface="Times New Roman" panose="02020603050405020304" pitchFamily="18" charset="0"/>
            </a:endParaRPr>
          </a:p>
          <a:p>
            <a:pPr marL="342900" indent="-342900">
              <a:spcBef>
                <a:spcPts val="360"/>
              </a:spcBef>
              <a:buClr>
                <a:schemeClr val="dk1"/>
              </a:buClr>
              <a:buSzPts val="1800"/>
              <a:buNone/>
            </a:pPr>
            <a:endParaRPr sz="2400" i="1" baseline="-25000" dirty="0">
              <a:latin typeface="Times New Roman" panose="02020603050405020304" pitchFamily="18" charset="0"/>
              <a:ea typeface="Times New Roman"/>
              <a:cs typeface="Times New Roman" panose="02020603050405020304" pitchFamily="18" charset="0"/>
              <a:sym typeface="Times New Roman"/>
            </a:endParaRPr>
          </a:p>
          <a:p>
            <a:pPr marL="342900" indent="-342900">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Similarly, the Kirchhoff’s current law equation </a:t>
            </a:r>
            <a:r>
              <a:rPr lang="en-US" sz="2400" b="1" dirty="0">
                <a:latin typeface="Times New Roman" panose="02020603050405020304" pitchFamily="18" charset="0"/>
                <a:ea typeface="Times New Roman"/>
                <a:cs typeface="Times New Roman" panose="02020603050405020304" pitchFamily="18" charset="0"/>
                <a:sym typeface="Times New Roman"/>
              </a:rPr>
              <a:t>for node b </a:t>
            </a:r>
            <a:endParaRPr sz="2400" b="1" dirty="0">
              <a:latin typeface="Times New Roman" panose="02020603050405020304" pitchFamily="18" charset="0"/>
              <a:cs typeface="Times New Roman" panose="02020603050405020304" pitchFamily="18" charset="0"/>
            </a:endParaRPr>
          </a:p>
          <a:p>
            <a:pPr marL="342900" indent="-342900">
              <a:spcBef>
                <a:spcPts val="400"/>
              </a:spcBef>
              <a:buClr>
                <a:schemeClr val="dk1"/>
              </a:buClr>
              <a:buSzPts val="1800"/>
              <a:buNone/>
            </a:pPr>
            <a:r>
              <a:rPr lang="en-US" sz="2400" dirty="0">
                <a:latin typeface="Times New Roman" panose="02020603050405020304" pitchFamily="18" charset="0"/>
                <a:ea typeface="Times New Roman"/>
                <a:cs typeface="Times New Roman" panose="02020603050405020304" pitchFamily="18" charset="0"/>
                <a:sym typeface="Times New Roman"/>
              </a:rPr>
              <a:t>			</a:t>
            </a:r>
            <a:r>
              <a:rPr lang="en-US" sz="2400" i="1" dirty="0">
                <a:latin typeface="Times New Roman" panose="02020603050405020304" pitchFamily="18" charset="0"/>
                <a:ea typeface="Times New Roman"/>
                <a:cs typeface="Times New Roman" panose="02020603050405020304" pitchFamily="18" charset="0"/>
                <a:sym typeface="Times New Roman"/>
              </a:rPr>
              <a:t>i</a:t>
            </a:r>
            <a:r>
              <a:rPr lang="en-US" sz="2400" i="1" baseline="-25000" dirty="0">
                <a:latin typeface="Times New Roman" panose="02020603050405020304" pitchFamily="18" charset="0"/>
                <a:ea typeface="Times New Roman"/>
                <a:cs typeface="Times New Roman" panose="02020603050405020304" pitchFamily="18" charset="0"/>
                <a:sym typeface="Times New Roman"/>
              </a:rPr>
              <a:t>1</a:t>
            </a:r>
            <a:r>
              <a:rPr lang="en-US" sz="2400" i="1" dirty="0">
                <a:latin typeface="Times New Roman" panose="02020603050405020304" pitchFamily="18" charset="0"/>
                <a:ea typeface="Times New Roman"/>
                <a:cs typeface="Times New Roman" panose="02020603050405020304" pitchFamily="18" charset="0"/>
                <a:sym typeface="Times New Roman"/>
              </a:rPr>
              <a:t> = i</a:t>
            </a:r>
            <a:r>
              <a:rPr lang="en-US" sz="2400" i="1" baseline="-25000" dirty="0">
                <a:latin typeface="Times New Roman" panose="02020603050405020304" pitchFamily="18" charset="0"/>
                <a:ea typeface="Times New Roman"/>
                <a:cs typeface="Times New Roman" panose="02020603050405020304" pitchFamily="18" charset="0"/>
                <a:sym typeface="Times New Roman"/>
              </a:rPr>
              <a:t>2</a:t>
            </a:r>
            <a:r>
              <a:rPr lang="en-US" sz="2400" i="1" dirty="0">
                <a:latin typeface="Times New Roman" panose="02020603050405020304" pitchFamily="18" charset="0"/>
                <a:ea typeface="Times New Roman"/>
                <a:cs typeface="Times New Roman" panose="02020603050405020304" pitchFamily="18" charset="0"/>
                <a:sym typeface="Times New Roman"/>
              </a:rPr>
              <a:t>+i</a:t>
            </a:r>
            <a:r>
              <a:rPr lang="en-US" sz="2400" i="1" baseline="-25000" dirty="0">
                <a:latin typeface="Times New Roman" panose="02020603050405020304" pitchFamily="18" charset="0"/>
                <a:ea typeface="Times New Roman"/>
                <a:cs typeface="Times New Roman" panose="02020603050405020304" pitchFamily="18" charset="0"/>
                <a:sym typeface="Times New Roman"/>
              </a:rPr>
              <a:t>3</a:t>
            </a:r>
            <a:r>
              <a:rPr lang="en-US" sz="2400" i="1" dirty="0">
                <a:latin typeface="Times New Roman" panose="02020603050405020304" pitchFamily="18" charset="0"/>
                <a:ea typeface="Times New Roman"/>
                <a:cs typeface="Times New Roman" panose="02020603050405020304" pitchFamily="18" charset="0"/>
                <a:sym typeface="Times New Roman"/>
              </a:rPr>
              <a:t>+i</a:t>
            </a:r>
            <a:r>
              <a:rPr lang="en-US" sz="2400" i="1" baseline="-25000" dirty="0">
                <a:latin typeface="Times New Roman" panose="02020603050405020304" pitchFamily="18" charset="0"/>
                <a:ea typeface="Times New Roman"/>
                <a:cs typeface="Times New Roman" panose="02020603050405020304" pitchFamily="18" charset="0"/>
                <a:sym typeface="Times New Roman"/>
              </a:rPr>
              <a:t>6</a:t>
            </a:r>
            <a:endParaRPr sz="2400" i="1" dirty="0">
              <a:latin typeface="Times New Roman" panose="02020603050405020304" pitchFamily="18" charset="0"/>
              <a:ea typeface="Times New Roman"/>
              <a:cs typeface="Times New Roman" panose="02020603050405020304" pitchFamily="18" charset="0"/>
              <a:sym typeface="Times New Roman"/>
            </a:endParaRPr>
          </a:p>
          <a:p>
            <a:pPr marL="342900">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p:txBody>
      </p:sp>
      <p:sp>
        <p:nvSpPr>
          <p:cNvPr id="290" name="Google Shape;290;p28"/>
          <p:cNvSpPr txBox="1">
            <a:spLocks noGrp="1"/>
          </p:cNvSpPr>
          <p:nvPr>
            <p:ph type="title"/>
          </p:nvPr>
        </p:nvSpPr>
        <p:spPr>
          <a:xfrm>
            <a:off x="1981200" y="274638"/>
            <a:ext cx="8229600" cy="850106"/>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Kirchhoff’s Current Law (KCL)</a:t>
            </a:r>
            <a:endParaRPr dirty="0">
              <a:latin typeface="+mn-lt"/>
            </a:endParaRPr>
          </a:p>
        </p:txBody>
      </p:sp>
      <p:pic>
        <p:nvPicPr>
          <p:cNvPr id="291" name="Google Shape;291;p28"/>
          <p:cNvPicPr preferRelativeResize="0"/>
          <p:nvPr/>
        </p:nvPicPr>
        <p:blipFill rotWithShape="1">
          <a:blip r:embed="rId3">
            <a:alphaModFix/>
          </a:blip>
          <a:srcRect t="53388"/>
          <a:stretch/>
        </p:blipFill>
        <p:spPr>
          <a:xfrm>
            <a:off x="5446887" y="3861048"/>
            <a:ext cx="5052715" cy="2520280"/>
          </a:xfrm>
          <a:prstGeom prst="rect">
            <a:avLst/>
          </a:prstGeom>
          <a:noFill/>
          <a:ln>
            <a:noFill/>
          </a:ln>
        </p:spPr>
      </p:pic>
      <p:sp>
        <p:nvSpPr>
          <p:cNvPr id="292" name="Google Shape;292;p28"/>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9"/>
          <p:cNvSpPr txBox="1">
            <a:spLocks noGrp="1"/>
          </p:cNvSpPr>
          <p:nvPr>
            <p:ph type="title"/>
          </p:nvPr>
        </p:nvSpPr>
        <p:spPr>
          <a:xfrm>
            <a:off x="1981200" y="44624"/>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Kirchhoff’s Voltage Law (KVL)</a:t>
            </a:r>
            <a:endParaRPr dirty="0">
              <a:latin typeface="+mn-lt"/>
            </a:endParaRPr>
          </a:p>
        </p:txBody>
      </p:sp>
      <p:sp>
        <p:nvSpPr>
          <p:cNvPr id="298" name="Google Shape;298;p29"/>
          <p:cNvSpPr txBox="1">
            <a:spLocks noGrp="1"/>
          </p:cNvSpPr>
          <p:nvPr>
            <p:ph type="body" idx="1"/>
          </p:nvPr>
        </p:nvSpPr>
        <p:spPr>
          <a:xfrm>
            <a:off x="285135" y="1052736"/>
            <a:ext cx="11670891" cy="5256584"/>
          </a:xfrm>
          <a:prstGeom prst="rect">
            <a:avLst/>
          </a:prstGeom>
          <a:noFill/>
          <a:ln>
            <a:noFill/>
          </a:ln>
        </p:spPr>
        <p:txBody>
          <a:bodyPr spcFirstLastPara="1" vert="horz" wrap="square" lIns="91425" tIns="45700" rIns="91425" bIns="45700" rtlCol="0" anchor="t" anchorCtr="0">
            <a:normAutofit fontScale="92500" lnSpcReduction="20000"/>
          </a:bodyPr>
          <a:lstStyle/>
          <a:p>
            <a:pPr marL="342900" indent="-342900" algn="just">
              <a:spcBef>
                <a:spcPts val="0"/>
              </a:spcBef>
              <a:buClr>
                <a:schemeClr val="dk1"/>
              </a:buClr>
              <a:buSzPts val="1800"/>
            </a:pPr>
            <a:r>
              <a:rPr lang="en-US" sz="2600" b="1" dirty="0">
                <a:latin typeface="Times New Roman" panose="02020603050405020304" pitchFamily="18" charset="0"/>
                <a:ea typeface="Times New Roman"/>
                <a:cs typeface="Times New Roman" panose="02020603050405020304" pitchFamily="18" charset="0"/>
                <a:sym typeface="Times New Roman"/>
              </a:rPr>
              <a:t>Kirchhoff’s voltage law (KVL): The algebraic sum of the voltages around any loop in a circuit is identically zero for all time.</a:t>
            </a:r>
            <a:endParaRPr sz="2600" b="1"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600" dirty="0">
                <a:latin typeface="Times New Roman" panose="02020603050405020304" pitchFamily="18" charset="0"/>
                <a:ea typeface="Times New Roman"/>
                <a:cs typeface="Times New Roman" panose="02020603050405020304" pitchFamily="18" charset="0"/>
                <a:sym typeface="Times New Roman"/>
              </a:rPr>
              <a:t>The phrase </a:t>
            </a:r>
            <a:r>
              <a:rPr lang="en-US" sz="2600" b="1" dirty="0">
                <a:latin typeface="Times New Roman" panose="02020603050405020304" pitchFamily="18" charset="0"/>
                <a:ea typeface="Times New Roman"/>
                <a:cs typeface="Times New Roman" panose="02020603050405020304" pitchFamily="18" charset="0"/>
                <a:sym typeface="Times New Roman"/>
              </a:rPr>
              <a:t>algebraic sum </a:t>
            </a:r>
            <a:r>
              <a:rPr lang="en-US" sz="2600" dirty="0">
                <a:latin typeface="Times New Roman" panose="02020603050405020304" pitchFamily="18" charset="0"/>
                <a:ea typeface="Times New Roman"/>
                <a:cs typeface="Times New Roman" panose="02020603050405020304" pitchFamily="18" charset="0"/>
                <a:sym typeface="Times New Roman"/>
              </a:rPr>
              <a:t>indicates that we must take </a:t>
            </a:r>
            <a:r>
              <a:rPr lang="en-US" sz="2600" b="1" dirty="0">
                <a:latin typeface="Times New Roman" panose="02020603050405020304" pitchFamily="18" charset="0"/>
                <a:ea typeface="Times New Roman"/>
                <a:cs typeface="Times New Roman" panose="02020603050405020304" pitchFamily="18" charset="0"/>
                <a:sym typeface="Times New Roman"/>
              </a:rPr>
              <a:t>polarity</a:t>
            </a:r>
            <a:r>
              <a:rPr lang="en-US" sz="2600" dirty="0">
                <a:latin typeface="Times New Roman" panose="02020603050405020304" pitchFamily="18" charset="0"/>
                <a:ea typeface="Times New Roman"/>
                <a:cs typeface="Times New Roman" panose="02020603050405020304" pitchFamily="18" charset="0"/>
                <a:sym typeface="Times New Roman"/>
              </a:rPr>
              <a:t> into account as we add up the voltages of elements that comprise a loop. </a:t>
            </a:r>
            <a:endParaRPr sz="26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600" dirty="0">
                <a:latin typeface="Times New Roman" panose="02020603050405020304" pitchFamily="18" charset="0"/>
                <a:ea typeface="Times New Roman"/>
                <a:cs typeface="Times New Roman" panose="02020603050405020304" pitchFamily="18" charset="0"/>
                <a:sym typeface="Times New Roman"/>
              </a:rPr>
              <a:t>One way to take polarity into account is to move </a:t>
            </a:r>
            <a:r>
              <a:rPr lang="en-US" sz="2600" b="1" dirty="0">
                <a:latin typeface="Times New Roman" panose="02020603050405020304" pitchFamily="18" charset="0"/>
                <a:ea typeface="Times New Roman"/>
                <a:cs typeface="Times New Roman" panose="02020603050405020304" pitchFamily="18" charset="0"/>
                <a:sym typeface="Times New Roman"/>
              </a:rPr>
              <a:t>around the loop in the clockwise direction </a:t>
            </a:r>
            <a:r>
              <a:rPr lang="en-US" sz="2600" dirty="0">
                <a:latin typeface="Times New Roman" panose="02020603050405020304" pitchFamily="18" charset="0"/>
                <a:ea typeface="Times New Roman"/>
                <a:cs typeface="Times New Roman" panose="02020603050405020304" pitchFamily="18" charset="0"/>
                <a:sym typeface="Times New Roman"/>
              </a:rPr>
              <a:t>while observing the polarities of the element voltages.</a:t>
            </a:r>
            <a:endParaRPr sz="26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600" dirty="0">
                <a:latin typeface="Times New Roman" panose="02020603050405020304" pitchFamily="18" charset="0"/>
                <a:ea typeface="Times New Roman"/>
                <a:cs typeface="Times New Roman" panose="02020603050405020304" pitchFamily="18" charset="0"/>
                <a:sym typeface="Times New Roman"/>
              </a:rPr>
              <a:t>For example, consider the circuit shown in Figure c. </a:t>
            </a:r>
            <a:r>
              <a:rPr lang="en-US" sz="2600" dirty="0">
                <a:solidFill>
                  <a:srgbClr val="C00000"/>
                </a:solidFill>
                <a:latin typeface="Times New Roman" panose="02020603050405020304" pitchFamily="18" charset="0"/>
                <a:ea typeface="Times New Roman"/>
                <a:cs typeface="Times New Roman" panose="02020603050405020304" pitchFamily="18" charset="0"/>
                <a:sym typeface="Times New Roman"/>
              </a:rPr>
              <a:t>Elements 3, 4, 5, and 6 comprise a loop of the circuit.</a:t>
            </a:r>
            <a:r>
              <a:rPr lang="en-US" sz="2600" dirty="0">
                <a:latin typeface="Times New Roman" panose="02020603050405020304" pitchFamily="18" charset="0"/>
                <a:ea typeface="Times New Roman"/>
                <a:cs typeface="Times New Roman" panose="02020603050405020304" pitchFamily="18" charset="0"/>
                <a:sym typeface="Times New Roman"/>
              </a:rPr>
              <a:t> </a:t>
            </a:r>
          </a:p>
          <a:p>
            <a:pPr marL="342900" indent="-342900" algn="just">
              <a:spcBef>
                <a:spcPts val="360"/>
              </a:spcBef>
              <a:buClr>
                <a:schemeClr val="dk1"/>
              </a:buClr>
              <a:buSzPts val="1800"/>
            </a:pPr>
            <a:r>
              <a:rPr lang="en-US" sz="2600" dirty="0">
                <a:latin typeface="Times New Roman" panose="02020603050405020304" pitchFamily="18" charset="0"/>
                <a:ea typeface="Times New Roman"/>
                <a:cs typeface="Times New Roman" panose="02020603050405020304" pitchFamily="18" charset="0"/>
                <a:sym typeface="Times New Roman"/>
              </a:rPr>
              <a:t>By Kirchhoff’s voltage law, the </a:t>
            </a:r>
            <a:r>
              <a:rPr lang="en-US" sz="2600" b="1" dirty="0">
                <a:latin typeface="Times New Roman" panose="02020603050405020304" pitchFamily="18" charset="0"/>
                <a:ea typeface="Times New Roman"/>
                <a:cs typeface="Times New Roman" panose="02020603050405020304" pitchFamily="18" charset="0"/>
                <a:sym typeface="Times New Roman"/>
              </a:rPr>
              <a:t>algebraic sum of the element voltages v</a:t>
            </a:r>
            <a:r>
              <a:rPr lang="en-US" sz="2600" b="1" baseline="-25000" dirty="0">
                <a:latin typeface="Times New Roman" panose="02020603050405020304" pitchFamily="18" charset="0"/>
                <a:ea typeface="Times New Roman"/>
                <a:cs typeface="Times New Roman" panose="02020603050405020304" pitchFamily="18" charset="0"/>
                <a:sym typeface="Times New Roman"/>
              </a:rPr>
              <a:t>3</a:t>
            </a:r>
            <a:r>
              <a:rPr lang="en-US" sz="2600" b="1" dirty="0">
                <a:latin typeface="Times New Roman" panose="02020603050405020304" pitchFamily="18" charset="0"/>
                <a:ea typeface="Times New Roman"/>
                <a:cs typeface="Times New Roman" panose="02020603050405020304" pitchFamily="18" charset="0"/>
                <a:sym typeface="Times New Roman"/>
              </a:rPr>
              <a:t>, v</a:t>
            </a:r>
            <a:r>
              <a:rPr lang="en-US" sz="2600" b="1" baseline="-25000" dirty="0">
                <a:latin typeface="Times New Roman" panose="02020603050405020304" pitchFamily="18" charset="0"/>
                <a:ea typeface="Times New Roman"/>
                <a:cs typeface="Times New Roman" panose="02020603050405020304" pitchFamily="18" charset="0"/>
                <a:sym typeface="Times New Roman"/>
              </a:rPr>
              <a:t>4</a:t>
            </a:r>
            <a:r>
              <a:rPr lang="en-US" sz="2600" b="1" dirty="0">
                <a:latin typeface="Times New Roman" panose="02020603050405020304" pitchFamily="18" charset="0"/>
                <a:ea typeface="Times New Roman"/>
                <a:cs typeface="Times New Roman" panose="02020603050405020304" pitchFamily="18" charset="0"/>
                <a:sym typeface="Times New Roman"/>
              </a:rPr>
              <a:t>, v</a:t>
            </a:r>
            <a:r>
              <a:rPr lang="en-US" sz="2600" b="1" baseline="-25000" dirty="0">
                <a:latin typeface="Times New Roman" panose="02020603050405020304" pitchFamily="18" charset="0"/>
                <a:ea typeface="Times New Roman"/>
                <a:cs typeface="Times New Roman" panose="02020603050405020304" pitchFamily="18" charset="0"/>
                <a:sym typeface="Times New Roman"/>
              </a:rPr>
              <a:t>5</a:t>
            </a:r>
            <a:r>
              <a:rPr lang="en-US" sz="2600" b="1" dirty="0">
                <a:latin typeface="Times New Roman" panose="02020603050405020304" pitchFamily="18" charset="0"/>
                <a:ea typeface="Times New Roman"/>
                <a:cs typeface="Times New Roman" panose="02020603050405020304" pitchFamily="18" charset="0"/>
                <a:sym typeface="Times New Roman"/>
              </a:rPr>
              <a:t>, and v</a:t>
            </a:r>
            <a:r>
              <a:rPr lang="en-US" sz="2600" b="1" baseline="-25000" dirty="0">
                <a:latin typeface="Times New Roman" panose="02020603050405020304" pitchFamily="18" charset="0"/>
                <a:ea typeface="Times New Roman"/>
                <a:cs typeface="Times New Roman" panose="02020603050405020304" pitchFamily="18" charset="0"/>
                <a:sym typeface="Times New Roman"/>
              </a:rPr>
              <a:t>6</a:t>
            </a:r>
            <a:r>
              <a:rPr lang="en-US" sz="2600" b="1" dirty="0">
                <a:latin typeface="Times New Roman" panose="02020603050405020304" pitchFamily="18" charset="0"/>
                <a:ea typeface="Times New Roman"/>
                <a:cs typeface="Times New Roman" panose="02020603050405020304" pitchFamily="18" charset="0"/>
                <a:sym typeface="Times New Roman"/>
              </a:rPr>
              <a:t> must </a:t>
            </a:r>
            <a:r>
              <a:rPr lang="en-US" sz="2600" b="1">
                <a:latin typeface="Times New Roman" panose="02020603050405020304" pitchFamily="18" charset="0"/>
                <a:ea typeface="Times New Roman"/>
                <a:cs typeface="Times New Roman" panose="02020603050405020304" pitchFamily="18" charset="0"/>
                <a:sym typeface="Times New Roman"/>
              </a:rPr>
              <a:t>be zero.</a:t>
            </a:r>
            <a:endParaRPr sz="2600" b="1"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buNone/>
            </a:pPr>
            <a:r>
              <a:rPr lang="en-US" sz="2600" dirty="0">
                <a:latin typeface="Times New Roman" panose="02020603050405020304" pitchFamily="18" charset="0"/>
                <a:ea typeface="Times New Roman"/>
                <a:cs typeface="Times New Roman" panose="02020603050405020304" pitchFamily="18" charset="0"/>
                <a:sym typeface="Times New Roman"/>
              </a:rPr>
              <a:t>		</a:t>
            </a:r>
            <a:r>
              <a:rPr lang="en-US" sz="2600" b="1" dirty="0">
                <a:latin typeface="Times New Roman" panose="02020603050405020304" pitchFamily="18" charset="0"/>
                <a:ea typeface="Times New Roman"/>
                <a:cs typeface="Times New Roman" panose="02020603050405020304" pitchFamily="18" charset="0"/>
                <a:sym typeface="Times New Roman"/>
              </a:rPr>
              <a:t>v</a:t>
            </a:r>
            <a:r>
              <a:rPr lang="en-US" sz="2600" b="1" baseline="-25000" dirty="0">
                <a:latin typeface="Times New Roman" panose="02020603050405020304" pitchFamily="18" charset="0"/>
                <a:ea typeface="Times New Roman"/>
                <a:cs typeface="Times New Roman" panose="02020603050405020304" pitchFamily="18" charset="0"/>
                <a:sym typeface="Times New Roman"/>
              </a:rPr>
              <a:t>4</a:t>
            </a:r>
            <a:r>
              <a:rPr lang="en-US" sz="2600" b="1" dirty="0">
                <a:latin typeface="Times New Roman" panose="02020603050405020304" pitchFamily="18" charset="0"/>
                <a:ea typeface="Times New Roman"/>
                <a:cs typeface="Times New Roman" panose="02020603050405020304" pitchFamily="18" charset="0"/>
                <a:sym typeface="Times New Roman"/>
              </a:rPr>
              <a:t> - v</a:t>
            </a:r>
            <a:r>
              <a:rPr lang="en-US" sz="2600" b="1" baseline="-25000" dirty="0">
                <a:latin typeface="Times New Roman" panose="02020603050405020304" pitchFamily="18" charset="0"/>
                <a:ea typeface="Times New Roman"/>
                <a:cs typeface="Times New Roman" panose="02020603050405020304" pitchFamily="18" charset="0"/>
                <a:sym typeface="Times New Roman"/>
              </a:rPr>
              <a:t>5</a:t>
            </a:r>
            <a:r>
              <a:rPr lang="en-US" sz="2600" b="1" dirty="0">
                <a:latin typeface="Times New Roman" panose="02020603050405020304" pitchFamily="18" charset="0"/>
                <a:ea typeface="Times New Roman"/>
                <a:cs typeface="Times New Roman" panose="02020603050405020304" pitchFamily="18" charset="0"/>
                <a:sym typeface="Times New Roman"/>
              </a:rPr>
              <a:t> - v</a:t>
            </a:r>
            <a:r>
              <a:rPr lang="en-US" sz="2600" b="1" baseline="-25000" dirty="0">
                <a:latin typeface="Times New Roman" panose="02020603050405020304" pitchFamily="18" charset="0"/>
                <a:ea typeface="Times New Roman"/>
                <a:cs typeface="Times New Roman" panose="02020603050405020304" pitchFamily="18" charset="0"/>
                <a:sym typeface="Times New Roman"/>
              </a:rPr>
              <a:t>6 </a:t>
            </a:r>
            <a:r>
              <a:rPr lang="en-US" sz="2600" b="1" dirty="0">
                <a:latin typeface="Times New Roman" panose="02020603050405020304" pitchFamily="18" charset="0"/>
                <a:ea typeface="Times New Roman"/>
                <a:cs typeface="Times New Roman" panose="02020603050405020304" pitchFamily="18" charset="0"/>
                <a:sym typeface="Times New Roman"/>
              </a:rPr>
              <a:t> - v</a:t>
            </a:r>
            <a:r>
              <a:rPr lang="en-US" sz="2600" b="1" baseline="-25000" dirty="0">
                <a:latin typeface="Times New Roman" panose="02020603050405020304" pitchFamily="18" charset="0"/>
                <a:ea typeface="Times New Roman"/>
                <a:cs typeface="Times New Roman" panose="02020603050405020304" pitchFamily="18" charset="0"/>
                <a:sym typeface="Times New Roman"/>
              </a:rPr>
              <a:t>3</a:t>
            </a:r>
            <a:r>
              <a:rPr lang="en-US" sz="2600" b="1" dirty="0">
                <a:latin typeface="Times New Roman" panose="02020603050405020304" pitchFamily="18" charset="0"/>
                <a:ea typeface="Times New Roman"/>
                <a:cs typeface="Times New Roman" panose="02020603050405020304" pitchFamily="18" charset="0"/>
                <a:sym typeface="Times New Roman"/>
              </a:rPr>
              <a:t> = 0</a:t>
            </a:r>
            <a:endParaRPr sz="2600" b="1"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600" dirty="0">
                <a:latin typeface="Times New Roman" panose="02020603050405020304" pitchFamily="18" charset="0"/>
                <a:ea typeface="Times New Roman"/>
                <a:cs typeface="Times New Roman" panose="02020603050405020304" pitchFamily="18" charset="0"/>
                <a:sym typeface="Times New Roman"/>
              </a:rPr>
              <a:t>Similarly, the KVL equation for  </a:t>
            </a:r>
            <a:endParaRPr sz="26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buNone/>
            </a:pPr>
            <a:r>
              <a:rPr lang="en-US" sz="2600" dirty="0">
                <a:latin typeface="Times New Roman" panose="02020603050405020304" pitchFamily="18" charset="0"/>
                <a:ea typeface="Times New Roman"/>
                <a:cs typeface="Times New Roman" panose="02020603050405020304" pitchFamily="18" charset="0"/>
                <a:sym typeface="Times New Roman"/>
              </a:rPr>
              <a:t>      the loop  consisting of (1, 4, 5, 6) is </a:t>
            </a:r>
            <a:endParaRPr sz="26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buNone/>
            </a:pPr>
            <a:r>
              <a:rPr lang="en-US" sz="2600" dirty="0">
                <a:latin typeface="Times New Roman" panose="02020603050405020304" pitchFamily="18" charset="0"/>
                <a:ea typeface="Times New Roman"/>
                <a:cs typeface="Times New Roman" panose="02020603050405020304" pitchFamily="18" charset="0"/>
                <a:sym typeface="Times New Roman"/>
              </a:rPr>
              <a:t>		</a:t>
            </a:r>
            <a:r>
              <a:rPr lang="en-US" sz="2600" b="1" dirty="0">
                <a:latin typeface="Times New Roman" panose="02020603050405020304" pitchFamily="18" charset="0"/>
                <a:ea typeface="Times New Roman"/>
                <a:cs typeface="Times New Roman" panose="02020603050405020304" pitchFamily="18" charset="0"/>
                <a:sym typeface="Times New Roman"/>
              </a:rPr>
              <a:t>v</a:t>
            </a:r>
            <a:r>
              <a:rPr lang="en-US" sz="2600" b="1" baseline="-25000" dirty="0">
                <a:latin typeface="Times New Roman" panose="02020603050405020304" pitchFamily="18" charset="0"/>
                <a:ea typeface="Times New Roman"/>
                <a:cs typeface="Times New Roman" panose="02020603050405020304" pitchFamily="18" charset="0"/>
                <a:sym typeface="Times New Roman"/>
              </a:rPr>
              <a:t>4</a:t>
            </a:r>
            <a:r>
              <a:rPr lang="en-US" sz="2600" b="1" dirty="0">
                <a:latin typeface="Times New Roman" panose="02020603050405020304" pitchFamily="18" charset="0"/>
                <a:ea typeface="Times New Roman"/>
                <a:cs typeface="Times New Roman" panose="02020603050405020304" pitchFamily="18" charset="0"/>
                <a:sym typeface="Times New Roman"/>
              </a:rPr>
              <a:t> - v</a:t>
            </a:r>
            <a:r>
              <a:rPr lang="en-US" sz="2600" b="1" baseline="-25000" dirty="0">
                <a:latin typeface="Times New Roman" panose="02020603050405020304" pitchFamily="18" charset="0"/>
                <a:ea typeface="Times New Roman"/>
                <a:cs typeface="Times New Roman" panose="02020603050405020304" pitchFamily="18" charset="0"/>
                <a:sym typeface="Times New Roman"/>
              </a:rPr>
              <a:t>5</a:t>
            </a:r>
            <a:r>
              <a:rPr lang="en-US" sz="2600" b="1" dirty="0">
                <a:latin typeface="Times New Roman" panose="02020603050405020304" pitchFamily="18" charset="0"/>
                <a:ea typeface="Times New Roman"/>
                <a:cs typeface="Times New Roman" panose="02020603050405020304" pitchFamily="18" charset="0"/>
                <a:sym typeface="Times New Roman"/>
              </a:rPr>
              <a:t> - v</a:t>
            </a:r>
            <a:r>
              <a:rPr lang="en-US" sz="2600" b="1" baseline="-25000" dirty="0">
                <a:latin typeface="Times New Roman" panose="02020603050405020304" pitchFamily="18" charset="0"/>
                <a:ea typeface="Times New Roman"/>
                <a:cs typeface="Times New Roman" panose="02020603050405020304" pitchFamily="18" charset="0"/>
                <a:sym typeface="Times New Roman"/>
              </a:rPr>
              <a:t>6 </a:t>
            </a:r>
            <a:r>
              <a:rPr lang="en-US" sz="2600" b="1" dirty="0">
                <a:latin typeface="Times New Roman" panose="02020603050405020304" pitchFamily="18" charset="0"/>
                <a:ea typeface="Times New Roman"/>
                <a:cs typeface="Times New Roman" panose="02020603050405020304" pitchFamily="18" charset="0"/>
                <a:sym typeface="Times New Roman"/>
              </a:rPr>
              <a:t> + v</a:t>
            </a:r>
            <a:r>
              <a:rPr lang="en-US" sz="2600" b="1" baseline="-25000" dirty="0">
                <a:latin typeface="Times New Roman" panose="02020603050405020304" pitchFamily="18" charset="0"/>
                <a:ea typeface="Times New Roman"/>
                <a:cs typeface="Times New Roman" panose="02020603050405020304" pitchFamily="18" charset="0"/>
                <a:sym typeface="Times New Roman"/>
              </a:rPr>
              <a:t>1</a:t>
            </a:r>
            <a:r>
              <a:rPr lang="en-US" sz="2600" b="1" dirty="0">
                <a:latin typeface="Times New Roman" panose="02020603050405020304" pitchFamily="18" charset="0"/>
                <a:ea typeface="Times New Roman"/>
                <a:cs typeface="Times New Roman" panose="02020603050405020304" pitchFamily="18" charset="0"/>
                <a:sym typeface="Times New Roman"/>
              </a:rPr>
              <a:t> = 0</a:t>
            </a:r>
            <a:endParaRPr sz="2600" b="1"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buNone/>
            </a:pPr>
            <a:r>
              <a:rPr lang="en-US" sz="2600" dirty="0">
                <a:latin typeface="Times New Roman" panose="02020603050405020304" pitchFamily="18" charset="0"/>
                <a:ea typeface="Times New Roman"/>
                <a:cs typeface="Times New Roman" panose="02020603050405020304" pitchFamily="18" charset="0"/>
                <a:sym typeface="Times New Roman"/>
              </a:rPr>
              <a:t>      the loop consisting of (1 and 2) is</a:t>
            </a:r>
            <a:endParaRPr sz="26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buNone/>
            </a:pPr>
            <a:r>
              <a:rPr lang="en-US" sz="2600" dirty="0">
                <a:latin typeface="Times New Roman" panose="02020603050405020304" pitchFamily="18" charset="0"/>
                <a:ea typeface="Times New Roman"/>
                <a:cs typeface="Times New Roman" panose="02020603050405020304" pitchFamily="18" charset="0"/>
                <a:sym typeface="Times New Roman"/>
              </a:rPr>
              <a:t>		</a:t>
            </a:r>
            <a:r>
              <a:rPr lang="en-US" sz="2600" b="1" dirty="0">
                <a:latin typeface="Times New Roman" panose="02020603050405020304" pitchFamily="18" charset="0"/>
                <a:ea typeface="Times New Roman"/>
                <a:cs typeface="Times New Roman" panose="02020603050405020304" pitchFamily="18" charset="0"/>
                <a:sym typeface="Times New Roman"/>
              </a:rPr>
              <a:t>- v</a:t>
            </a:r>
            <a:r>
              <a:rPr lang="en-US" sz="2600" b="1" baseline="-25000" dirty="0">
                <a:latin typeface="Times New Roman" panose="02020603050405020304" pitchFamily="18" charset="0"/>
                <a:ea typeface="Times New Roman"/>
                <a:cs typeface="Times New Roman" panose="02020603050405020304" pitchFamily="18" charset="0"/>
                <a:sym typeface="Times New Roman"/>
              </a:rPr>
              <a:t>2 </a:t>
            </a:r>
            <a:r>
              <a:rPr lang="en-US" sz="2600" b="1" dirty="0">
                <a:latin typeface="Times New Roman" panose="02020603050405020304" pitchFamily="18" charset="0"/>
                <a:ea typeface="Times New Roman"/>
                <a:cs typeface="Times New Roman" panose="02020603050405020304" pitchFamily="18" charset="0"/>
                <a:sym typeface="Times New Roman"/>
              </a:rPr>
              <a:t> + v</a:t>
            </a:r>
            <a:r>
              <a:rPr lang="en-US" sz="2600" b="1" baseline="-25000" dirty="0">
                <a:latin typeface="Times New Roman" panose="02020603050405020304" pitchFamily="18" charset="0"/>
                <a:ea typeface="Times New Roman"/>
                <a:cs typeface="Times New Roman" panose="02020603050405020304" pitchFamily="18" charset="0"/>
                <a:sym typeface="Times New Roman"/>
              </a:rPr>
              <a:t>1</a:t>
            </a:r>
            <a:r>
              <a:rPr lang="en-US" sz="2600" b="1" dirty="0">
                <a:latin typeface="Times New Roman" panose="02020603050405020304" pitchFamily="18" charset="0"/>
                <a:ea typeface="Times New Roman"/>
                <a:cs typeface="Times New Roman" panose="02020603050405020304" pitchFamily="18" charset="0"/>
                <a:sym typeface="Times New Roman"/>
              </a:rPr>
              <a:t> = 0</a:t>
            </a:r>
            <a:endParaRPr sz="2600" b="1"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buNone/>
            </a:pPr>
            <a:endParaRPr sz="26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360"/>
              </a:spcBef>
              <a:buClr>
                <a:schemeClr val="dk1"/>
              </a:buClr>
              <a:buSzPts val="1800"/>
              <a:buNone/>
            </a:pPr>
            <a:endParaRPr sz="1800" b="1" baseline="-25000" dirty="0">
              <a:latin typeface="Times New Roman"/>
              <a:ea typeface="Times New Roman"/>
              <a:cs typeface="Times New Roman"/>
              <a:sym typeface="Times New Roman"/>
            </a:endParaRPr>
          </a:p>
        </p:txBody>
      </p:sp>
      <p:sp>
        <p:nvSpPr>
          <p:cNvPr id="299" name="Google Shape;299;p29"/>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16</a:t>
            </a:fld>
            <a:endParaRPr/>
          </a:p>
        </p:txBody>
      </p:sp>
      <p:pic>
        <p:nvPicPr>
          <p:cNvPr id="300" name="Google Shape;300;p29"/>
          <p:cNvPicPr preferRelativeResize="0"/>
          <p:nvPr/>
        </p:nvPicPr>
        <p:blipFill rotWithShape="1">
          <a:blip r:embed="rId3">
            <a:alphaModFix/>
          </a:blip>
          <a:srcRect t="53388"/>
          <a:stretch/>
        </p:blipFill>
        <p:spPr>
          <a:xfrm>
            <a:off x="6023993" y="4437112"/>
            <a:ext cx="4619625" cy="230425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85058B45-AB3C-3916-8F35-252051A64B65}"/>
            </a:ext>
          </a:extLst>
        </p:cNvPr>
        <p:cNvGrpSpPr/>
        <p:nvPr/>
      </p:nvGrpSpPr>
      <p:grpSpPr>
        <a:xfrm>
          <a:off x="0" y="0"/>
          <a:ext cx="0" cy="0"/>
          <a:chOff x="0" y="0"/>
          <a:chExt cx="0" cy="0"/>
        </a:xfrm>
      </p:grpSpPr>
      <p:sp>
        <p:nvSpPr>
          <p:cNvPr id="305" name="Google Shape;305;p30">
            <a:extLst>
              <a:ext uri="{FF2B5EF4-FFF2-40B4-BE49-F238E27FC236}">
                <a16:creationId xmlns:a16="http://schemas.microsoft.com/office/drawing/2014/main" id="{C07DCB07-5C8F-5293-2234-D7097296F569}"/>
              </a:ext>
            </a:extLst>
          </p:cNvPr>
          <p:cNvSpPr txBox="1">
            <a:spLocks noGrp="1"/>
          </p:cNvSpPr>
          <p:nvPr>
            <p:ph type="title"/>
          </p:nvPr>
        </p:nvSpPr>
        <p:spPr>
          <a:xfrm>
            <a:off x="1981200" y="-27384"/>
            <a:ext cx="8507288" cy="100811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Problems</a:t>
            </a:r>
            <a:endParaRPr b="1" dirty="0">
              <a:solidFill>
                <a:srgbClr val="C00000"/>
              </a:solidFill>
              <a:latin typeface="+mn-lt"/>
            </a:endParaRPr>
          </a:p>
        </p:txBody>
      </p:sp>
      <p:sp>
        <p:nvSpPr>
          <p:cNvPr id="306" name="Google Shape;306;p30">
            <a:extLst>
              <a:ext uri="{FF2B5EF4-FFF2-40B4-BE49-F238E27FC236}">
                <a16:creationId xmlns:a16="http://schemas.microsoft.com/office/drawing/2014/main" id="{B2813748-5EFA-D624-7D7E-A25B738F938F}"/>
              </a:ext>
            </a:extLst>
          </p:cNvPr>
          <p:cNvSpPr txBox="1">
            <a:spLocks noGrp="1"/>
          </p:cNvSpPr>
          <p:nvPr>
            <p:ph type="body" idx="1"/>
          </p:nvPr>
        </p:nvSpPr>
        <p:spPr>
          <a:xfrm>
            <a:off x="-167147" y="764704"/>
            <a:ext cx="12241160" cy="1684784"/>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1800"/>
              <a:buNone/>
            </a:pPr>
            <a:r>
              <a:rPr lang="en-US" sz="2400" dirty="0">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ea typeface="Times New Roman"/>
                <a:cs typeface="Times New Roman" panose="02020603050405020304" pitchFamily="18" charset="0"/>
                <a:sym typeface="Times New Roman"/>
              </a:rPr>
              <a:t>Problem 1. </a:t>
            </a:r>
            <a:r>
              <a:rPr lang="en-US" sz="2400" dirty="0">
                <a:latin typeface="Times New Roman" panose="02020603050405020304" pitchFamily="18" charset="0"/>
                <a:ea typeface="Times New Roman"/>
                <a:cs typeface="Times New Roman" panose="02020603050405020304" pitchFamily="18" charset="0"/>
                <a:sym typeface="Times New Roman"/>
              </a:rPr>
              <a:t>Consider the circuit shown in Figure. Notice that the passive convention was used to assign reference directions to the resistor voltages and currents. This anticipates using Ohm’s law. Find each current and each voltage when R</a:t>
            </a:r>
            <a:r>
              <a:rPr lang="en-US" sz="2400" baseline="-25000" dirty="0">
                <a:latin typeface="Times New Roman" panose="02020603050405020304" pitchFamily="18" charset="0"/>
                <a:ea typeface="Times New Roman"/>
                <a:cs typeface="Times New Roman" panose="02020603050405020304" pitchFamily="18" charset="0"/>
                <a:sym typeface="Times New Roman"/>
              </a:rPr>
              <a:t>1</a:t>
            </a:r>
            <a:r>
              <a:rPr lang="en-US" sz="2400" dirty="0">
                <a:latin typeface="Times New Roman" panose="02020603050405020304" pitchFamily="18" charset="0"/>
                <a:ea typeface="Times New Roman"/>
                <a:cs typeface="Times New Roman" panose="02020603050405020304" pitchFamily="18" charset="0"/>
                <a:sym typeface="Times New Roman"/>
              </a:rPr>
              <a:t> = 8 Ω, v</a:t>
            </a:r>
            <a:r>
              <a:rPr lang="en-US" sz="2400" baseline="-25000" dirty="0">
                <a:latin typeface="Times New Roman" panose="02020603050405020304" pitchFamily="18" charset="0"/>
                <a:ea typeface="Times New Roman"/>
                <a:cs typeface="Times New Roman" panose="02020603050405020304" pitchFamily="18" charset="0"/>
                <a:sym typeface="Times New Roman"/>
              </a:rPr>
              <a:t>2</a:t>
            </a:r>
            <a:r>
              <a:rPr lang="en-US" sz="2400" dirty="0">
                <a:latin typeface="Times New Roman" panose="02020603050405020304" pitchFamily="18" charset="0"/>
                <a:ea typeface="Times New Roman"/>
                <a:cs typeface="Times New Roman" panose="02020603050405020304" pitchFamily="18" charset="0"/>
                <a:sym typeface="Times New Roman"/>
              </a:rPr>
              <a:t> = -10 V, i</a:t>
            </a:r>
            <a:r>
              <a:rPr lang="en-US" sz="2400" baseline="-25000" dirty="0">
                <a:latin typeface="Times New Roman" panose="02020603050405020304" pitchFamily="18" charset="0"/>
                <a:ea typeface="Times New Roman"/>
                <a:cs typeface="Times New Roman" panose="02020603050405020304" pitchFamily="18" charset="0"/>
                <a:sym typeface="Times New Roman"/>
              </a:rPr>
              <a:t>3</a:t>
            </a:r>
            <a:r>
              <a:rPr lang="en-US" sz="2400" dirty="0">
                <a:latin typeface="Times New Roman" panose="02020603050405020304" pitchFamily="18" charset="0"/>
                <a:ea typeface="Times New Roman"/>
                <a:cs typeface="Times New Roman" panose="02020603050405020304" pitchFamily="18" charset="0"/>
                <a:sym typeface="Times New Roman"/>
              </a:rPr>
              <a:t> = 2 A, and R</a:t>
            </a:r>
            <a:r>
              <a:rPr lang="en-US" sz="2400" baseline="-25000" dirty="0">
                <a:latin typeface="Times New Roman" panose="02020603050405020304" pitchFamily="18" charset="0"/>
                <a:ea typeface="Times New Roman"/>
                <a:cs typeface="Times New Roman" panose="02020603050405020304" pitchFamily="18" charset="0"/>
                <a:sym typeface="Times New Roman"/>
              </a:rPr>
              <a:t>3</a:t>
            </a:r>
            <a:r>
              <a:rPr lang="en-US" sz="2400" dirty="0">
                <a:latin typeface="Times New Roman" panose="02020603050405020304" pitchFamily="18" charset="0"/>
                <a:ea typeface="Times New Roman"/>
                <a:cs typeface="Times New Roman" panose="02020603050405020304" pitchFamily="18" charset="0"/>
                <a:sym typeface="Times New Roman"/>
              </a:rPr>
              <a:t> = 1 Ω. Also, determine the resistance R</a:t>
            </a:r>
            <a:r>
              <a:rPr lang="en-US" sz="2400" baseline="-25000" dirty="0">
                <a:latin typeface="Times New Roman" panose="02020603050405020304" pitchFamily="18" charset="0"/>
                <a:ea typeface="Times New Roman"/>
                <a:cs typeface="Times New Roman" panose="02020603050405020304" pitchFamily="18" charset="0"/>
                <a:sym typeface="Times New Roman"/>
              </a:rPr>
              <a:t>2</a:t>
            </a:r>
            <a:r>
              <a:rPr lang="en-US" sz="2400" dirty="0">
                <a:latin typeface="Times New Roman" panose="02020603050405020304" pitchFamily="18" charset="0"/>
                <a:ea typeface="Times New Roman"/>
                <a:cs typeface="Times New Roman" panose="02020603050405020304" pitchFamily="18" charset="0"/>
                <a:sym typeface="Times New Roman"/>
              </a:rPr>
              <a:t>.</a:t>
            </a:r>
            <a:endParaRPr sz="2400" dirty="0">
              <a:latin typeface="Times New Roman" panose="02020603050405020304" pitchFamily="18" charset="0"/>
              <a:cs typeface="Times New Roman" panose="02020603050405020304" pitchFamily="18" charset="0"/>
            </a:endParaRPr>
          </a:p>
          <a:p>
            <a:pPr marL="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p:txBody>
      </p:sp>
      <p:pic>
        <p:nvPicPr>
          <p:cNvPr id="307" name="Google Shape;307;p30">
            <a:extLst>
              <a:ext uri="{FF2B5EF4-FFF2-40B4-BE49-F238E27FC236}">
                <a16:creationId xmlns:a16="http://schemas.microsoft.com/office/drawing/2014/main" id="{463D57DF-66E7-3733-7C15-550DB73CD08F}"/>
              </a:ext>
            </a:extLst>
          </p:cNvPr>
          <p:cNvPicPr preferRelativeResize="0"/>
          <p:nvPr/>
        </p:nvPicPr>
        <p:blipFill rotWithShape="1">
          <a:blip r:embed="rId3">
            <a:alphaModFix/>
          </a:blip>
          <a:srcRect/>
          <a:stretch/>
        </p:blipFill>
        <p:spPr>
          <a:xfrm>
            <a:off x="4204551" y="2716325"/>
            <a:ext cx="2249243" cy="3384376"/>
          </a:xfrm>
          <a:prstGeom prst="rect">
            <a:avLst/>
          </a:prstGeom>
          <a:noFill/>
          <a:ln>
            <a:noFill/>
          </a:ln>
        </p:spPr>
      </p:pic>
      <p:sp>
        <p:nvSpPr>
          <p:cNvPr id="309" name="Google Shape;309;p30">
            <a:extLst>
              <a:ext uri="{FF2B5EF4-FFF2-40B4-BE49-F238E27FC236}">
                <a16:creationId xmlns:a16="http://schemas.microsoft.com/office/drawing/2014/main" id="{4C83BC08-134E-57CC-804A-B368EA0D5A62}"/>
              </a:ext>
            </a:extLst>
          </p:cNvPr>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17</a:t>
            </a:fld>
            <a:endParaRPr/>
          </a:p>
        </p:txBody>
      </p:sp>
    </p:spTree>
    <p:extLst>
      <p:ext uri="{BB962C8B-B14F-4D97-AF65-F5344CB8AC3E}">
        <p14:creationId xmlns:p14="http://schemas.microsoft.com/office/powerpoint/2010/main" val="964832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0"/>
          <p:cNvSpPr txBox="1">
            <a:spLocks noGrp="1"/>
          </p:cNvSpPr>
          <p:nvPr>
            <p:ph type="title"/>
          </p:nvPr>
        </p:nvSpPr>
        <p:spPr>
          <a:xfrm>
            <a:off x="1981200" y="-27384"/>
            <a:ext cx="8507288" cy="100811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Problems</a:t>
            </a:r>
            <a:endParaRPr b="1" dirty="0">
              <a:solidFill>
                <a:srgbClr val="C00000"/>
              </a:solidFill>
              <a:latin typeface="+mn-lt"/>
            </a:endParaRPr>
          </a:p>
        </p:txBody>
      </p:sp>
      <p:sp>
        <p:nvSpPr>
          <p:cNvPr id="306" name="Google Shape;306;p30"/>
          <p:cNvSpPr txBox="1">
            <a:spLocks noGrp="1"/>
          </p:cNvSpPr>
          <p:nvPr>
            <p:ph type="body" idx="1"/>
          </p:nvPr>
        </p:nvSpPr>
        <p:spPr>
          <a:xfrm>
            <a:off x="-167147" y="764704"/>
            <a:ext cx="12241160" cy="1684784"/>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1800"/>
              <a:buNone/>
            </a:pPr>
            <a:r>
              <a:rPr lang="en-US" sz="2400" dirty="0">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ea typeface="Times New Roman"/>
                <a:cs typeface="Times New Roman" panose="02020603050405020304" pitchFamily="18" charset="0"/>
                <a:sym typeface="Times New Roman"/>
              </a:rPr>
              <a:t>Problem 1. </a:t>
            </a:r>
            <a:r>
              <a:rPr lang="en-US" sz="2400" dirty="0">
                <a:latin typeface="Times New Roman" panose="02020603050405020304" pitchFamily="18" charset="0"/>
                <a:ea typeface="Times New Roman"/>
                <a:cs typeface="Times New Roman" panose="02020603050405020304" pitchFamily="18" charset="0"/>
                <a:sym typeface="Times New Roman"/>
              </a:rPr>
              <a:t>Consider the circuit shown in Figure. Notice that the passive convention was used to assign reference directions to the resistor voltages and currents. This anticipates using Ohm’s law. Find each current and each voltage when R</a:t>
            </a:r>
            <a:r>
              <a:rPr lang="en-US" sz="2400" baseline="-25000" dirty="0">
                <a:latin typeface="Times New Roman" panose="02020603050405020304" pitchFamily="18" charset="0"/>
                <a:ea typeface="Times New Roman"/>
                <a:cs typeface="Times New Roman" panose="02020603050405020304" pitchFamily="18" charset="0"/>
                <a:sym typeface="Times New Roman"/>
              </a:rPr>
              <a:t>1</a:t>
            </a:r>
            <a:r>
              <a:rPr lang="en-US" sz="2400" dirty="0">
                <a:latin typeface="Times New Roman" panose="02020603050405020304" pitchFamily="18" charset="0"/>
                <a:ea typeface="Times New Roman"/>
                <a:cs typeface="Times New Roman" panose="02020603050405020304" pitchFamily="18" charset="0"/>
                <a:sym typeface="Times New Roman"/>
              </a:rPr>
              <a:t> = 8 Ω, v</a:t>
            </a:r>
            <a:r>
              <a:rPr lang="en-US" sz="2400" baseline="-25000" dirty="0">
                <a:latin typeface="Times New Roman" panose="02020603050405020304" pitchFamily="18" charset="0"/>
                <a:ea typeface="Times New Roman"/>
                <a:cs typeface="Times New Roman" panose="02020603050405020304" pitchFamily="18" charset="0"/>
                <a:sym typeface="Times New Roman"/>
              </a:rPr>
              <a:t>2</a:t>
            </a:r>
            <a:r>
              <a:rPr lang="en-US" sz="2400" dirty="0">
                <a:latin typeface="Times New Roman" panose="02020603050405020304" pitchFamily="18" charset="0"/>
                <a:ea typeface="Times New Roman"/>
                <a:cs typeface="Times New Roman" panose="02020603050405020304" pitchFamily="18" charset="0"/>
                <a:sym typeface="Times New Roman"/>
              </a:rPr>
              <a:t> = -10 V, i</a:t>
            </a:r>
            <a:r>
              <a:rPr lang="en-US" sz="2400" baseline="-25000" dirty="0">
                <a:latin typeface="Times New Roman" panose="02020603050405020304" pitchFamily="18" charset="0"/>
                <a:ea typeface="Times New Roman"/>
                <a:cs typeface="Times New Roman" panose="02020603050405020304" pitchFamily="18" charset="0"/>
                <a:sym typeface="Times New Roman"/>
              </a:rPr>
              <a:t>3</a:t>
            </a:r>
            <a:r>
              <a:rPr lang="en-US" sz="2400" dirty="0">
                <a:latin typeface="Times New Roman" panose="02020603050405020304" pitchFamily="18" charset="0"/>
                <a:ea typeface="Times New Roman"/>
                <a:cs typeface="Times New Roman" panose="02020603050405020304" pitchFamily="18" charset="0"/>
                <a:sym typeface="Times New Roman"/>
              </a:rPr>
              <a:t> = 2 A, and R</a:t>
            </a:r>
            <a:r>
              <a:rPr lang="en-US" sz="2400" baseline="-25000" dirty="0">
                <a:latin typeface="Times New Roman" panose="02020603050405020304" pitchFamily="18" charset="0"/>
                <a:ea typeface="Times New Roman"/>
                <a:cs typeface="Times New Roman" panose="02020603050405020304" pitchFamily="18" charset="0"/>
                <a:sym typeface="Times New Roman"/>
              </a:rPr>
              <a:t>3</a:t>
            </a:r>
            <a:r>
              <a:rPr lang="en-US" sz="2400" dirty="0">
                <a:latin typeface="Times New Roman" panose="02020603050405020304" pitchFamily="18" charset="0"/>
                <a:ea typeface="Times New Roman"/>
                <a:cs typeface="Times New Roman" panose="02020603050405020304" pitchFamily="18" charset="0"/>
                <a:sym typeface="Times New Roman"/>
              </a:rPr>
              <a:t> = 1 Ω. Also, determine the resistance R</a:t>
            </a:r>
            <a:r>
              <a:rPr lang="en-US" sz="2400" baseline="-25000" dirty="0">
                <a:latin typeface="Times New Roman" panose="02020603050405020304" pitchFamily="18" charset="0"/>
                <a:ea typeface="Times New Roman"/>
                <a:cs typeface="Times New Roman" panose="02020603050405020304" pitchFamily="18" charset="0"/>
                <a:sym typeface="Times New Roman"/>
              </a:rPr>
              <a:t>2</a:t>
            </a:r>
            <a:r>
              <a:rPr lang="en-US" sz="2400" dirty="0">
                <a:latin typeface="Times New Roman" panose="02020603050405020304" pitchFamily="18" charset="0"/>
                <a:ea typeface="Times New Roman"/>
                <a:cs typeface="Times New Roman" panose="02020603050405020304" pitchFamily="18" charset="0"/>
                <a:sym typeface="Times New Roman"/>
              </a:rPr>
              <a:t>.</a:t>
            </a:r>
            <a:endParaRPr sz="2400" dirty="0">
              <a:latin typeface="Times New Roman" panose="02020603050405020304" pitchFamily="18" charset="0"/>
              <a:cs typeface="Times New Roman" panose="02020603050405020304" pitchFamily="18" charset="0"/>
            </a:endParaRPr>
          </a:p>
          <a:p>
            <a:pPr marL="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p:txBody>
      </p:sp>
      <p:pic>
        <p:nvPicPr>
          <p:cNvPr id="307" name="Google Shape;307;p30"/>
          <p:cNvPicPr preferRelativeResize="0"/>
          <p:nvPr/>
        </p:nvPicPr>
        <p:blipFill rotWithShape="1">
          <a:blip r:embed="rId3">
            <a:alphaModFix/>
          </a:blip>
          <a:srcRect/>
          <a:stretch/>
        </p:blipFill>
        <p:spPr>
          <a:xfrm>
            <a:off x="9553300" y="2581387"/>
            <a:ext cx="2249243" cy="3384376"/>
          </a:xfrm>
          <a:prstGeom prst="rect">
            <a:avLst/>
          </a:prstGeom>
          <a:noFill/>
          <a:ln>
            <a:noFill/>
          </a:ln>
        </p:spPr>
      </p:pic>
      <p:sp>
        <p:nvSpPr>
          <p:cNvPr id="308" name="Google Shape;308;p30"/>
          <p:cNvSpPr txBox="1"/>
          <p:nvPr/>
        </p:nvSpPr>
        <p:spPr>
          <a:xfrm>
            <a:off x="117987" y="2227979"/>
            <a:ext cx="9435313" cy="4493497"/>
          </a:xfrm>
          <a:prstGeom prst="rect">
            <a:avLst/>
          </a:prstGeom>
          <a:noFill/>
          <a:ln>
            <a:noFill/>
          </a:ln>
        </p:spPr>
        <p:txBody>
          <a:bodyPr spcFirstLastPara="1" wrap="square" lIns="91425" tIns="45700" rIns="91425" bIns="45700" anchor="t" anchorCtr="0">
            <a:spAutoFit/>
          </a:bodyPr>
          <a:lstStyle/>
          <a:p>
            <a:pPr algn="just"/>
            <a:r>
              <a:rPr lang="en-US" sz="2200" b="1" dirty="0">
                <a:solidFill>
                  <a:srgbClr val="7030A0"/>
                </a:solidFill>
                <a:latin typeface="Times New Roman" panose="02020603050405020304" pitchFamily="18" charset="0"/>
                <a:ea typeface="Times New Roman"/>
                <a:cs typeface="Times New Roman" panose="02020603050405020304" pitchFamily="18" charset="0"/>
                <a:sym typeface="Times New Roman"/>
              </a:rPr>
              <a:t>Solution:</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The sum of the currents entering node a is </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a:t>
            </a:r>
            <a:r>
              <a:rPr lang="en-US" sz="2200" i="1" dirty="0">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200" i="1" dirty="0">
                <a:solidFill>
                  <a:schemeClr val="dk1"/>
                </a:solidFill>
                <a:latin typeface="Times New Roman" panose="02020603050405020304" pitchFamily="18" charset="0"/>
                <a:ea typeface="Times New Roman"/>
                <a:cs typeface="Times New Roman" panose="02020603050405020304" pitchFamily="18" charset="0"/>
                <a:sym typeface="Times New Roman"/>
              </a:rPr>
              <a:t>- i</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200" i="1" dirty="0">
                <a:solidFill>
                  <a:schemeClr val="dk1"/>
                </a:solidFill>
                <a:latin typeface="Times New Roman" panose="02020603050405020304" pitchFamily="18" charset="0"/>
                <a:ea typeface="Times New Roman"/>
                <a:cs typeface="Times New Roman" panose="02020603050405020304" pitchFamily="18" charset="0"/>
                <a:sym typeface="Times New Roman"/>
              </a:rPr>
              <a:t>- i</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3</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=0</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Using Ohm’s law for R</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3</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we find that </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v</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3</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R</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3</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3</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1(2) = 2 V </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Kirchhoff’s voltage law for the bottom loop incorporating v</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v</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3</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and the 10-V source is </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-10 + v</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v</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3</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0 </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Therefore; 	</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v</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10 - v</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3</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8 V </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Ohm’s law for the resistor R</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is v</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 R</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i</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or 		</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v</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/R</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8/8 = 1 A </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Next, apply Kirchhoff’s current law at node a to get</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i</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i</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i</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3</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1-2 = -1 A </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We can now find the resistance R</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2</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from v</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2</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 R</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2</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i</a:t>
            </a:r>
            <a:r>
              <a:rPr lang="en-US" sz="2200" baseline="-25000" dirty="0">
                <a:solidFill>
                  <a:srgbClr val="7030A0"/>
                </a:solidFill>
                <a:latin typeface="Times New Roman" panose="02020603050405020304" pitchFamily="18" charset="0"/>
                <a:ea typeface="Times New Roman"/>
                <a:cs typeface="Times New Roman" panose="02020603050405020304" pitchFamily="18" charset="0"/>
                <a:sym typeface="Times New Roman"/>
              </a:rPr>
              <a:t>2</a:t>
            </a:r>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or </a:t>
            </a:r>
            <a:endParaRPr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ea typeface="Times New Roman"/>
                <a:cs typeface="Times New Roman" panose="02020603050405020304" pitchFamily="18" charset="0"/>
                <a:sym typeface="Times New Roman"/>
              </a:rPr>
              <a:t>		</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R</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v</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/i</a:t>
            </a:r>
            <a:r>
              <a:rPr lang="en-US" sz="22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 = -10/-1 = 10Ω</a:t>
            </a: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309" name="Google Shape;309;p30"/>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139BE381-226D-6EEC-8363-84F44717E1A4}"/>
            </a:ext>
          </a:extLst>
        </p:cNvPr>
        <p:cNvGrpSpPr/>
        <p:nvPr/>
      </p:nvGrpSpPr>
      <p:grpSpPr>
        <a:xfrm>
          <a:off x="0" y="0"/>
          <a:ext cx="0" cy="0"/>
          <a:chOff x="0" y="0"/>
          <a:chExt cx="0" cy="0"/>
        </a:xfrm>
      </p:grpSpPr>
      <p:sp>
        <p:nvSpPr>
          <p:cNvPr id="314" name="Google Shape;314;p31">
            <a:extLst>
              <a:ext uri="{FF2B5EF4-FFF2-40B4-BE49-F238E27FC236}">
                <a16:creationId xmlns:a16="http://schemas.microsoft.com/office/drawing/2014/main" id="{A5246CB2-3DDB-DB67-C2DA-F4506AA8B6B2}"/>
              </a:ext>
            </a:extLst>
          </p:cNvPr>
          <p:cNvSpPr txBox="1">
            <a:spLocks noGrp="1"/>
          </p:cNvSpPr>
          <p:nvPr>
            <p:ph type="body" idx="1"/>
          </p:nvPr>
        </p:nvSpPr>
        <p:spPr>
          <a:xfrm>
            <a:off x="-137651" y="620689"/>
            <a:ext cx="12250994" cy="748679"/>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2000"/>
              <a:buNone/>
            </a:pPr>
            <a:r>
              <a:rPr lang="en-US" sz="2000" b="1" dirty="0">
                <a:latin typeface="Times New Roman"/>
                <a:ea typeface="Times New Roman"/>
                <a:cs typeface="Times New Roman"/>
                <a:sym typeface="Times New Roman"/>
              </a:rPr>
              <a:t>	</a:t>
            </a:r>
            <a:r>
              <a:rPr lang="en-US" sz="2400" b="1" dirty="0">
                <a:latin typeface="Times New Roman"/>
                <a:ea typeface="Times New Roman"/>
                <a:cs typeface="Times New Roman"/>
                <a:sym typeface="Times New Roman"/>
              </a:rPr>
              <a:t>Problem 2</a:t>
            </a:r>
            <a:r>
              <a:rPr lang="en-US" sz="2400" dirty="0">
                <a:latin typeface="Times New Roman"/>
                <a:ea typeface="Times New Roman"/>
                <a:cs typeface="Times New Roman"/>
                <a:sym typeface="Times New Roman"/>
              </a:rPr>
              <a:t>. Determine the value of the current, in amps, measured by the ammeter in Figure a.</a:t>
            </a:r>
            <a:endParaRPr sz="2400" dirty="0"/>
          </a:p>
        </p:txBody>
      </p:sp>
      <p:pic>
        <p:nvPicPr>
          <p:cNvPr id="315" name="Google Shape;315;p31">
            <a:extLst>
              <a:ext uri="{FF2B5EF4-FFF2-40B4-BE49-F238E27FC236}">
                <a16:creationId xmlns:a16="http://schemas.microsoft.com/office/drawing/2014/main" id="{59752174-01D0-FA1D-D920-E137001C04ED}"/>
              </a:ext>
            </a:extLst>
          </p:cNvPr>
          <p:cNvPicPr preferRelativeResize="0"/>
          <p:nvPr/>
        </p:nvPicPr>
        <p:blipFill rotWithShape="1">
          <a:blip r:embed="rId3">
            <a:alphaModFix/>
          </a:blip>
          <a:srcRect/>
          <a:stretch/>
        </p:blipFill>
        <p:spPr>
          <a:xfrm>
            <a:off x="3112840" y="1178366"/>
            <a:ext cx="5966320" cy="2434785"/>
          </a:xfrm>
          <a:prstGeom prst="rect">
            <a:avLst/>
          </a:prstGeom>
          <a:noFill/>
          <a:ln>
            <a:noFill/>
          </a:ln>
        </p:spPr>
      </p:pic>
      <p:sp>
        <p:nvSpPr>
          <p:cNvPr id="316" name="Google Shape;316;p31">
            <a:extLst>
              <a:ext uri="{FF2B5EF4-FFF2-40B4-BE49-F238E27FC236}">
                <a16:creationId xmlns:a16="http://schemas.microsoft.com/office/drawing/2014/main" id="{EDC97F36-C95A-1D0B-A636-A5E077FBA36F}"/>
              </a:ext>
            </a:extLst>
          </p:cNvPr>
          <p:cNvSpPr txBox="1">
            <a:spLocks noGrp="1"/>
          </p:cNvSpPr>
          <p:nvPr>
            <p:ph type="title"/>
          </p:nvPr>
        </p:nvSpPr>
        <p:spPr>
          <a:xfrm>
            <a:off x="1981200" y="-27384"/>
            <a:ext cx="8229600" cy="648072"/>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rgbClr val="C00000"/>
              </a:buClr>
              <a:buSzPct val="100000"/>
            </a:pPr>
            <a:r>
              <a:rPr lang="en-US" sz="4900" b="1" dirty="0">
                <a:solidFill>
                  <a:srgbClr val="C00000"/>
                </a:solidFill>
                <a:latin typeface="+mn-lt"/>
              </a:rPr>
              <a:t>Problems</a:t>
            </a:r>
            <a:endParaRPr sz="4000" b="1" dirty="0">
              <a:solidFill>
                <a:srgbClr val="C00000"/>
              </a:solidFill>
              <a:latin typeface="+mn-lt"/>
            </a:endParaRPr>
          </a:p>
        </p:txBody>
      </p:sp>
      <p:sp>
        <p:nvSpPr>
          <p:cNvPr id="317" name="Google Shape;317;p31">
            <a:extLst>
              <a:ext uri="{FF2B5EF4-FFF2-40B4-BE49-F238E27FC236}">
                <a16:creationId xmlns:a16="http://schemas.microsoft.com/office/drawing/2014/main" id="{E3B6A27A-96BE-2EB7-63C6-59BE40FBA62D}"/>
              </a:ext>
            </a:extLst>
          </p:cNvPr>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19</a:t>
            </a:fld>
            <a:endParaRPr/>
          </a:p>
        </p:txBody>
      </p:sp>
    </p:spTree>
    <p:extLst>
      <p:ext uri="{BB962C8B-B14F-4D97-AF65-F5344CB8AC3E}">
        <p14:creationId xmlns:p14="http://schemas.microsoft.com/office/powerpoint/2010/main" val="3543392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1"/>
          <p:cNvSpPr txBox="1">
            <a:spLocks noGrp="1"/>
          </p:cNvSpPr>
          <p:nvPr>
            <p:ph type="body" idx="1"/>
          </p:nvPr>
        </p:nvSpPr>
        <p:spPr>
          <a:xfrm>
            <a:off x="-137651" y="620689"/>
            <a:ext cx="12250994" cy="748679"/>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2000"/>
              <a:buNone/>
            </a:pPr>
            <a:r>
              <a:rPr lang="en-US" sz="2000" b="1" dirty="0">
                <a:latin typeface="Times New Roman"/>
                <a:ea typeface="Times New Roman"/>
                <a:cs typeface="Times New Roman"/>
                <a:sym typeface="Times New Roman"/>
              </a:rPr>
              <a:t>	</a:t>
            </a:r>
            <a:r>
              <a:rPr lang="en-US" sz="2400" b="1" dirty="0">
                <a:latin typeface="Times New Roman"/>
                <a:ea typeface="Times New Roman"/>
                <a:cs typeface="Times New Roman"/>
                <a:sym typeface="Times New Roman"/>
              </a:rPr>
              <a:t>Problem 2</a:t>
            </a:r>
            <a:r>
              <a:rPr lang="en-US" sz="2400" dirty="0">
                <a:latin typeface="Times New Roman"/>
                <a:ea typeface="Times New Roman"/>
                <a:cs typeface="Times New Roman"/>
                <a:sym typeface="Times New Roman"/>
              </a:rPr>
              <a:t>. Determine the value of the current, in amps, measured by the ammeter in Figure a.</a:t>
            </a:r>
            <a:endParaRPr sz="2400" dirty="0"/>
          </a:p>
        </p:txBody>
      </p:sp>
      <p:pic>
        <p:nvPicPr>
          <p:cNvPr id="315" name="Google Shape;315;p31"/>
          <p:cNvPicPr preferRelativeResize="0"/>
          <p:nvPr/>
        </p:nvPicPr>
        <p:blipFill rotWithShape="1">
          <a:blip r:embed="rId3">
            <a:alphaModFix/>
          </a:blip>
          <a:srcRect/>
          <a:stretch/>
        </p:blipFill>
        <p:spPr>
          <a:xfrm>
            <a:off x="3112840" y="1178366"/>
            <a:ext cx="5966320" cy="2434785"/>
          </a:xfrm>
          <a:prstGeom prst="rect">
            <a:avLst/>
          </a:prstGeom>
          <a:noFill/>
          <a:ln>
            <a:noFill/>
          </a:ln>
        </p:spPr>
      </p:pic>
      <p:sp>
        <p:nvSpPr>
          <p:cNvPr id="316" name="Google Shape;316;p31"/>
          <p:cNvSpPr txBox="1">
            <a:spLocks noGrp="1"/>
          </p:cNvSpPr>
          <p:nvPr>
            <p:ph type="title"/>
          </p:nvPr>
        </p:nvSpPr>
        <p:spPr>
          <a:xfrm>
            <a:off x="1981200" y="-27384"/>
            <a:ext cx="8229600" cy="648072"/>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rgbClr val="C00000"/>
              </a:buClr>
              <a:buSzPct val="100000"/>
            </a:pPr>
            <a:r>
              <a:rPr lang="en-US" sz="4900" b="1" dirty="0">
                <a:solidFill>
                  <a:srgbClr val="C00000"/>
                </a:solidFill>
                <a:latin typeface="+mn-lt"/>
              </a:rPr>
              <a:t>Problems</a:t>
            </a:r>
            <a:endParaRPr sz="4000" b="1" dirty="0">
              <a:solidFill>
                <a:srgbClr val="C00000"/>
              </a:solidFill>
              <a:latin typeface="+mn-lt"/>
            </a:endParaRPr>
          </a:p>
        </p:txBody>
      </p:sp>
      <p:sp>
        <p:nvSpPr>
          <p:cNvPr id="317" name="Google Shape;317;p31"/>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20</a:t>
            </a:fld>
            <a:endParaRPr/>
          </a:p>
        </p:txBody>
      </p:sp>
      <p:sp>
        <p:nvSpPr>
          <p:cNvPr id="322" name="Google Shape;322;p32"/>
          <p:cNvSpPr txBox="1">
            <a:spLocks/>
          </p:cNvSpPr>
          <p:nvPr/>
        </p:nvSpPr>
        <p:spPr>
          <a:xfrm>
            <a:off x="211393" y="3613151"/>
            <a:ext cx="11901950" cy="1828800"/>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spcBef>
                <a:spcPts val="0"/>
              </a:spcBef>
              <a:buClr>
                <a:schemeClr val="dk1"/>
              </a:buClr>
              <a:buSzPts val="2000"/>
              <a:buFont typeface="Arial" panose="020B0604020202020204" pitchFamily="34" charset="0"/>
              <a:buNone/>
            </a:pPr>
            <a:r>
              <a:rPr lang="en-US" sz="2400" dirty="0">
                <a:solidFill>
                  <a:srgbClr val="7030A0"/>
                </a:solidFill>
                <a:latin typeface="Times New Roman" panose="02020603050405020304" pitchFamily="18" charset="0"/>
                <a:ea typeface="Times New Roman"/>
                <a:cs typeface="Times New Roman" panose="02020603050405020304" pitchFamily="18" charset="0"/>
                <a:sym typeface="Times New Roman"/>
              </a:rPr>
              <a:t>Solution: </a:t>
            </a:r>
            <a:endParaRPr lang="en-US" sz="2400" dirty="0">
              <a:solidFill>
                <a:srgbClr val="7030A0"/>
              </a:solidFill>
              <a:latin typeface="Times New Roman" panose="02020603050405020304" pitchFamily="18" charset="0"/>
              <a:cs typeface="Times New Roman" panose="02020603050405020304" pitchFamily="18" charset="0"/>
            </a:endParaRPr>
          </a:p>
          <a:p>
            <a:pPr marL="342900" indent="-342900" algn="just">
              <a:spcBef>
                <a:spcPts val="400"/>
              </a:spcBef>
              <a:buClr>
                <a:schemeClr val="dk1"/>
              </a:buClr>
              <a:buSzPts val="2000"/>
              <a:buFont typeface="Arial" panose="020B0604020202020204" pitchFamily="34" charset="0"/>
              <a:buNone/>
            </a:pPr>
            <a:r>
              <a:rPr lang="en-US" sz="2400" dirty="0">
                <a:latin typeface="Times New Roman" panose="02020603050405020304" pitchFamily="18" charset="0"/>
                <a:ea typeface="Times New Roman"/>
                <a:cs typeface="Times New Roman" panose="02020603050405020304" pitchFamily="18" charset="0"/>
                <a:sym typeface="Times New Roman"/>
              </a:rPr>
              <a:t>     An ideal ammeter is equivalent to a short circuit. The current measured by the ammeter is the current in the </a:t>
            </a:r>
            <a:r>
              <a:rPr lang="en-US" sz="2400" b="1" dirty="0">
                <a:latin typeface="Times New Roman" panose="02020603050405020304" pitchFamily="18" charset="0"/>
                <a:ea typeface="Times New Roman"/>
                <a:cs typeface="Times New Roman" panose="02020603050405020304" pitchFamily="18" charset="0"/>
                <a:sym typeface="Times New Roman"/>
              </a:rPr>
              <a:t>short circuit</a:t>
            </a:r>
            <a:r>
              <a:rPr lang="en-US" sz="2400" dirty="0">
                <a:latin typeface="Times New Roman" panose="02020603050405020304" pitchFamily="18" charset="0"/>
                <a:ea typeface="Times New Roman"/>
                <a:cs typeface="Times New Roman" panose="02020603050405020304" pitchFamily="18" charset="0"/>
                <a:sym typeface="Times New Roman"/>
              </a:rPr>
              <a:t>. </a:t>
            </a:r>
            <a:endParaRPr lang="en-US" sz="2400" dirty="0">
              <a:latin typeface="Times New Roman" panose="02020603050405020304" pitchFamily="18" charset="0"/>
              <a:cs typeface="Times New Roman" panose="02020603050405020304" pitchFamily="18" charset="0"/>
            </a:endParaRPr>
          </a:p>
          <a:p>
            <a:pPr marL="342900" indent="-342900" algn="just">
              <a:spcBef>
                <a:spcPts val="400"/>
              </a:spcBef>
              <a:buClr>
                <a:schemeClr val="dk1"/>
              </a:buClr>
              <a:buSzPts val="2000"/>
              <a:buFont typeface="Arial" panose="020B0604020202020204" pitchFamily="34" charset="0"/>
              <a:buNone/>
            </a:pPr>
            <a:r>
              <a:rPr lang="en-US" sz="2400" dirty="0">
                <a:latin typeface="Times New Roman" panose="02020603050405020304" pitchFamily="18" charset="0"/>
                <a:ea typeface="Times New Roman"/>
                <a:cs typeface="Times New Roman" panose="02020603050405020304" pitchFamily="18" charset="0"/>
                <a:sym typeface="Times New Roman"/>
              </a:rPr>
              <a:t>     Figure b shows the circuit after replacing the ammeter with the equivalent short circuit. </a:t>
            </a:r>
            <a:endParaRPr lang="en-US" sz="2400" dirty="0">
              <a:latin typeface="Times New Roman" panose="02020603050405020304" pitchFamily="18" charset="0"/>
              <a:cs typeface="Times New Roman" panose="02020603050405020304" pitchFamily="18" charset="0"/>
            </a:endParaRPr>
          </a:p>
        </p:txBody>
      </p:sp>
      <p:pic>
        <p:nvPicPr>
          <p:cNvPr id="324" name="Google Shape;324;p32"/>
          <p:cNvPicPr preferRelativeResize="0"/>
          <p:nvPr/>
        </p:nvPicPr>
        <p:blipFill rotWithShape="1">
          <a:blip r:embed="rId4">
            <a:alphaModFix/>
          </a:blip>
          <a:srcRect/>
          <a:stretch/>
        </p:blipFill>
        <p:spPr>
          <a:xfrm>
            <a:off x="4262876" y="5121236"/>
            <a:ext cx="3449940" cy="16002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3"/>
          <p:cNvSpPr txBox="1">
            <a:spLocks noGrp="1"/>
          </p:cNvSpPr>
          <p:nvPr>
            <p:ph type="body" idx="1"/>
          </p:nvPr>
        </p:nvSpPr>
        <p:spPr>
          <a:xfrm>
            <a:off x="196644" y="639097"/>
            <a:ext cx="11779045" cy="6289369"/>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1800"/>
              <a:buNone/>
            </a:pPr>
            <a:r>
              <a:rPr lang="en-US" sz="1800" dirty="0">
                <a:latin typeface="Times New Roman"/>
                <a:ea typeface="Times New Roman"/>
                <a:cs typeface="Times New Roman"/>
                <a:sym typeface="Times New Roman"/>
              </a:rPr>
              <a:t>     </a:t>
            </a:r>
            <a:r>
              <a:rPr lang="en-US" sz="2400" dirty="0">
                <a:solidFill>
                  <a:srgbClr val="7030A0"/>
                </a:solidFill>
                <a:latin typeface="Times New Roman" panose="02020603050405020304" pitchFamily="18" charset="0"/>
                <a:ea typeface="Times New Roman"/>
                <a:cs typeface="Times New Roman" panose="02020603050405020304" pitchFamily="18" charset="0"/>
                <a:sym typeface="Times New Roman"/>
              </a:rPr>
              <a:t>Solution </a:t>
            </a:r>
            <a:r>
              <a:rPr lang="en-US" sz="2400" dirty="0">
                <a:latin typeface="Times New Roman" panose="02020603050405020304" pitchFamily="18" charset="0"/>
                <a:ea typeface="Times New Roman"/>
                <a:cs typeface="Times New Roman" panose="02020603050405020304" pitchFamily="18" charset="0"/>
                <a:sym typeface="Times New Roman"/>
              </a:rPr>
              <a:t>…</a:t>
            </a:r>
            <a:endParaRPr sz="24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buNone/>
            </a:pPr>
            <a:r>
              <a:rPr lang="en-US" sz="2400" dirty="0">
                <a:latin typeface="Times New Roman" panose="02020603050405020304" pitchFamily="18" charset="0"/>
                <a:ea typeface="Times New Roman"/>
                <a:cs typeface="Times New Roman" panose="02020603050405020304" pitchFamily="18" charset="0"/>
                <a:sym typeface="Times New Roman"/>
              </a:rPr>
              <a:t>	The circuit has been redrawn in the Figure to label the nodes of the circuit. This circuit consists of a voltage source, a dependent current source, two resistors, and two short circuits. One of the short circuits is the controlling element of the CCCS, and the other short circuit is a model of the ammeter.</a:t>
            </a:r>
            <a:endParaRPr sz="24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360"/>
              </a:spcBef>
              <a:buClr>
                <a:schemeClr val="dk1"/>
              </a:buClr>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360"/>
              </a:spcBef>
              <a:buClr>
                <a:schemeClr val="dk1"/>
              </a:buClr>
              <a:buSzPts val="1800"/>
              <a:buNone/>
            </a:pPr>
            <a:r>
              <a:rPr lang="en-US" sz="2400" dirty="0">
                <a:latin typeface="Times New Roman" panose="02020603050405020304" pitchFamily="18" charset="0"/>
                <a:ea typeface="Times New Roman"/>
                <a:cs typeface="Times New Roman" panose="02020603050405020304" pitchFamily="18" charset="0"/>
                <a:sym typeface="Times New Roman"/>
              </a:rPr>
              <a:t>     </a:t>
            </a:r>
            <a:endParaRPr sz="2400" dirty="0">
              <a:latin typeface="Times New Roman" panose="02020603050405020304" pitchFamily="18" charset="0"/>
              <a:cs typeface="Times New Roman" panose="02020603050405020304" pitchFamily="18" charset="0"/>
            </a:endParaRPr>
          </a:p>
        </p:txBody>
      </p:sp>
      <p:pic>
        <p:nvPicPr>
          <p:cNvPr id="331" name="Google Shape;331;p33"/>
          <p:cNvPicPr preferRelativeResize="0"/>
          <p:nvPr/>
        </p:nvPicPr>
        <p:blipFill rotWithShape="1">
          <a:blip r:embed="rId3">
            <a:alphaModFix/>
          </a:blip>
          <a:srcRect/>
          <a:stretch/>
        </p:blipFill>
        <p:spPr>
          <a:xfrm>
            <a:off x="3491994" y="2587920"/>
            <a:ext cx="5208011" cy="2391722"/>
          </a:xfrm>
          <a:prstGeom prst="rect">
            <a:avLst/>
          </a:prstGeom>
          <a:noFill/>
          <a:ln>
            <a:noFill/>
          </a:ln>
        </p:spPr>
      </p:pic>
      <p:sp>
        <p:nvSpPr>
          <p:cNvPr id="332" name="Google Shape;332;p33"/>
          <p:cNvSpPr txBox="1">
            <a:spLocks noGrp="1"/>
          </p:cNvSpPr>
          <p:nvPr>
            <p:ph type="title"/>
          </p:nvPr>
        </p:nvSpPr>
        <p:spPr>
          <a:xfrm>
            <a:off x="1919536" y="-223516"/>
            <a:ext cx="8229600" cy="1204244"/>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Problems…</a:t>
            </a:r>
            <a:endParaRPr b="1" dirty="0">
              <a:solidFill>
                <a:srgbClr val="C00000"/>
              </a:solidFill>
              <a:latin typeface="+mn-lt"/>
            </a:endParaRPr>
          </a:p>
        </p:txBody>
      </p:sp>
      <p:sp>
        <p:nvSpPr>
          <p:cNvPr id="333" name="Google Shape;333;p33"/>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21</a:t>
            </a:fld>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4"/>
          <p:cNvSpPr txBox="1">
            <a:spLocks noGrp="1"/>
          </p:cNvSpPr>
          <p:nvPr>
            <p:ph type="body" idx="1"/>
          </p:nvPr>
        </p:nvSpPr>
        <p:spPr>
          <a:xfrm>
            <a:off x="511277" y="919262"/>
            <a:ext cx="11454581"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2000"/>
              <a:buNone/>
            </a:pPr>
            <a:r>
              <a:rPr lang="en-US" sz="2400" dirty="0">
                <a:latin typeface="Times New Roman" panose="02020603050405020304" pitchFamily="18" charset="0"/>
                <a:ea typeface="Times New Roman"/>
                <a:cs typeface="Times New Roman" panose="02020603050405020304" pitchFamily="18" charset="0"/>
                <a:sym typeface="Times New Roman"/>
              </a:rPr>
              <a:t>Solution … </a:t>
            </a:r>
            <a:endParaRPr sz="2400" dirty="0">
              <a:latin typeface="Times New Roman" panose="02020603050405020304" pitchFamily="18" charset="0"/>
              <a:cs typeface="Times New Roman" panose="02020603050405020304" pitchFamily="18" charset="0"/>
            </a:endParaRPr>
          </a:p>
          <a:p>
            <a:pPr marL="342900" indent="-342900">
              <a:spcBef>
                <a:spcPts val="400"/>
              </a:spcBef>
              <a:buClr>
                <a:schemeClr val="dk1"/>
              </a:buClr>
              <a:buSzPts val="2000"/>
              <a:buNone/>
            </a:pPr>
            <a:r>
              <a:rPr lang="en-US" sz="2400" dirty="0">
                <a:latin typeface="Times New Roman" panose="02020603050405020304" pitchFamily="18" charset="0"/>
                <a:ea typeface="Times New Roman"/>
                <a:cs typeface="Times New Roman" panose="02020603050405020304" pitchFamily="18" charset="0"/>
                <a:sym typeface="Times New Roman"/>
              </a:rPr>
              <a:t>	Next, Ohm’s law tells us that the voltage across the 4Ω resistor is equal to 4i</a:t>
            </a:r>
            <a:r>
              <a:rPr lang="en-US" sz="2400" baseline="-25000" dirty="0">
                <a:latin typeface="Times New Roman" panose="02020603050405020304" pitchFamily="18" charset="0"/>
                <a:ea typeface="Times New Roman"/>
                <a:cs typeface="Times New Roman" panose="02020603050405020304" pitchFamily="18" charset="0"/>
                <a:sym typeface="Times New Roman"/>
              </a:rPr>
              <a:t>a</a:t>
            </a:r>
            <a:r>
              <a:rPr lang="en-US" sz="2400" dirty="0">
                <a:latin typeface="Times New Roman" panose="02020603050405020304" pitchFamily="18" charset="0"/>
                <a:ea typeface="Times New Roman"/>
                <a:cs typeface="Times New Roman" panose="02020603050405020304" pitchFamily="18" charset="0"/>
                <a:sym typeface="Times New Roman"/>
              </a:rPr>
              <a:t> and that the voltage across the 2Ω resistor is equal to 2i</a:t>
            </a:r>
            <a:r>
              <a:rPr lang="en-US" sz="2400" baseline="-25000" dirty="0">
                <a:latin typeface="Times New Roman" panose="02020603050405020304" pitchFamily="18" charset="0"/>
                <a:ea typeface="Times New Roman"/>
                <a:cs typeface="Times New Roman" panose="02020603050405020304" pitchFamily="18" charset="0"/>
                <a:sym typeface="Times New Roman"/>
              </a:rPr>
              <a:t>m</a:t>
            </a:r>
            <a:r>
              <a:rPr lang="en-US" sz="2400" dirty="0">
                <a:latin typeface="Times New Roman" panose="02020603050405020304" pitchFamily="18" charset="0"/>
                <a:ea typeface="Times New Roman"/>
                <a:cs typeface="Times New Roman" panose="02020603050405020304" pitchFamily="18" charset="0"/>
                <a:sym typeface="Times New Roman"/>
              </a:rPr>
              <a:t>.</a:t>
            </a:r>
            <a:endParaRPr sz="2400" dirty="0">
              <a:latin typeface="Times New Roman" panose="02020603050405020304" pitchFamily="18" charset="0"/>
              <a:cs typeface="Times New Roman" panose="02020603050405020304" pitchFamily="18" charset="0"/>
            </a:endParaRPr>
          </a:p>
          <a:p>
            <a:pPr marL="342900" indent="-342900">
              <a:spcBef>
                <a:spcPts val="400"/>
              </a:spcBef>
              <a:buClr>
                <a:schemeClr val="dk1"/>
              </a:buClr>
              <a:buSzPts val="2000"/>
              <a:buNone/>
            </a:pPr>
            <a:r>
              <a:rPr lang="en-US" sz="2400" dirty="0">
                <a:latin typeface="Times New Roman" panose="02020603050405020304" pitchFamily="18" charset="0"/>
                <a:ea typeface="Times New Roman"/>
                <a:cs typeface="Times New Roman" panose="02020603050405020304" pitchFamily="18" charset="0"/>
                <a:sym typeface="Times New Roman"/>
              </a:rPr>
              <a:t>      Applying </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KCL at node b </a:t>
            </a:r>
            <a:r>
              <a:rPr lang="en-US" sz="2400" dirty="0">
                <a:latin typeface="Times New Roman" panose="02020603050405020304" pitchFamily="18" charset="0"/>
                <a:ea typeface="Times New Roman"/>
                <a:cs typeface="Times New Roman" panose="02020603050405020304" pitchFamily="18" charset="0"/>
                <a:sym typeface="Times New Roman"/>
              </a:rPr>
              <a:t>gives</a:t>
            </a:r>
            <a:endParaRPr sz="2400" dirty="0">
              <a:latin typeface="Times New Roman" panose="02020603050405020304" pitchFamily="18" charset="0"/>
              <a:cs typeface="Times New Roman" panose="02020603050405020304" pitchFamily="18" charset="0"/>
            </a:endParaRPr>
          </a:p>
          <a:p>
            <a:pPr marL="342900" indent="-342900">
              <a:spcBef>
                <a:spcPts val="400"/>
              </a:spcBef>
              <a:buClr>
                <a:schemeClr val="dk1"/>
              </a:buClr>
              <a:buSzPts val="2000"/>
              <a:buNone/>
            </a:pPr>
            <a:r>
              <a:rPr lang="en-US" sz="2400" dirty="0">
                <a:latin typeface="Times New Roman" panose="02020603050405020304" pitchFamily="18" charset="0"/>
                <a:ea typeface="Times New Roman"/>
                <a:cs typeface="Times New Roman" panose="02020603050405020304" pitchFamily="18" charset="0"/>
                <a:sym typeface="Times New Roman"/>
              </a:rPr>
              <a:t>     				 - </a:t>
            </a:r>
            <a:r>
              <a:rPr lang="en-US" sz="2400" dirty="0" err="1">
                <a:latin typeface="Times New Roman" panose="02020603050405020304" pitchFamily="18" charset="0"/>
                <a:ea typeface="Times New Roman"/>
                <a:cs typeface="Times New Roman" panose="02020603050405020304" pitchFamily="18" charset="0"/>
                <a:sym typeface="Times New Roman"/>
              </a:rPr>
              <a:t>i</a:t>
            </a:r>
            <a:r>
              <a:rPr lang="en-US" sz="2400" baseline="-25000" dirty="0" err="1">
                <a:latin typeface="Times New Roman" panose="02020603050405020304" pitchFamily="18" charset="0"/>
                <a:ea typeface="Times New Roman"/>
                <a:cs typeface="Times New Roman" panose="02020603050405020304" pitchFamily="18" charset="0"/>
                <a:sym typeface="Times New Roman"/>
              </a:rPr>
              <a:t>a</a:t>
            </a:r>
            <a:r>
              <a:rPr lang="en-US" sz="2400" dirty="0">
                <a:latin typeface="Times New Roman" panose="02020603050405020304" pitchFamily="18" charset="0"/>
                <a:ea typeface="Times New Roman"/>
                <a:cs typeface="Times New Roman" panose="02020603050405020304" pitchFamily="18" charset="0"/>
                <a:sym typeface="Times New Roman"/>
              </a:rPr>
              <a:t> - 3i</a:t>
            </a:r>
            <a:r>
              <a:rPr lang="en-US" sz="2400" baseline="-25000" dirty="0">
                <a:latin typeface="Times New Roman" panose="02020603050405020304" pitchFamily="18" charset="0"/>
                <a:ea typeface="Times New Roman"/>
                <a:cs typeface="Times New Roman" panose="02020603050405020304" pitchFamily="18" charset="0"/>
                <a:sym typeface="Times New Roman"/>
              </a:rPr>
              <a:t>a</a:t>
            </a:r>
            <a:r>
              <a:rPr lang="en-US" sz="2400" dirty="0">
                <a:latin typeface="Times New Roman" panose="02020603050405020304" pitchFamily="18" charset="0"/>
                <a:ea typeface="Times New Roman"/>
                <a:cs typeface="Times New Roman" panose="02020603050405020304" pitchFamily="18" charset="0"/>
                <a:sym typeface="Times New Roman"/>
              </a:rPr>
              <a:t> - </a:t>
            </a:r>
            <a:r>
              <a:rPr lang="en-US" sz="2400" dirty="0" err="1">
                <a:latin typeface="Times New Roman" panose="02020603050405020304" pitchFamily="18" charset="0"/>
                <a:ea typeface="Times New Roman"/>
                <a:cs typeface="Times New Roman" panose="02020603050405020304" pitchFamily="18" charset="0"/>
                <a:sym typeface="Times New Roman"/>
              </a:rPr>
              <a:t>i</a:t>
            </a:r>
            <a:r>
              <a:rPr lang="en-US" sz="2400" baseline="-25000" dirty="0" err="1">
                <a:latin typeface="Times New Roman" panose="02020603050405020304" pitchFamily="18" charset="0"/>
                <a:ea typeface="Times New Roman"/>
                <a:cs typeface="Times New Roman" panose="02020603050405020304" pitchFamily="18" charset="0"/>
                <a:sym typeface="Times New Roman"/>
              </a:rPr>
              <a:t>m</a:t>
            </a:r>
            <a:r>
              <a:rPr lang="en-US" sz="2400" dirty="0">
                <a:latin typeface="Times New Roman" panose="02020603050405020304" pitchFamily="18" charset="0"/>
                <a:ea typeface="Times New Roman"/>
                <a:cs typeface="Times New Roman" panose="02020603050405020304" pitchFamily="18" charset="0"/>
                <a:sym typeface="Times New Roman"/>
              </a:rPr>
              <a:t> = 0, - 4i</a:t>
            </a:r>
            <a:r>
              <a:rPr lang="en-US" sz="2400" baseline="-25000" dirty="0">
                <a:latin typeface="Times New Roman" panose="02020603050405020304" pitchFamily="18" charset="0"/>
                <a:ea typeface="Times New Roman"/>
                <a:cs typeface="Times New Roman" panose="02020603050405020304" pitchFamily="18" charset="0"/>
                <a:sym typeface="Times New Roman"/>
              </a:rPr>
              <a:t>a </a:t>
            </a:r>
            <a:r>
              <a:rPr lang="en-US" sz="2400" dirty="0">
                <a:latin typeface="Times New Roman" panose="02020603050405020304" pitchFamily="18" charset="0"/>
                <a:ea typeface="Times New Roman"/>
                <a:cs typeface="Times New Roman" panose="02020603050405020304" pitchFamily="18" charset="0"/>
                <a:sym typeface="Times New Roman"/>
              </a:rPr>
              <a:t>= </a:t>
            </a:r>
            <a:r>
              <a:rPr lang="en-US" sz="2400" dirty="0" err="1">
                <a:latin typeface="Times New Roman" panose="02020603050405020304" pitchFamily="18" charset="0"/>
                <a:ea typeface="Times New Roman"/>
                <a:cs typeface="Times New Roman" panose="02020603050405020304" pitchFamily="18" charset="0"/>
                <a:sym typeface="Times New Roman"/>
              </a:rPr>
              <a:t>i</a:t>
            </a:r>
            <a:r>
              <a:rPr lang="en-US" sz="2400" baseline="-25000" dirty="0" err="1">
                <a:latin typeface="Times New Roman" panose="02020603050405020304" pitchFamily="18" charset="0"/>
                <a:ea typeface="Times New Roman"/>
                <a:cs typeface="Times New Roman" panose="02020603050405020304" pitchFamily="18" charset="0"/>
                <a:sym typeface="Times New Roman"/>
              </a:rPr>
              <a:t>m</a:t>
            </a:r>
            <a:r>
              <a:rPr lang="en-US" sz="2400" dirty="0">
                <a:latin typeface="Times New Roman" panose="02020603050405020304" pitchFamily="18" charset="0"/>
                <a:ea typeface="Times New Roman"/>
                <a:cs typeface="Times New Roman" panose="02020603050405020304" pitchFamily="18" charset="0"/>
                <a:sym typeface="Times New Roman"/>
              </a:rPr>
              <a:t> , </a:t>
            </a:r>
            <a:r>
              <a:rPr lang="en-US" sz="2400" dirty="0" err="1">
                <a:latin typeface="Times New Roman" panose="02020603050405020304" pitchFamily="18" charset="0"/>
                <a:ea typeface="Times New Roman"/>
                <a:cs typeface="Times New Roman" panose="02020603050405020304" pitchFamily="18" charset="0"/>
                <a:sym typeface="Times New Roman"/>
              </a:rPr>
              <a:t>i</a:t>
            </a:r>
            <a:r>
              <a:rPr lang="en-US" sz="2400" baseline="-25000" dirty="0" err="1">
                <a:latin typeface="Times New Roman" panose="02020603050405020304" pitchFamily="18" charset="0"/>
                <a:ea typeface="Times New Roman"/>
                <a:cs typeface="Times New Roman" panose="02020603050405020304" pitchFamily="18" charset="0"/>
                <a:sym typeface="Times New Roman"/>
              </a:rPr>
              <a:t>a</a:t>
            </a:r>
            <a:r>
              <a:rPr lang="en-US" sz="2400" dirty="0">
                <a:latin typeface="Times New Roman" panose="02020603050405020304" pitchFamily="18" charset="0"/>
                <a:ea typeface="Times New Roman"/>
                <a:cs typeface="Times New Roman" panose="02020603050405020304" pitchFamily="18" charset="0"/>
                <a:sym typeface="Times New Roman"/>
              </a:rPr>
              <a:t> = </a:t>
            </a:r>
            <a:r>
              <a:rPr lang="en-US" sz="2400" dirty="0" err="1">
                <a:latin typeface="Times New Roman" panose="02020603050405020304" pitchFamily="18" charset="0"/>
                <a:ea typeface="Times New Roman"/>
                <a:cs typeface="Times New Roman" panose="02020603050405020304" pitchFamily="18" charset="0"/>
                <a:sym typeface="Times New Roman"/>
              </a:rPr>
              <a:t>i</a:t>
            </a:r>
            <a:r>
              <a:rPr lang="en-US" sz="2400" baseline="-25000" dirty="0" err="1">
                <a:latin typeface="Times New Roman" panose="02020603050405020304" pitchFamily="18" charset="0"/>
                <a:ea typeface="Times New Roman"/>
                <a:cs typeface="Times New Roman" panose="02020603050405020304" pitchFamily="18" charset="0"/>
                <a:sym typeface="Times New Roman"/>
              </a:rPr>
              <a:t>m</a:t>
            </a:r>
            <a:r>
              <a:rPr lang="en-US" sz="2400" dirty="0">
                <a:latin typeface="Times New Roman" panose="02020603050405020304" pitchFamily="18" charset="0"/>
                <a:ea typeface="Times New Roman"/>
                <a:cs typeface="Times New Roman" panose="02020603050405020304" pitchFamily="18" charset="0"/>
                <a:sym typeface="Times New Roman"/>
              </a:rPr>
              <a:t> /4</a:t>
            </a:r>
            <a:r>
              <a:rPr lang="en-US" sz="2400" baseline="-25000" dirty="0">
                <a:latin typeface="Times New Roman" panose="02020603050405020304" pitchFamily="18" charset="0"/>
                <a:cs typeface="Times New Roman" panose="02020603050405020304" pitchFamily="18" charset="0"/>
                <a:sym typeface="Times New Roman"/>
              </a:rPr>
              <a:t>      </a:t>
            </a:r>
            <a:r>
              <a:rPr lang="en-US" sz="2400" dirty="0">
                <a:latin typeface="Times New Roman" panose="02020603050405020304" pitchFamily="18" charset="0"/>
                <a:ea typeface="Times New Roman"/>
                <a:cs typeface="Times New Roman" panose="02020603050405020304" pitchFamily="18" charset="0"/>
                <a:sym typeface="Times New Roman"/>
              </a:rPr>
              <a:t>     </a:t>
            </a:r>
            <a:endParaRPr sz="2400" dirty="0">
              <a:latin typeface="Times New Roman" panose="02020603050405020304" pitchFamily="18" charset="0"/>
              <a:cs typeface="Times New Roman" panose="02020603050405020304" pitchFamily="18" charset="0"/>
            </a:endParaRPr>
          </a:p>
          <a:p>
            <a:pPr marL="342900" indent="-342900">
              <a:spcBef>
                <a:spcPts val="400"/>
              </a:spcBef>
              <a:buClr>
                <a:schemeClr val="dk1"/>
              </a:buClr>
              <a:buSzPts val="2000"/>
              <a:buNone/>
            </a:pPr>
            <a:r>
              <a:rPr lang="en-US" sz="2400" dirty="0">
                <a:latin typeface="Times New Roman" panose="02020603050405020304" pitchFamily="18" charset="0"/>
                <a:ea typeface="Times New Roman"/>
                <a:cs typeface="Times New Roman" panose="02020603050405020304" pitchFamily="18" charset="0"/>
                <a:sym typeface="Times New Roman"/>
              </a:rPr>
              <a:t>Applying </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KVL to closed path a-d-e-c-b-a </a:t>
            </a:r>
            <a:r>
              <a:rPr lang="en-US" sz="2400" dirty="0">
                <a:latin typeface="Times New Roman" panose="02020603050405020304" pitchFamily="18" charset="0"/>
                <a:ea typeface="Times New Roman"/>
                <a:cs typeface="Times New Roman" panose="02020603050405020304" pitchFamily="18" charset="0"/>
                <a:sym typeface="Times New Roman"/>
              </a:rPr>
              <a:t>gives </a:t>
            </a:r>
            <a:endParaRPr sz="2400" dirty="0">
              <a:latin typeface="Times New Roman" panose="02020603050405020304" pitchFamily="18" charset="0"/>
              <a:cs typeface="Times New Roman" panose="02020603050405020304" pitchFamily="18" charset="0"/>
            </a:endParaRPr>
          </a:p>
          <a:p>
            <a:pPr marL="342900" indent="-342900">
              <a:spcBef>
                <a:spcPts val="400"/>
              </a:spcBef>
              <a:buClr>
                <a:schemeClr val="dk1"/>
              </a:buClr>
              <a:buSzPts val="2000"/>
              <a:buNone/>
            </a:pPr>
            <a:r>
              <a:rPr lang="en-US" sz="2400" dirty="0">
                <a:latin typeface="Times New Roman" panose="02020603050405020304" pitchFamily="18" charset="0"/>
                <a:ea typeface="Times New Roman"/>
                <a:cs typeface="Times New Roman" panose="02020603050405020304" pitchFamily="18" charset="0"/>
                <a:sym typeface="Times New Roman"/>
              </a:rPr>
              <a:t>      		0 = - 4i</a:t>
            </a:r>
            <a:r>
              <a:rPr lang="en-US" sz="2400" baseline="-25000" dirty="0">
                <a:latin typeface="Times New Roman" panose="02020603050405020304" pitchFamily="18" charset="0"/>
                <a:ea typeface="Times New Roman"/>
                <a:cs typeface="Times New Roman" panose="02020603050405020304" pitchFamily="18" charset="0"/>
                <a:sym typeface="Times New Roman"/>
              </a:rPr>
              <a:t>a</a:t>
            </a:r>
            <a:r>
              <a:rPr lang="en-US" sz="2400" dirty="0">
                <a:latin typeface="Times New Roman" panose="02020603050405020304" pitchFamily="18" charset="0"/>
                <a:ea typeface="Times New Roman"/>
                <a:cs typeface="Times New Roman" panose="02020603050405020304" pitchFamily="18" charset="0"/>
                <a:sym typeface="Times New Roman"/>
              </a:rPr>
              <a:t> + 2i</a:t>
            </a:r>
            <a:r>
              <a:rPr lang="en-US" sz="2400" baseline="-25000" dirty="0">
                <a:latin typeface="Times New Roman" panose="02020603050405020304" pitchFamily="18" charset="0"/>
                <a:ea typeface="Times New Roman"/>
                <a:cs typeface="Times New Roman" panose="02020603050405020304" pitchFamily="18" charset="0"/>
                <a:sym typeface="Times New Roman"/>
              </a:rPr>
              <a:t>m</a:t>
            </a:r>
            <a:r>
              <a:rPr lang="en-US" sz="2400" dirty="0">
                <a:latin typeface="Times New Roman" panose="02020603050405020304" pitchFamily="18" charset="0"/>
                <a:ea typeface="Times New Roman"/>
                <a:cs typeface="Times New Roman" panose="02020603050405020304" pitchFamily="18" charset="0"/>
                <a:sym typeface="Times New Roman"/>
              </a:rPr>
              <a:t> -12 = -4(- </a:t>
            </a:r>
            <a:r>
              <a:rPr lang="en-US" sz="2400" dirty="0" err="1">
                <a:latin typeface="Times New Roman" panose="02020603050405020304" pitchFamily="18" charset="0"/>
                <a:ea typeface="Times New Roman"/>
                <a:cs typeface="Times New Roman" panose="02020603050405020304" pitchFamily="18" charset="0"/>
                <a:sym typeface="Times New Roman"/>
              </a:rPr>
              <a:t>i</a:t>
            </a:r>
            <a:r>
              <a:rPr lang="en-US" sz="2400" baseline="-25000" dirty="0" err="1">
                <a:latin typeface="Times New Roman" panose="02020603050405020304" pitchFamily="18" charset="0"/>
                <a:ea typeface="Times New Roman"/>
                <a:cs typeface="Times New Roman" panose="02020603050405020304" pitchFamily="18" charset="0"/>
                <a:sym typeface="Times New Roman"/>
              </a:rPr>
              <a:t>m</a:t>
            </a:r>
            <a:r>
              <a:rPr lang="en-US" sz="2400" dirty="0">
                <a:latin typeface="Times New Roman" panose="02020603050405020304" pitchFamily="18" charset="0"/>
                <a:ea typeface="Times New Roman"/>
                <a:cs typeface="Times New Roman" panose="02020603050405020304" pitchFamily="18" charset="0"/>
                <a:sym typeface="Times New Roman"/>
              </a:rPr>
              <a:t> /4) + 2i</a:t>
            </a:r>
            <a:r>
              <a:rPr lang="en-US" sz="2400" baseline="-25000" dirty="0">
                <a:latin typeface="Times New Roman" panose="02020603050405020304" pitchFamily="18" charset="0"/>
                <a:ea typeface="Times New Roman"/>
                <a:cs typeface="Times New Roman" panose="02020603050405020304" pitchFamily="18" charset="0"/>
                <a:sym typeface="Times New Roman"/>
              </a:rPr>
              <a:t>m</a:t>
            </a:r>
            <a:r>
              <a:rPr lang="en-US" sz="2400" dirty="0">
                <a:latin typeface="Times New Roman" panose="02020603050405020304" pitchFamily="18" charset="0"/>
                <a:ea typeface="Times New Roman"/>
                <a:cs typeface="Times New Roman" panose="02020603050405020304" pitchFamily="18" charset="0"/>
                <a:sym typeface="Times New Roman"/>
              </a:rPr>
              <a:t> - 12 = 3i</a:t>
            </a:r>
            <a:r>
              <a:rPr lang="en-US" sz="2400" baseline="-25000" dirty="0">
                <a:latin typeface="Times New Roman" panose="02020603050405020304" pitchFamily="18" charset="0"/>
                <a:ea typeface="Times New Roman"/>
                <a:cs typeface="Times New Roman" panose="02020603050405020304" pitchFamily="18" charset="0"/>
                <a:sym typeface="Times New Roman"/>
              </a:rPr>
              <a:t>m</a:t>
            </a:r>
            <a:r>
              <a:rPr lang="en-US" sz="2400" dirty="0">
                <a:latin typeface="Times New Roman" panose="02020603050405020304" pitchFamily="18" charset="0"/>
                <a:ea typeface="Times New Roman"/>
                <a:cs typeface="Times New Roman" panose="02020603050405020304" pitchFamily="18" charset="0"/>
                <a:sym typeface="Times New Roman"/>
              </a:rPr>
              <a:t> - 12 </a:t>
            </a:r>
            <a:endParaRPr sz="2400" dirty="0">
              <a:latin typeface="Times New Roman" panose="02020603050405020304" pitchFamily="18" charset="0"/>
              <a:cs typeface="Times New Roman" panose="02020603050405020304" pitchFamily="18" charset="0"/>
            </a:endParaRPr>
          </a:p>
          <a:p>
            <a:pPr marL="342900" indent="-342900">
              <a:spcBef>
                <a:spcPts val="400"/>
              </a:spcBef>
              <a:buClr>
                <a:schemeClr val="dk1"/>
              </a:buClr>
              <a:buSzPts val="2000"/>
              <a:buNone/>
            </a:pPr>
            <a:r>
              <a:rPr lang="en-US" sz="2400" dirty="0">
                <a:latin typeface="Times New Roman" panose="02020603050405020304" pitchFamily="18" charset="0"/>
                <a:ea typeface="Times New Roman"/>
                <a:cs typeface="Times New Roman" panose="02020603050405020304" pitchFamily="18" charset="0"/>
                <a:sym typeface="Times New Roman"/>
              </a:rPr>
              <a:t> </a:t>
            </a:r>
            <a:endParaRPr sz="2400" dirty="0">
              <a:latin typeface="Times New Roman" panose="02020603050405020304" pitchFamily="18" charset="0"/>
              <a:cs typeface="Times New Roman" panose="02020603050405020304" pitchFamily="18" charset="0"/>
            </a:endParaRPr>
          </a:p>
          <a:p>
            <a:pPr marL="342900" indent="-342900">
              <a:spcBef>
                <a:spcPts val="400"/>
              </a:spcBef>
              <a:buClr>
                <a:schemeClr val="dk1"/>
              </a:buClr>
              <a:buSzPts val="2000"/>
              <a:buNone/>
            </a:pPr>
            <a:r>
              <a:rPr lang="en-US" sz="2400" dirty="0">
                <a:latin typeface="Times New Roman" panose="02020603050405020304" pitchFamily="18" charset="0"/>
                <a:ea typeface="Times New Roman"/>
                <a:cs typeface="Times New Roman" panose="02020603050405020304" pitchFamily="18" charset="0"/>
                <a:sym typeface="Times New Roman"/>
              </a:rPr>
              <a:t>Finally, solving this equation gives </a:t>
            </a:r>
            <a:r>
              <a:rPr lang="en-US" sz="2400" dirty="0" err="1">
                <a:solidFill>
                  <a:srgbClr val="C00000"/>
                </a:solidFill>
                <a:latin typeface="Times New Roman" panose="02020603050405020304" pitchFamily="18" charset="0"/>
                <a:ea typeface="Times New Roman"/>
                <a:cs typeface="Times New Roman" panose="02020603050405020304" pitchFamily="18" charset="0"/>
                <a:sym typeface="Times New Roman"/>
              </a:rPr>
              <a:t>i</a:t>
            </a:r>
            <a:r>
              <a:rPr lang="en-US" sz="2400" baseline="-25000" dirty="0" err="1">
                <a:solidFill>
                  <a:srgbClr val="C00000"/>
                </a:solidFill>
                <a:latin typeface="Times New Roman" panose="02020603050405020304" pitchFamily="18" charset="0"/>
                <a:ea typeface="Times New Roman"/>
                <a:cs typeface="Times New Roman" panose="02020603050405020304" pitchFamily="18" charset="0"/>
                <a:sym typeface="Times New Roman"/>
              </a:rPr>
              <a:t>m</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 = 4 A </a:t>
            </a:r>
            <a:endParaRPr sz="2400" dirty="0">
              <a:latin typeface="Times New Roman" panose="02020603050405020304" pitchFamily="18" charset="0"/>
              <a:cs typeface="Times New Roman" panose="02020603050405020304" pitchFamily="18" charset="0"/>
            </a:endParaRPr>
          </a:p>
        </p:txBody>
      </p:sp>
      <p:sp>
        <p:nvSpPr>
          <p:cNvPr id="339" name="Google Shape;339;p34"/>
          <p:cNvSpPr txBox="1">
            <a:spLocks noGrp="1"/>
          </p:cNvSpPr>
          <p:nvPr>
            <p:ph type="title"/>
          </p:nvPr>
        </p:nvSpPr>
        <p:spPr>
          <a:xfrm>
            <a:off x="1981200" y="-387424"/>
            <a:ext cx="8229600" cy="136815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Problems…</a:t>
            </a:r>
            <a:endParaRPr b="1" dirty="0">
              <a:latin typeface="+mn-lt"/>
              <a:ea typeface="Times New Roman"/>
              <a:cs typeface="Times New Roman"/>
              <a:sym typeface="Times New Roman"/>
            </a:endParaRPr>
          </a:p>
        </p:txBody>
      </p:sp>
      <p:pic>
        <p:nvPicPr>
          <p:cNvPr id="340" name="Google Shape;340;p34"/>
          <p:cNvPicPr preferRelativeResize="0"/>
          <p:nvPr/>
        </p:nvPicPr>
        <p:blipFill rotWithShape="1">
          <a:blip r:embed="rId3">
            <a:alphaModFix/>
          </a:blip>
          <a:srcRect/>
          <a:stretch/>
        </p:blipFill>
        <p:spPr>
          <a:xfrm>
            <a:off x="6580780" y="3967778"/>
            <a:ext cx="5126439" cy="2571135"/>
          </a:xfrm>
          <a:prstGeom prst="rect">
            <a:avLst/>
          </a:prstGeom>
          <a:noFill/>
          <a:ln>
            <a:noFill/>
          </a:ln>
        </p:spPr>
      </p:pic>
      <p:sp>
        <p:nvSpPr>
          <p:cNvPr id="341" name="Google Shape;341;p34"/>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5">
          <a:extLst>
            <a:ext uri="{FF2B5EF4-FFF2-40B4-BE49-F238E27FC236}">
              <a16:creationId xmlns:a16="http://schemas.microsoft.com/office/drawing/2014/main" id="{02889DAF-60CD-CB7A-1049-9EC8677A88DE}"/>
            </a:ext>
          </a:extLst>
        </p:cNvPr>
        <p:cNvGrpSpPr/>
        <p:nvPr/>
      </p:nvGrpSpPr>
      <p:grpSpPr>
        <a:xfrm>
          <a:off x="0" y="0"/>
          <a:ext cx="0" cy="0"/>
          <a:chOff x="0" y="0"/>
          <a:chExt cx="0" cy="0"/>
        </a:xfrm>
      </p:grpSpPr>
      <p:sp>
        <p:nvSpPr>
          <p:cNvPr id="346" name="Google Shape;346;p35">
            <a:extLst>
              <a:ext uri="{FF2B5EF4-FFF2-40B4-BE49-F238E27FC236}">
                <a16:creationId xmlns:a16="http://schemas.microsoft.com/office/drawing/2014/main" id="{B7B48257-EBE2-E757-5AB2-F43EF64E37D9}"/>
              </a:ext>
            </a:extLst>
          </p:cNvPr>
          <p:cNvSpPr txBox="1">
            <a:spLocks noGrp="1"/>
          </p:cNvSpPr>
          <p:nvPr>
            <p:ph type="body" idx="1"/>
          </p:nvPr>
        </p:nvSpPr>
        <p:spPr>
          <a:xfrm>
            <a:off x="-226142" y="1052736"/>
            <a:ext cx="12280490" cy="748680"/>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2000"/>
              <a:buNone/>
            </a:pPr>
            <a:r>
              <a:rPr lang="en-US" sz="2400" b="1" dirty="0">
                <a:latin typeface="Times New Roman" panose="02020603050405020304" pitchFamily="18" charset="0"/>
                <a:ea typeface="Times New Roman"/>
                <a:cs typeface="Times New Roman" panose="02020603050405020304" pitchFamily="18" charset="0"/>
                <a:sym typeface="Times New Roman"/>
              </a:rPr>
              <a:t>	Problem 3. </a:t>
            </a:r>
            <a:r>
              <a:rPr lang="en-US" sz="2400" dirty="0">
                <a:latin typeface="Times New Roman" panose="02020603050405020304" pitchFamily="18" charset="0"/>
                <a:ea typeface="Times New Roman"/>
                <a:cs typeface="Times New Roman" panose="02020603050405020304" pitchFamily="18" charset="0"/>
                <a:sym typeface="Times New Roman"/>
              </a:rPr>
              <a:t>Determine the value of the voltage, in volts, measured by the voltmeter in Figure a.</a:t>
            </a:r>
            <a:endParaRPr sz="2400" dirty="0">
              <a:latin typeface="Times New Roman" panose="02020603050405020304" pitchFamily="18" charset="0"/>
              <a:cs typeface="Times New Roman" panose="02020603050405020304" pitchFamily="18" charset="0"/>
            </a:endParaRPr>
          </a:p>
          <a:p>
            <a:pPr marL="342900" indent="-215900" algn="just">
              <a:spcBef>
                <a:spcPts val="400"/>
              </a:spcBef>
              <a:buClr>
                <a:schemeClr val="dk1"/>
              </a:buClr>
              <a:buSzPts val="2000"/>
              <a:buNone/>
            </a:pPr>
            <a:endParaRPr sz="2400" b="1"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400"/>
              </a:spcBef>
              <a:buClr>
                <a:schemeClr val="dk1"/>
              </a:buClr>
              <a:buSzPts val="2000"/>
              <a:buNone/>
            </a:pPr>
            <a:endParaRPr sz="2400" b="1" dirty="0">
              <a:latin typeface="Times New Roman" panose="02020603050405020304" pitchFamily="18" charset="0"/>
              <a:ea typeface="Times New Roman"/>
              <a:cs typeface="Times New Roman" panose="02020603050405020304" pitchFamily="18" charset="0"/>
              <a:sym typeface="Times New Roman"/>
            </a:endParaRPr>
          </a:p>
        </p:txBody>
      </p:sp>
      <p:pic>
        <p:nvPicPr>
          <p:cNvPr id="347" name="Google Shape;347;p35">
            <a:extLst>
              <a:ext uri="{FF2B5EF4-FFF2-40B4-BE49-F238E27FC236}">
                <a16:creationId xmlns:a16="http://schemas.microsoft.com/office/drawing/2014/main" id="{F957BB78-997A-DD40-58DE-B751A843960F}"/>
              </a:ext>
            </a:extLst>
          </p:cNvPr>
          <p:cNvPicPr preferRelativeResize="0"/>
          <p:nvPr/>
        </p:nvPicPr>
        <p:blipFill rotWithShape="1">
          <a:blip r:embed="rId3">
            <a:alphaModFix/>
          </a:blip>
          <a:srcRect/>
          <a:stretch/>
        </p:blipFill>
        <p:spPr>
          <a:xfrm>
            <a:off x="3460955" y="2093013"/>
            <a:ext cx="5456903" cy="2304256"/>
          </a:xfrm>
          <a:prstGeom prst="rect">
            <a:avLst/>
          </a:prstGeom>
          <a:noFill/>
          <a:ln>
            <a:noFill/>
          </a:ln>
        </p:spPr>
      </p:pic>
      <p:sp>
        <p:nvSpPr>
          <p:cNvPr id="348" name="Google Shape;348;p35">
            <a:extLst>
              <a:ext uri="{FF2B5EF4-FFF2-40B4-BE49-F238E27FC236}">
                <a16:creationId xmlns:a16="http://schemas.microsoft.com/office/drawing/2014/main" id="{76F35377-B8EC-360D-C732-D95AB5571C51}"/>
              </a:ext>
            </a:extLst>
          </p:cNvPr>
          <p:cNvSpPr txBox="1">
            <a:spLocks noGrp="1"/>
          </p:cNvSpPr>
          <p:nvPr>
            <p:ph type="title"/>
          </p:nvPr>
        </p:nvSpPr>
        <p:spPr>
          <a:xfrm>
            <a:off x="1981200" y="-27384"/>
            <a:ext cx="8229600" cy="1224136"/>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Problems…</a:t>
            </a:r>
            <a:endParaRPr b="1" dirty="0">
              <a:latin typeface="+mn-lt"/>
              <a:ea typeface="Times New Roman"/>
              <a:cs typeface="Times New Roman"/>
              <a:sym typeface="Times New Roman"/>
            </a:endParaRPr>
          </a:p>
        </p:txBody>
      </p:sp>
      <p:sp>
        <p:nvSpPr>
          <p:cNvPr id="349" name="Google Shape;349;p35">
            <a:extLst>
              <a:ext uri="{FF2B5EF4-FFF2-40B4-BE49-F238E27FC236}">
                <a16:creationId xmlns:a16="http://schemas.microsoft.com/office/drawing/2014/main" id="{56608317-5EA9-FE62-AFB8-014B1FEF5CD4}"/>
              </a:ext>
            </a:extLst>
          </p:cNvPr>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23</a:t>
            </a:fld>
            <a:endParaRPr/>
          </a:p>
        </p:txBody>
      </p:sp>
    </p:spTree>
    <p:extLst>
      <p:ext uri="{BB962C8B-B14F-4D97-AF65-F5344CB8AC3E}">
        <p14:creationId xmlns:p14="http://schemas.microsoft.com/office/powerpoint/2010/main" val="3561466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5"/>
          <p:cNvSpPr txBox="1">
            <a:spLocks noGrp="1"/>
          </p:cNvSpPr>
          <p:nvPr>
            <p:ph type="body" idx="1"/>
          </p:nvPr>
        </p:nvSpPr>
        <p:spPr>
          <a:xfrm>
            <a:off x="-226142" y="1052736"/>
            <a:ext cx="12280490" cy="748680"/>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2000"/>
              <a:buNone/>
            </a:pPr>
            <a:r>
              <a:rPr lang="en-US" sz="2400" b="1" dirty="0">
                <a:latin typeface="Times New Roman" panose="02020603050405020304" pitchFamily="18" charset="0"/>
                <a:ea typeface="Times New Roman"/>
                <a:cs typeface="Times New Roman" panose="02020603050405020304" pitchFamily="18" charset="0"/>
                <a:sym typeface="Times New Roman"/>
              </a:rPr>
              <a:t>	Problem 3. </a:t>
            </a:r>
            <a:r>
              <a:rPr lang="en-US" sz="2400" dirty="0">
                <a:latin typeface="Times New Roman" panose="02020603050405020304" pitchFamily="18" charset="0"/>
                <a:ea typeface="Times New Roman"/>
                <a:cs typeface="Times New Roman" panose="02020603050405020304" pitchFamily="18" charset="0"/>
                <a:sym typeface="Times New Roman"/>
              </a:rPr>
              <a:t>Determine the value of the voltage, in volts, measured by the voltmeter in Figure a.</a:t>
            </a:r>
            <a:endParaRPr sz="2400" dirty="0">
              <a:latin typeface="Times New Roman" panose="02020603050405020304" pitchFamily="18" charset="0"/>
              <a:cs typeface="Times New Roman" panose="02020603050405020304" pitchFamily="18" charset="0"/>
            </a:endParaRPr>
          </a:p>
          <a:p>
            <a:pPr marL="342900" indent="-215900" algn="just">
              <a:spcBef>
                <a:spcPts val="400"/>
              </a:spcBef>
              <a:buClr>
                <a:schemeClr val="dk1"/>
              </a:buClr>
              <a:buSzPts val="2000"/>
              <a:buNone/>
            </a:pPr>
            <a:endParaRPr sz="2400" b="1" dirty="0">
              <a:latin typeface="Times New Roman" panose="02020603050405020304" pitchFamily="18" charset="0"/>
              <a:ea typeface="Times New Roman"/>
              <a:cs typeface="Times New Roman" panose="02020603050405020304" pitchFamily="18" charset="0"/>
              <a:sym typeface="Times New Roman"/>
            </a:endParaRPr>
          </a:p>
          <a:p>
            <a:pPr marL="342900" indent="-342900" algn="just">
              <a:spcBef>
                <a:spcPts val="400"/>
              </a:spcBef>
              <a:buClr>
                <a:schemeClr val="dk1"/>
              </a:buClr>
              <a:buSzPts val="2000"/>
              <a:buNone/>
            </a:pPr>
            <a:endParaRPr sz="2400" b="1" dirty="0">
              <a:latin typeface="Times New Roman" panose="02020603050405020304" pitchFamily="18" charset="0"/>
              <a:ea typeface="Times New Roman"/>
              <a:cs typeface="Times New Roman" panose="02020603050405020304" pitchFamily="18" charset="0"/>
              <a:sym typeface="Times New Roman"/>
            </a:endParaRPr>
          </a:p>
        </p:txBody>
      </p:sp>
      <p:sp>
        <p:nvSpPr>
          <p:cNvPr id="348" name="Google Shape;348;p35"/>
          <p:cNvSpPr txBox="1">
            <a:spLocks noGrp="1"/>
          </p:cNvSpPr>
          <p:nvPr>
            <p:ph type="title"/>
          </p:nvPr>
        </p:nvSpPr>
        <p:spPr>
          <a:xfrm>
            <a:off x="1981200" y="-27384"/>
            <a:ext cx="8229600" cy="1224136"/>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Problems…</a:t>
            </a:r>
            <a:endParaRPr b="1" dirty="0">
              <a:latin typeface="+mn-lt"/>
              <a:ea typeface="Times New Roman"/>
              <a:cs typeface="Times New Roman"/>
              <a:sym typeface="Times New Roman"/>
            </a:endParaRPr>
          </a:p>
        </p:txBody>
      </p:sp>
      <p:sp>
        <p:nvSpPr>
          <p:cNvPr id="349" name="Google Shape;349;p35"/>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24</a:t>
            </a:fld>
            <a:endParaRPr/>
          </a:p>
        </p:txBody>
      </p:sp>
      <p:sp>
        <p:nvSpPr>
          <p:cNvPr id="354" name="Google Shape;354;p36"/>
          <p:cNvSpPr txBox="1">
            <a:spLocks/>
          </p:cNvSpPr>
          <p:nvPr/>
        </p:nvSpPr>
        <p:spPr>
          <a:xfrm>
            <a:off x="186813" y="3666312"/>
            <a:ext cx="11867535" cy="2715016"/>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spcBef>
                <a:spcPts val="0"/>
              </a:spcBef>
              <a:buClr>
                <a:schemeClr val="dk1"/>
              </a:buClr>
              <a:buSzPts val="1800"/>
              <a:buFont typeface="Arial" panose="020B0604020202020204" pitchFamily="34" charset="0"/>
              <a:buNone/>
            </a:pPr>
            <a:r>
              <a:rPr lang="en-US" sz="2400" dirty="0">
                <a:latin typeface="Times New Roman" panose="02020603050405020304" pitchFamily="18" charset="0"/>
                <a:ea typeface="Times New Roman"/>
                <a:cs typeface="Times New Roman" panose="02020603050405020304" pitchFamily="18" charset="0"/>
                <a:sym typeface="Times New Roman"/>
              </a:rPr>
              <a:t>Solution:</a:t>
            </a:r>
            <a:endParaRPr lang="en-US" sz="24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buFont typeface="Arial" panose="020B0604020202020204" pitchFamily="34" charset="0"/>
              <a:buNone/>
            </a:pPr>
            <a:r>
              <a:rPr lang="en-US" sz="2400" dirty="0">
                <a:latin typeface="Times New Roman" panose="02020603050405020304" pitchFamily="18" charset="0"/>
                <a:ea typeface="Times New Roman"/>
                <a:cs typeface="Times New Roman" panose="02020603050405020304" pitchFamily="18" charset="0"/>
                <a:sym typeface="Times New Roman"/>
              </a:rPr>
              <a:t>An ideal </a:t>
            </a:r>
            <a:r>
              <a:rPr lang="en-US" sz="2400" b="1" dirty="0">
                <a:latin typeface="Times New Roman" panose="02020603050405020304" pitchFamily="18" charset="0"/>
                <a:ea typeface="Times New Roman"/>
                <a:cs typeface="Times New Roman" panose="02020603050405020304" pitchFamily="18" charset="0"/>
                <a:sym typeface="Times New Roman"/>
              </a:rPr>
              <a:t>voltmeter is equivalent to an open circuit</a:t>
            </a:r>
            <a:r>
              <a:rPr lang="en-US" sz="2400" dirty="0">
                <a:latin typeface="Times New Roman" panose="02020603050405020304" pitchFamily="18" charset="0"/>
                <a:ea typeface="Times New Roman"/>
                <a:cs typeface="Times New Roman" panose="02020603050405020304" pitchFamily="18" charset="0"/>
                <a:sym typeface="Times New Roman"/>
              </a:rPr>
              <a:t>.</a:t>
            </a:r>
            <a:endParaRPr lang="en-US" sz="24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buFont typeface="Arial" panose="020B0604020202020204" pitchFamily="34" charset="0"/>
              <a:buNone/>
            </a:pPr>
            <a:r>
              <a:rPr lang="en-US" sz="2400" dirty="0">
                <a:latin typeface="Times New Roman" panose="02020603050405020304" pitchFamily="18" charset="0"/>
                <a:ea typeface="Times New Roman"/>
                <a:cs typeface="Times New Roman" panose="02020603050405020304" pitchFamily="18" charset="0"/>
                <a:sym typeface="Times New Roman"/>
              </a:rPr>
              <a:t>The voltage measured by the </a:t>
            </a:r>
            <a:r>
              <a:rPr lang="en-US" sz="2400" b="1" dirty="0">
                <a:latin typeface="Times New Roman" panose="02020603050405020304" pitchFamily="18" charset="0"/>
                <a:ea typeface="Times New Roman"/>
                <a:cs typeface="Times New Roman" panose="02020603050405020304" pitchFamily="18" charset="0"/>
                <a:sym typeface="Times New Roman"/>
              </a:rPr>
              <a:t>voltmeter is the voltage across the open circuit</a:t>
            </a:r>
            <a:r>
              <a:rPr lang="en-US" sz="2400" dirty="0">
                <a:latin typeface="Times New Roman" panose="02020603050405020304" pitchFamily="18" charset="0"/>
                <a:ea typeface="Times New Roman"/>
                <a:cs typeface="Times New Roman" panose="02020603050405020304" pitchFamily="18" charset="0"/>
                <a:sym typeface="Times New Roman"/>
              </a:rPr>
              <a:t>. </a:t>
            </a:r>
            <a:endParaRPr lang="en-US" sz="2400" dirty="0">
              <a:latin typeface="Times New Roman" panose="02020603050405020304" pitchFamily="18" charset="0"/>
              <a:cs typeface="Times New Roman" panose="02020603050405020304" pitchFamily="18" charset="0"/>
            </a:endParaRPr>
          </a:p>
          <a:p>
            <a:pPr marL="342900" indent="-342900" algn="just">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 The figure shows the circuit after replacing the voltmeter with the equivalent open circuit</a:t>
            </a:r>
          </a:p>
          <a:p>
            <a:pPr marL="342900" indent="-342900" algn="just">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This circuit consists of a voltage source, a dependent voltage source, two resistors, a short circuit, and an open circuit. </a:t>
            </a:r>
            <a:endParaRPr lang="en-US" sz="2400" dirty="0">
              <a:latin typeface="Times New Roman" panose="02020603050405020304" pitchFamily="18" charset="0"/>
              <a:cs typeface="Times New Roman" panose="02020603050405020304" pitchFamily="18" charset="0"/>
            </a:endParaRPr>
          </a:p>
          <a:p>
            <a:pPr marL="342900" indent="-342900" algn="just">
              <a:spcBef>
                <a:spcPts val="360"/>
              </a:spcBef>
              <a:buClr>
                <a:srgbClr val="C00000"/>
              </a:buClr>
              <a:buSzPts val="1800"/>
            </a:pP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The short circuit is the controlling element of the CCVS, and the open circuit is a model of the voltmeter.</a:t>
            </a:r>
            <a:endParaRPr lang="en-US" sz="2400" dirty="0">
              <a:latin typeface="Times New Roman" panose="02020603050405020304" pitchFamily="18" charset="0"/>
              <a:cs typeface="Times New Roman" panose="02020603050405020304" pitchFamily="18" charset="0"/>
            </a:endParaRPr>
          </a:p>
        </p:txBody>
      </p:sp>
      <p:pic>
        <p:nvPicPr>
          <p:cNvPr id="355" name="Google Shape;355;p36"/>
          <p:cNvPicPr preferRelativeResize="0"/>
          <p:nvPr/>
        </p:nvPicPr>
        <p:blipFill rotWithShape="1">
          <a:blip r:embed="rId3">
            <a:alphaModFix/>
          </a:blip>
          <a:srcRect/>
          <a:stretch/>
        </p:blipFill>
        <p:spPr>
          <a:xfrm>
            <a:off x="7402793" y="1529676"/>
            <a:ext cx="3960440" cy="24083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pic>
        <p:nvPicPr>
          <p:cNvPr id="362" name="Google Shape;362;p37"/>
          <p:cNvPicPr preferRelativeResize="0"/>
          <p:nvPr/>
        </p:nvPicPr>
        <p:blipFill rotWithShape="1">
          <a:blip r:embed="rId3">
            <a:alphaModFix/>
          </a:blip>
          <a:srcRect/>
          <a:stretch/>
        </p:blipFill>
        <p:spPr>
          <a:xfrm>
            <a:off x="6276336" y="4616872"/>
            <a:ext cx="4212153" cy="2124497"/>
          </a:xfrm>
          <a:prstGeom prst="rect">
            <a:avLst/>
          </a:prstGeom>
          <a:noFill/>
          <a:ln>
            <a:noFill/>
          </a:ln>
        </p:spPr>
      </p:pic>
      <p:sp>
        <p:nvSpPr>
          <p:cNvPr id="363" name="Google Shape;363;p37"/>
          <p:cNvSpPr txBox="1">
            <a:spLocks noGrp="1"/>
          </p:cNvSpPr>
          <p:nvPr>
            <p:ph type="body" idx="1"/>
          </p:nvPr>
        </p:nvSpPr>
        <p:spPr>
          <a:xfrm>
            <a:off x="265471" y="764704"/>
            <a:ext cx="11739716" cy="4896544"/>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1800"/>
              <a:buNone/>
            </a:pPr>
            <a:r>
              <a:rPr lang="en-US" sz="2400" dirty="0">
                <a:solidFill>
                  <a:srgbClr val="7030A0"/>
                </a:solidFill>
                <a:latin typeface="Times New Roman" panose="02020603050405020304" pitchFamily="18" charset="0"/>
                <a:ea typeface="Times New Roman"/>
                <a:cs typeface="Times New Roman" panose="02020603050405020304" pitchFamily="18" charset="0"/>
                <a:sym typeface="Times New Roman"/>
              </a:rPr>
              <a:t>Solution …</a:t>
            </a:r>
            <a:endParaRPr sz="2400" dirty="0">
              <a:solidFill>
                <a:srgbClr val="7030A0"/>
              </a:solidFill>
              <a:latin typeface="Times New Roman" panose="02020603050405020304" pitchFamily="18" charset="0"/>
              <a:cs typeface="Times New Roman" panose="02020603050405020304" pitchFamily="18" charset="0"/>
            </a:endParaRPr>
          </a:p>
          <a:p>
            <a:pPr marL="342900" indent="-342900" algn="just">
              <a:lnSpc>
                <a:spcPct val="100000"/>
              </a:lnSpc>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The circuit has been redrawn in the Figure to label the nodes of the circuit. </a:t>
            </a:r>
            <a:endParaRPr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Applying KCL at node c, shows that the current in the 5Ω resistor is equal to the current in the open circuit, that is, zero. </a:t>
            </a:r>
            <a:endParaRPr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360"/>
              </a:spcBef>
              <a:buClr>
                <a:schemeClr val="dk1"/>
              </a:buClr>
              <a:buSzPts val="1800"/>
            </a:pPr>
            <a:r>
              <a:rPr lang="en-US" sz="2400" dirty="0">
                <a:latin typeface="Times New Roman" panose="02020603050405020304" pitchFamily="18" charset="0"/>
                <a:ea typeface="Times New Roman"/>
                <a:cs typeface="Times New Roman" panose="02020603050405020304" pitchFamily="18" charset="0"/>
                <a:sym typeface="Times New Roman"/>
              </a:rPr>
              <a:t>Ohm’s law tells us that the voltage across the 5Ω resistor is also equal to zero. </a:t>
            </a:r>
            <a:endParaRPr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360"/>
              </a:spcBef>
              <a:buClr>
                <a:srgbClr val="C00000"/>
              </a:buClr>
              <a:buSzPts val="1800"/>
            </a:pP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Next, applying KVL to the closed path b-c-f-e-b gives </a:t>
            </a:r>
            <a:r>
              <a:rPr lang="en-US" sz="2400" dirty="0" err="1">
                <a:solidFill>
                  <a:srgbClr val="C00000"/>
                </a:solidFill>
                <a:latin typeface="Times New Roman" panose="02020603050405020304" pitchFamily="18" charset="0"/>
                <a:ea typeface="Times New Roman"/>
                <a:cs typeface="Times New Roman" panose="02020603050405020304" pitchFamily="18" charset="0"/>
                <a:sym typeface="Times New Roman"/>
              </a:rPr>
              <a:t>v</a:t>
            </a:r>
            <a:r>
              <a:rPr lang="en-US" sz="2400" baseline="-25000" dirty="0" err="1">
                <a:solidFill>
                  <a:srgbClr val="C00000"/>
                </a:solidFill>
                <a:latin typeface="Times New Roman" panose="02020603050405020304" pitchFamily="18" charset="0"/>
                <a:ea typeface="Times New Roman"/>
                <a:cs typeface="Times New Roman" panose="02020603050405020304" pitchFamily="18" charset="0"/>
                <a:sym typeface="Times New Roman"/>
              </a:rPr>
              <a:t>m</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 = 3i</a:t>
            </a:r>
            <a:r>
              <a:rPr lang="en-US" sz="2400" baseline="-25000" dirty="0">
                <a:solidFill>
                  <a:srgbClr val="C00000"/>
                </a:solidFill>
                <a:latin typeface="Times New Roman" panose="02020603050405020304" pitchFamily="18" charset="0"/>
                <a:ea typeface="Times New Roman"/>
                <a:cs typeface="Times New Roman" panose="02020603050405020304" pitchFamily="18" charset="0"/>
                <a:sym typeface="Times New Roman"/>
              </a:rPr>
              <a:t>a</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 </a:t>
            </a:r>
            <a:endParaRPr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360"/>
              </a:spcBef>
              <a:buClr>
                <a:srgbClr val="C00000"/>
              </a:buClr>
              <a:buSzPts val="1800"/>
            </a:pP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Applying KVL to the closed path a-b-e-d-a gives -4i</a:t>
            </a:r>
            <a:r>
              <a:rPr lang="en-US" sz="2400" baseline="-25000" dirty="0">
                <a:solidFill>
                  <a:srgbClr val="C00000"/>
                </a:solidFill>
                <a:latin typeface="Times New Roman" panose="02020603050405020304" pitchFamily="18" charset="0"/>
                <a:ea typeface="Times New Roman"/>
                <a:cs typeface="Times New Roman" panose="02020603050405020304" pitchFamily="18" charset="0"/>
                <a:sym typeface="Times New Roman"/>
              </a:rPr>
              <a:t>a</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 + 3i</a:t>
            </a:r>
            <a:r>
              <a:rPr lang="en-US" sz="2400" baseline="-25000" dirty="0">
                <a:solidFill>
                  <a:srgbClr val="C00000"/>
                </a:solidFill>
                <a:latin typeface="Times New Roman" panose="02020603050405020304" pitchFamily="18" charset="0"/>
                <a:ea typeface="Times New Roman"/>
                <a:cs typeface="Times New Roman" panose="02020603050405020304" pitchFamily="18" charset="0"/>
                <a:sym typeface="Times New Roman"/>
              </a:rPr>
              <a:t>a</a:t>
            </a:r>
            <a:r>
              <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rPr>
              <a:t> -12 = 0 </a:t>
            </a:r>
            <a:endParaRPr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360"/>
              </a:spcBef>
              <a:buClr>
                <a:schemeClr val="dk1"/>
              </a:buClr>
              <a:buSzPts val="1800"/>
              <a:buNone/>
            </a:pPr>
            <a:r>
              <a:rPr lang="en-US" sz="2400" dirty="0">
                <a:latin typeface="Times New Roman" panose="02020603050405020304" pitchFamily="18" charset="0"/>
                <a:ea typeface="Times New Roman"/>
                <a:cs typeface="Times New Roman" panose="02020603050405020304" pitchFamily="18" charset="0"/>
                <a:sym typeface="Times New Roman"/>
              </a:rPr>
              <a:t>	so </a:t>
            </a:r>
            <a:r>
              <a:rPr lang="en-US" sz="2400" dirty="0" err="1">
                <a:latin typeface="Times New Roman" panose="02020603050405020304" pitchFamily="18" charset="0"/>
                <a:ea typeface="Times New Roman"/>
                <a:cs typeface="Times New Roman" panose="02020603050405020304" pitchFamily="18" charset="0"/>
                <a:sym typeface="Times New Roman"/>
              </a:rPr>
              <a:t>i</a:t>
            </a:r>
            <a:r>
              <a:rPr lang="en-US" sz="2400" baseline="-25000" dirty="0" err="1">
                <a:latin typeface="Times New Roman" panose="02020603050405020304" pitchFamily="18" charset="0"/>
                <a:ea typeface="Times New Roman"/>
                <a:cs typeface="Times New Roman" panose="02020603050405020304" pitchFamily="18" charset="0"/>
                <a:sym typeface="Times New Roman"/>
              </a:rPr>
              <a:t>a</a:t>
            </a:r>
            <a:r>
              <a:rPr lang="en-US" sz="2400" dirty="0">
                <a:latin typeface="Times New Roman" panose="02020603050405020304" pitchFamily="18" charset="0"/>
                <a:ea typeface="Times New Roman"/>
                <a:cs typeface="Times New Roman" panose="02020603050405020304" pitchFamily="18" charset="0"/>
                <a:sym typeface="Times New Roman"/>
              </a:rPr>
              <a:t> = -12 A </a:t>
            </a:r>
            <a:endParaRPr sz="2400" dirty="0">
              <a:latin typeface="Times New Roman" panose="02020603050405020304" pitchFamily="18" charset="0"/>
              <a:cs typeface="Times New Roman" panose="02020603050405020304" pitchFamily="18" charset="0"/>
            </a:endParaRPr>
          </a:p>
          <a:p>
            <a:pPr marL="342900" indent="-342900" algn="just">
              <a:lnSpc>
                <a:spcPct val="100000"/>
              </a:lnSpc>
              <a:spcBef>
                <a:spcPts val="360"/>
              </a:spcBef>
              <a:buClr>
                <a:schemeClr val="dk1"/>
              </a:buClr>
              <a:buSzPts val="1800"/>
              <a:buNone/>
            </a:pPr>
            <a:r>
              <a:rPr lang="en-US" sz="2400" dirty="0">
                <a:latin typeface="Times New Roman" panose="02020603050405020304" pitchFamily="18" charset="0"/>
                <a:ea typeface="Times New Roman"/>
                <a:cs typeface="Times New Roman" panose="02020603050405020304" pitchFamily="18" charset="0"/>
                <a:sym typeface="Times New Roman"/>
              </a:rPr>
              <a:t>	Finally, </a:t>
            </a:r>
            <a:r>
              <a:rPr lang="en-US" sz="2400" dirty="0" err="1">
                <a:latin typeface="Times New Roman" panose="02020603050405020304" pitchFamily="18" charset="0"/>
                <a:ea typeface="Times New Roman"/>
                <a:cs typeface="Times New Roman" panose="02020603050405020304" pitchFamily="18" charset="0"/>
                <a:sym typeface="Times New Roman"/>
              </a:rPr>
              <a:t>v</a:t>
            </a:r>
            <a:r>
              <a:rPr lang="en-US" sz="2400" baseline="-25000" dirty="0" err="1">
                <a:latin typeface="Times New Roman" panose="02020603050405020304" pitchFamily="18" charset="0"/>
                <a:ea typeface="Times New Roman"/>
                <a:cs typeface="Times New Roman" panose="02020603050405020304" pitchFamily="18" charset="0"/>
                <a:sym typeface="Times New Roman"/>
              </a:rPr>
              <a:t>m</a:t>
            </a:r>
            <a:r>
              <a:rPr lang="en-US" sz="2400" dirty="0">
                <a:latin typeface="Times New Roman" panose="02020603050405020304" pitchFamily="18" charset="0"/>
                <a:ea typeface="Times New Roman"/>
                <a:cs typeface="Times New Roman" panose="02020603050405020304" pitchFamily="18" charset="0"/>
                <a:sym typeface="Times New Roman"/>
              </a:rPr>
              <a:t> = 3i</a:t>
            </a:r>
            <a:r>
              <a:rPr lang="en-US" sz="2400" baseline="-25000" dirty="0">
                <a:latin typeface="Times New Roman" panose="02020603050405020304" pitchFamily="18" charset="0"/>
                <a:ea typeface="Times New Roman"/>
                <a:cs typeface="Times New Roman" panose="02020603050405020304" pitchFamily="18" charset="0"/>
                <a:sym typeface="Times New Roman"/>
              </a:rPr>
              <a:t>a</a:t>
            </a:r>
            <a:r>
              <a:rPr lang="en-US" sz="2400" dirty="0">
                <a:latin typeface="Times New Roman" panose="02020603050405020304" pitchFamily="18" charset="0"/>
                <a:ea typeface="Times New Roman"/>
                <a:cs typeface="Times New Roman" panose="02020603050405020304" pitchFamily="18" charset="0"/>
                <a:sym typeface="Times New Roman"/>
              </a:rPr>
              <a:t> = 3(-12) = -36 V</a:t>
            </a:r>
            <a:endParaRPr sz="2400" dirty="0">
              <a:latin typeface="Times New Roman" panose="02020603050405020304" pitchFamily="18" charset="0"/>
              <a:cs typeface="Times New Roman" panose="02020603050405020304" pitchFamily="18" charset="0"/>
            </a:endParaRPr>
          </a:p>
          <a:p>
            <a:pPr marL="342900" algn="just">
              <a:lnSpc>
                <a:spcPct val="150000"/>
              </a:lnSpc>
              <a:spcBef>
                <a:spcPts val="360"/>
              </a:spcBef>
              <a:buClr>
                <a:schemeClr val="dk1"/>
              </a:buClr>
              <a:buSzPts val="1800"/>
              <a:buNone/>
            </a:pPr>
            <a:endParaRPr sz="2400" dirty="0">
              <a:latin typeface="Times New Roman" panose="02020603050405020304" pitchFamily="18" charset="0"/>
              <a:cs typeface="Times New Roman" panose="02020603050405020304" pitchFamily="18" charset="0"/>
            </a:endParaRPr>
          </a:p>
        </p:txBody>
      </p:sp>
      <p:sp>
        <p:nvSpPr>
          <p:cNvPr id="364" name="Google Shape;364;p37"/>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25</a:t>
            </a:fld>
            <a:endParaRPr/>
          </a:p>
        </p:txBody>
      </p:sp>
      <p:sp>
        <p:nvSpPr>
          <p:cNvPr id="365" name="Google Shape;365;p37"/>
          <p:cNvSpPr txBox="1"/>
          <p:nvPr/>
        </p:nvSpPr>
        <p:spPr>
          <a:xfrm>
            <a:off x="1981200" y="-27384"/>
            <a:ext cx="8229600" cy="792088"/>
          </a:xfrm>
          <a:prstGeom prst="rect">
            <a:avLst/>
          </a:prstGeom>
          <a:noFill/>
          <a:ln>
            <a:noFill/>
          </a:ln>
        </p:spPr>
        <p:txBody>
          <a:bodyPr spcFirstLastPara="1" wrap="square" lIns="91425" tIns="45700" rIns="91425" bIns="45700" anchor="ctr" anchorCtr="0">
            <a:normAutofit/>
          </a:bodyPr>
          <a:lstStyle/>
          <a:p>
            <a:pPr algn="ctr">
              <a:buClr>
                <a:srgbClr val="C00000"/>
              </a:buClr>
              <a:buSzPts val="4400"/>
            </a:pPr>
            <a:r>
              <a:rPr lang="en-US" sz="4400" b="1">
                <a:solidFill>
                  <a:srgbClr val="C00000"/>
                </a:solidFill>
                <a:latin typeface="Calibri"/>
                <a:ea typeface="Calibri"/>
                <a:cs typeface="Calibri"/>
                <a:sym typeface="Calibri"/>
              </a:rPr>
              <a:t>Problems…</a:t>
            </a:r>
            <a:endParaRPr sz="4400" b="1">
              <a:solidFill>
                <a:srgbClr val="C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3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Practice Problem</a:t>
            </a:r>
            <a:endParaRPr b="1" dirty="0">
              <a:solidFill>
                <a:srgbClr val="C00000"/>
              </a:solidFill>
              <a:latin typeface="+mn-lt"/>
            </a:endParaRPr>
          </a:p>
        </p:txBody>
      </p:sp>
      <p:sp>
        <p:nvSpPr>
          <p:cNvPr id="371" name="Google Shape;371;p38"/>
          <p:cNvSpPr txBox="1">
            <a:spLocks noGrp="1"/>
          </p:cNvSpPr>
          <p:nvPr>
            <p:ph type="body" idx="1"/>
          </p:nvPr>
        </p:nvSpPr>
        <p:spPr>
          <a:xfrm>
            <a:off x="1991544" y="1340768"/>
            <a:ext cx="8229600" cy="1080120"/>
          </a:xfrm>
          <a:prstGeom prst="rect">
            <a:avLst/>
          </a:prstGeom>
          <a:noFill/>
          <a:ln>
            <a:noFill/>
          </a:ln>
        </p:spPr>
        <p:txBody>
          <a:bodyPr spcFirstLastPara="1" vert="horz" wrap="square" lIns="91425" tIns="45700" rIns="91425" bIns="45700" rtlCol="0" anchor="t" anchorCtr="0">
            <a:normAutofit fontScale="70000" lnSpcReduction="20000"/>
          </a:bodyPr>
          <a:lstStyle/>
          <a:p>
            <a:pPr marL="342900" indent="-342900" algn="just">
              <a:lnSpc>
                <a:spcPct val="170000"/>
              </a:lnSpc>
              <a:spcBef>
                <a:spcPts val="0"/>
              </a:spcBef>
              <a:buClr>
                <a:schemeClr val="dk1"/>
              </a:buClr>
              <a:buSzPct val="100000"/>
              <a:buNone/>
            </a:pPr>
            <a:r>
              <a:rPr lang="en-US" b="1" dirty="0">
                <a:latin typeface="Times New Roman"/>
                <a:ea typeface="Times New Roman"/>
                <a:cs typeface="Times New Roman"/>
                <a:sym typeface="Times New Roman"/>
              </a:rPr>
              <a:t>Problem 1. Determine the values of i</a:t>
            </a:r>
            <a:r>
              <a:rPr lang="en-US" b="1" baseline="-25000" dirty="0">
                <a:latin typeface="Times New Roman"/>
                <a:ea typeface="Times New Roman"/>
                <a:cs typeface="Times New Roman"/>
                <a:sym typeface="Times New Roman"/>
              </a:rPr>
              <a:t>3</a:t>
            </a:r>
            <a:r>
              <a:rPr lang="en-US" b="1" dirty="0">
                <a:latin typeface="Times New Roman"/>
                <a:ea typeface="Times New Roman"/>
                <a:cs typeface="Times New Roman"/>
                <a:sym typeface="Times New Roman"/>
              </a:rPr>
              <a:t>, i</a:t>
            </a:r>
            <a:r>
              <a:rPr lang="en-US" b="1" baseline="-25000" dirty="0">
                <a:latin typeface="Times New Roman"/>
                <a:ea typeface="Times New Roman"/>
                <a:cs typeface="Times New Roman"/>
                <a:sym typeface="Times New Roman"/>
              </a:rPr>
              <a:t>4</a:t>
            </a:r>
            <a:r>
              <a:rPr lang="en-US" b="1" dirty="0">
                <a:latin typeface="Times New Roman"/>
                <a:ea typeface="Times New Roman"/>
                <a:cs typeface="Times New Roman"/>
                <a:sym typeface="Times New Roman"/>
              </a:rPr>
              <a:t>, i</a:t>
            </a:r>
            <a:r>
              <a:rPr lang="en-US" b="1" baseline="-25000" dirty="0">
                <a:latin typeface="Times New Roman"/>
                <a:ea typeface="Times New Roman"/>
                <a:cs typeface="Times New Roman"/>
                <a:sym typeface="Times New Roman"/>
              </a:rPr>
              <a:t>6</a:t>
            </a:r>
            <a:r>
              <a:rPr lang="en-US" b="1" dirty="0">
                <a:latin typeface="Times New Roman"/>
                <a:ea typeface="Times New Roman"/>
                <a:cs typeface="Times New Roman"/>
                <a:sym typeface="Times New Roman"/>
              </a:rPr>
              <a:t>, v</a:t>
            </a:r>
            <a:r>
              <a:rPr lang="en-US" b="1" baseline="-25000" dirty="0">
                <a:latin typeface="Times New Roman"/>
                <a:ea typeface="Times New Roman"/>
                <a:cs typeface="Times New Roman"/>
                <a:sym typeface="Times New Roman"/>
              </a:rPr>
              <a:t>2</a:t>
            </a:r>
            <a:r>
              <a:rPr lang="en-US" b="1" dirty="0">
                <a:latin typeface="Times New Roman"/>
                <a:ea typeface="Times New Roman"/>
                <a:cs typeface="Times New Roman"/>
                <a:sym typeface="Times New Roman"/>
              </a:rPr>
              <a:t>, v</a:t>
            </a:r>
            <a:r>
              <a:rPr lang="en-US" b="1" baseline="-25000" dirty="0">
                <a:latin typeface="Times New Roman"/>
                <a:ea typeface="Times New Roman"/>
                <a:cs typeface="Times New Roman"/>
                <a:sym typeface="Times New Roman"/>
              </a:rPr>
              <a:t>4</a:t>
            </a:r>
            <a:r>
              <a:rPr lang="en-US" b="1" dirty="0">
                <a:latin typeface="Times New Roman"/>
                <a:ea typeface="Times New Roman"/>
                <a:cs typeface="Times New Roman"/>
                <a:sym typeface="Times New Roman"/>
              </a:rPr>
              <a:t>, and v</a:t>
            </a:r>
            <a:r>
              <a:rPr lang="en-US" b="1" baseline="-25000" dirty="0">
                <a:latin typeface="Times New Roman"/>
                <a:ea typeface="Times New Roman"/>
                <a:cs typeface="Times New Roman"/>
                <a:sym typeface="Times New Roman"/>
              </a:rPr>
              <a:t>6</a:t>
            </a:r>
            <a:r>
              <a:rPr lang="en-US" b="1" dirty="0">
                <a:latin typeface="Times New Roman"/>
                <a:ea typeface="Times New Roman"/>
                <a:cs typeface="Times New Roman"/>
                <a:sym typeface="Times New Roman"/>
              </a:rPr>
              <a:t> in Figure shown.	</a:t>
            </a:r>
            <a:endParaRPr dirty="0"/>
          </a:p>
        </p:txBody>
      </p:sp>
      <p:pic>
        <p:nvPicPr>
          <p:cNvPr id="372" name="Google Shape;372;p38"/>
          <p:cNvPicPr preferRelativeResize="0"/>
          <p:nvPr/>
        </p:nvPicPr>
        <p:blipFill rotWithShape="1">
          <a:blip r:embed="rId3">
            <a:alphaModFix/>
          </a:blip>
          <a:srcRect/>
          <a:stretch/>
        </p:blipFill>
        <p:spPr>
          <a:xfrm>
            <a:off x="2978542" y="2204864"/>
            <a:ext cx="6337516" cy="2952328"/>
          </a:xfrm>
          <a:prstGeom prst="rect">
            <a:avLst/>
          </a:prstGeom>
          <a:noFill/>
          <a:ln>
            <a:noFill/>
          </a:ln>
        </p:spPr>
      </p:pic>
      <p:sp>
        <p:nvSpPr>
          <p:cNvPr id="374" name="Google Shape;374;p38"/>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73;p38">
            <a:extLst>
              <a:ext uri="{FF2B5EF4-FFF2-40B4-BE49-F238E27FC236}">
                <a16:creationId xmlns:a16="http://schemas.microsoft.com/office/drawing/2014/main" id="{E4C02E0B-3055-4212-90DE-D2E48D8F59D1}"/>
              </a:ext>
            </a:extLst>
          </p:cNvPr>
          <p:cNvSpPr>
            <a:spLocks noGrp="1"/>
          </p:cNvSpPr>
          <p:nvPr>
            <p:ph idx="1"/>
          </p:nvPr>
        </p:nvSpPr>
        <p:spPr>
          <a:xfrm>
            <a:off x="838200" y="1825625"/>
            <a:ext cx="10515600" cy="953041"/>
          </a:xfrm>
          <a:prstGeom prst="rect">
            <a:avLst/>
          </a:prstGeom>
          <a:noFill/>
          <a:ln>
            <a:noFill/>
          </a:ln>
        </p:spPr>
        <p:txBody>
          <a:bodyPr spcFirstLastPara="1" wrap="square" lIns="91425" tIns="45700" rIns="91425" bIns="45700" anchor="t" anchorCtr="0">
            <a:spAutoFit/>
          </a:bodyPr>
          <a:lstStyle/>
          <a:p>
            <a:pPr marL="0" indent="0" algn="just">
              <a:lnSpc>
                <a:spcPct val="170000"/>
              </a:lnSpc>
              <a:buClr>
                <a:schemeClr val="dk1"/>
              </a:buClr>
              <a:buSzPts val="1800"/>
              <a:buNone/>
            </a:pPr>
            <a:r>
              <a:rPr lang="en-US" b="1" dirty="0">
                <a:solidFill>
                  <a:schemeClr val="dk1"/>
                </a:solidFill>
                <a:latin typeface="Times New Roman"/>
                <a:ea typeface="Times New Roman"/>
                <a:cs typeface="Times New Roman"/>
                <a:sym typeface="Times New Roman"/>
              </a:rPr>
              <a:t>Answer: i</a:t>
            </a:r>
            <a:r>
              <a:rPr lang="en-US" b="1" baseline="-25000" dirty="0">
                <a:solidFill>
                  <a:schemeClr val="dk1"/>
                </a:solidFill>
                <a:latin typeface="Times New Roman"/>
                <a:ea typeface="Times New Roman"/>
                <a:cs typeface="Times New Roman"/>
                <a:sym typeface="Times New Roman"/>
              </a:rPr>
              <a:t>3</a:t>
            </a:r>
            <a:r>
              <a:rPr lang="en-US" b="1" dirty="0">
                <a:solidFill>
                  <a:schemeClr val="dk1"/>
                </a:solidFill>
                <a:latin typeface="Times New Roman"/>
                <a:ea typeface="Times New Roman"/>
                <a:cs typeface="Times New Roman"/>
                <a:sym typeface="Times New Roman"/>
              </a:rPr>
              <a:t> = -3 A, i</a:t>
            </a:r>
            <a:r>
              <a:rPr lang="en-US" b="1" baseline="-25000" dirty="0">
                <a:solidFill>
                  <a:schemeClr val="dk1"/>
                </a:solidFill>
                <a:latin typeface="Times New Roman"/>
                <a:ea typeface="Times New Roman"/>
                <a:cs typeface="Times New Roman"/>
                <a:sym typeface="Times New Roman"/>
              </a:rPr>
              <a:t>4</a:t>
            </a:r>
            <a:r>
              <a:rPr lang="en-US" b="1" dirty="0">
                <a:solidFill>
                  <a:schemeClr val="dk1"/>
                </a:solidFill>
                <a:latin typeface="Times New Roman"/>
                <a:ea typeface="Times New Roman"/>
                <a:cs typeface="Times New Roman"/>
                <a:sym typeface="Times New Roman"/>
              </a:rPr>
              <a:t> = 3 A, i</a:t>
            </a:r>
            <a:r>
              <a:rPr lang="en-US" b="1" baseline="-25000" dirty="0">
                <a:solidFill>
                  <a:schemeClr val="dk1"/>
                </a:solidFill>
                <a:latin typeface="Times New Roman"/>
                <a:ea typeface="Times New Roman"/>
                <a:cs typeface="Times New Roman"/>
                <a:sym typeface="Times New Roman"/>
              </a:rPr>
              <a:t>6</a:t>
            </a:r>
            <a:r>
              <a:rPr lang="en-US" b="1" dirty="0">
                <a:solidFill>
                  <a:schemeClr val="dk1"/>
                </a:solidFill>
                <a:latin typeface="Times New Roman"/>
                <a:ea typeface="Times New Roman"/>
                <a:cs typeface="Times New Roman"/>
                <a:sym typeface="Times New Roman"/>
              </a:rPr>
              <a:t> = 4 A, v</a:t>
            </a:r>
            <a:r>
              <a:rPr lang="en-US" b="1" baseline="-25000" dirty="0">
                <a:solidFill>
                  <a:schemeClr val="dk1"/>
                </a:solidFill>
                <a:latin typeface="Times New Roman"/>
                <a:ea typeface="Times New Roman"/>
                <a:cs typeface="Times New Roman"/>
                <a:sym typeface="Times New Roman"/>
              </a:rPr>
              <a:t>2</a:t>
            </a:r>
            <a:r>
              <a:rPr lang="en-US" b="1" dirty="0">
                <a:solidFill>
                  <a:schemeClr val="dk1"/>
                </a:solidFill>
                <a:latin typeface="Times New Roman"/>
                <a:ea typeface="Times New Roman"/>
                <a:cs typeface="Times New Roman"/>
                <a:sym typeface="Times New Roman"/>
              </a:rPr>
              <a:t> = -3 V, v</a:t>
            </a:r>
            <a:r>
              <a:rPr lang="en-US" b="1" baseline="-25000" dirty="0">
                <a:solidFill>
                  <a:schemeClr val="dk1"/>
                </a:solidFill>
                <a:latin typeface="Times New Roman"/>
                <a:ea typeface="Times New Roman"/>
                <a:cs typeface="Times New Roman"/>
                <a:sym typeface="Times New Roman"/>
              </a:rPr>
              <a:t>4</a:t>
            </a:r>
            <a:r>
              <a:rPr lang="en-US" b="1" dirty="0">
                <a:solidFill>
                  <a:schemeClr val="dk1"/>
                </a:solidFill>
                <a:latin typeface="Times New Roman"/>
                <a:ea typeface="Times New Roman"/>
                <a:cs typeface="Times New Roman"/>
                <a:sym typeface="Times New Roman"/>
              </a:rPr>
              <a:t> = -6 V, v</a:t>
            </a:r>
            <a:r>
              <a:rPr lang="en-US" b="1" baseline="-25000" dirty="0">
                <a:solidFill>
                  <a:schemeClr val="dk1"/>
                </a:solidFill>
                <a:latin typeface="Times New Roman"/>
                <a:ea typeface="Times New Roman"/>
                <a:cs typeface="Times New Roman"/>
                <a:sym typeface="Times New Roman"/>
              </a:rPr>
              <a:t>6</a:t>
            </a:r>
            <a:r>
              <a:rPr lang="en-US" b="1" dirty="0">
                <a:solidFill>
                  <a:schemeClr val="dk1"/>
                </a:solidFill>
                <a:latin typeface="Times New Roman"/>
                <a:ea typeface="Times New Roman"/>
                <a:cs typeface="Times New Roman"/>
                <a:sym typeface="Times New Roman"/>
              </a:rPr>
              <a:t> = 6 V</a:t>
            </a:r>
            <a:endParaRPr dirty="0"/>
          </a:p>
        </p:txBody>
      </p:sp>
    </p:spTree>
    <p:extLst>
      <p:ext uri="{BB962C8B-B14F-4D97-AF65-F5344CB8AC3E}">
        <p14:creationId xmlns:p14="http://schemas.microsoft.com/office/powerpoint/2010/main" val="497671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9"/>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2000"/>
              <a:buNone/>
            </a:pPr>
            <a:r>
              <a:rPr lang="en-US" sz="2000" b="1">
                <a:latin typeface="Times New Roman"/>
                <a:ea typeface="Times New Roman"/>
                <a:cs typeface="Times New Roman"/>
                <a:sym typeface="Times New Roman"/>
              </a:rPr>
              <a:t>[1] R.C. Dorf and James A. Svoboda, “Introduction to Electric Circuits”, 9</a:t>
            </a:r>
            <a:r>
              <a:rPr lang="en-US" sz="2000" b="1" baseline="30000">
                <a:latin typeface="Times New Roman"/>
                <a:ea typeface="Times New Roman"/>
                <a:cs typeface="Times New Roman"/>
                <a:sym typeface="Times New Roman"/>
              </a:rPr>
              <a:t>th</a:t>
            </a:r>
            <a:r>
              <a:rPr lang="en-US" sz="2000" b="1">
                <a:latin typeface="Times New Roman"/>
                <a:ea typeface="Times New Roman"/>
                <a:cs typeface="Times New Roman"/>
                <a:sym typeface="Times New Roman"/>
              </a:rPr>
              <a:t> ed, John Wiley &amp; Sons, 2013.</a:t>
            </a:r>
            <a:endParaRPr/>
          </a:p>
          <a:p>
            <a:pPr marL="342900" indent="-215900" algn="just">
              <a:spcBef>
                <a:spcPts val="400"/>
              </a:spcBef>
              <a:buClr>
                <a:schemeClr val="dk1"/>
              </a:buClr>
              <a:buSzPts val="2000"/>
              <a:buNone/>
            </a:pPr>
            <a:endParaRPr sz="2000" b="1">
              <a:latin typeface="Times New Roman"/>
              <a:ea typeface="Times New Roman"/>
              <a:cs typeface="Times New Roman"/>
              <a:sym typeface="Times New Roman"/>
            </a:endParaRPr>
          </a:p>
        </p:txBody>
      </p:sp>
      <p:sp>
        <p:nvSpPr>
          <p:cNvPr id="380" name="Google Shape;380;p39"/>
          <p:cNvSpPr txBox="1">
            <a:spLocks noGrp="1"/>
          </p:cNvSpPr>
          <p:nvPr>
            <p:ph type="title"/>
          </p:nvPr>
        </p:nvSpPr>
        <p:spPr>
          <a:xfrm>
            <a:off x="1981200" y="-27384"/>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rgbClr val="C00000"/>
              </a:buClr>
              <a:buSzPts val="4400"/>
            </a:pPr>
            <a:r>
              <a:rPr lang="en-US" b="1" dirty="0">
                <a:solidFill>
                  <a:srgbClr val="C00000"/>
                </a:solidFill>
                <a:latin typeface="+mn-lt"/>
              </a:rPr>
              <a:t>REFERENCES</a:t>
            </a:r>
            <a:endParaRPr b="1" dirty="0">
              <a:latin typeface="+mn-lt"/>
            </a:endParaRPr>
          </a:p>
        </p:txBody>
      </p:sp>
      <p:sp>
        <p:nvSpPr>
          <p:cNvPr id="381" name="Google Shape;381;p39"/>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28</a:t>
            </a:f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TotalTime>
  <Words>2468</Words>
  <Application>Microsoft Office PowerPoint</Application>
  <PresentationFormat>Widescreen</PresentationFormat>
  <Paragraphs>216</Paragraphs>
  <Slides>28</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Calibri Light</vt:lpstr>
      <vt:lpstr>Cambria Math</vt:lpstr>
      <vt:lpstr>Noto Sans Symbols</vt:lpstr>
      <vt:lpstr>Times New Roman</vt:lpstr>
      <vt:lpstr>Wingdings</vt:lpstr>
      <vt:lpstr>Office Theme</vt:lpstr>
      <vt:lpstr>PowerPoint Presentation</vt:lpstr>
      <vt:lpstr>CONTENTS</vt:lpstr>
      <vt:lpstr>PowerPoint Presentation</vt:lpstr>
      <vt:lpstr>PowerPoint Presentation</vt:lpstr>
      <vt:lpstr>Energy</vt:lpstr>
      <vt:lpstr>Power Received and Supplied by an element</vt:lpstr>
      <vt:lpstr>Contd..</vt:lpstr>
      <vt:lpstr>SOURCES </vt:lpstr>
      <vt:lpstr>INDEPENDENT SOURCES </vt:lpstr>
      <vt:lpstr>DEPENDENT SOURCES </vt:lpstr>
      <vt:lpstr>PowerPoint Presentation</vt:lpstr>
      <vt:lpstr>Kirchhoff’s Laws</vt:lpstr>
      <vt:lpstr>PowerPoint Presentation</vt:lpstr>
      <vt:lpstr>Kirchhoff’s Current Law (KCL)</vt:lpstr>
      <vt:lpstr>Kirchhoff’s Current Law (KCL)</vt:lpstr>
      <vt:lpstr>Kirchhoff’s Voltage Law (KVL)</vt:lpstr>
      <vt:lpstr>Problems</vt:lpstr>
      <vt:lpstr>Problems</vt:lpstr>
      <vt:lpstr>Problems</vt:lpstr>
      <vt:lpstr>Problems</vt:lpstr>
      <vt:lpstr>Problems…</vt:lpstr>
      <vt:lpstr>Problems…</vt:lpstr>
      <vt:lpstr>Problems…</vt:lpstr>
      <vt:lpstr>Problems…</vt:lpstr>
      <vt:lpstr>PowerPoint Presentation</vt:lpstr>
      <vt:lpstr>Practice Problem</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Rippon Jalali</dc:creator>
  <cp:lastModifiedBy>20402011</cp:lastModifiedBy>
  <cp:revision>23</cp:revision>
  <dcterms:created xsi:type="dcterms:W3CDTF">2025-07-17T13:55:39Z</dcterms:created>
  <dcterms:modified xsi:type="dcterms:W3CDTF">2025-07-18T06:34:43Z</dcterms:modified>
</cp:coreProperties>
</file>